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image" Target="../media/image-26-7.png"/><Relationship Id="rId8" Type="http://schemas.openxmlformats.org/officeDocument/2006/relationships/image" Target="../media/image-26-8.png"/><Relationship Id="rId9" Type="http://schemas.openxmlformats.org/officeDocument/2006/relationships/image" Target="../media/image-26-9.png"/><Relationship Id="rId10" Type="http://schemas.openxmlformats.org/officeDocument/2006/relationships/image" Target="../media/image-26-10.png"/><Relationship Id="rId11" Type="http://schemas.openxmlformats.org/officeDocument/2006/relationships/image" Target="../media/image-26-11.png"/><Relationship Id="rId12" Type="http://schemas.openxmlformats.org/officeDocument/2006/relationships/image" Target="../media/image-26-12.png"/><Relationship Id="rId13" Type="http://schemas.openxmlformats.org/officeDocument/2006/relationships/image" Target="../media/image-26-13.png"/><Relationship Id="rId14" Type="http://schemas.openxmlformats.org/officeDocument/2006/relationships/image" Target="../media/image-26-14.png"/><Relationship Id="rId15" Type="http://schemas.openxmlformats.org/officeDocument/2006/relationships/image" Target="../media/image-26-15.png"/><Relationship Id="rId16" Type="http://schemas.openxmlformats.org/officeDocument/2006/relationships/image" Target="../media/image-26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image" Target="../media/image-27-7.png"/><Relationship Id="rId8" Type="http://schemas.openxmlformats.org/officeDocument/2006/relationships/image" Target="../media/image-27-8.png"/><Relationship Id="rId9" Type="http://schemas.openxmlformats.org/officeDocument/2006/relationships/image" Target="../media/image-27-9.png"/><Relationship Id="rId10" Type="http://schemas.openxmlformats.org/officeDocument/2006/relationships/image" Target="../media/image-27-10.png"/><Relationship Id="rId11" Type="http://schemas.openxmlformats.org/officeDocument/2006/relationships/image" Target="../media/image-27-11.png"/><Relationship Id="rId12" Type="http://schemas.openxmlformats.org/officeDocument/2006/relationships/image" Target="../media/image-27-12.png"/><Relationship Id="rId13" Type="http://schemas.openxmlformats.org/officeDocument/2006/relationships/image" Target="../media/image-27-13.png"/><Relationship Id="rId14" Type="http://schemas.openxmlformats.org/officeDocument/2006/relationships/image" Target="../media/image-27-14.png"/><Relationship Id="rId15" Type="http://schemas.openxmlformats.org/officeDocument/2006/relationships/image" Target="../media/image-27-15.png"/><Relationship Id="rId16" Type="http://schemas.openxmlformats.org/officeDocument/2006/relationships/image" Target="../media/image-27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395728"/>
            <a:ext cx="118872" cy="182880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03120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SA-U2-4　結構學｜靜不定結構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86384" y="2505456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靜不定結構之矩陣分析法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822960" y="3584448"/>
            <a:ext cx="3840480" cy="0"/>
          </a:xfrm>
          <a:prstGeom prst="line">
            <a:avLst/>
          </a:prstGeom>
          <a:noFill/>
          <a:ln w="19050">
            <a:solidFill>
              <a:srgbClr val="93A9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730752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位移法的機械化版本：勁度矩陣的第 j 直行，就是一場「單位位移實驗」的紀錄。</a:t>
            </a:r>
            <a:endParaRPr 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本講義從這個物理直覺出發，走完 6 步驟解題流程，涵蓋梁元素、桁架元素、座標轉換、兩階段疊加與靜態凝縮。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22960" y="4846320"/>
            <a:ext cx="3200400" cy="402336"/>
          </a:xfrm>
          <a:prstGeom prst="roundRect">
            <a:avLst>
              <a:gd name="adj" fmla="val 50000"/>
            </a:avLst>
          </a:prstGeom>
          <a:solidFill>
            <a:srgbClr val="DCE6F0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84632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觀念講義｜30 頁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SA-U2-4 靜不定結構之矩陣分析法｜觀念講義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這個單元要建立的四件事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53312"/>
            <a:ext cx="5455768" cy="2212848"/>
          </a:xfrm>
          <a:prstGeom prst="roundRect">
            <a:avLst>
              <a:gd name="adj" fmla="val 247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53312"/>
            <a:ext cx="545576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Shape 4"/>
          <p:cNvSpPr/>
          <p:nvPr/>
        </p:nvSpPr>
        <p:spPr>
          <a:xfrm>
            <a:off x="758952" y="1627632"/>
            <a:ext cx="384048" cy="38404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71016" y="1600200"/>
            <a:ext cx="4449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單位位移實驗的物理直覺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5528" y="2139696"/>
            <a:ext cx="487055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2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把所有自由度鎖死，只讓第 j 個動 1 單位，量各自由度上要施加多少力 —— 量到的第 i 個力就是 K_ij。</a:t>
            </a:r>
            <a:endParaRPr lang="en-US" sz="125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2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整個矩陣分析法，就是把這場實驗重複 n 次、排成一張表，最後解一次 [K]{D} = {P}。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33008" y="1353312"/>
            <a:ext cx="5455768" cy="2212848"/>
          </a:xfrm>
          <a:prstGeom prst="roundRect">
            <a:avLst>
              <a:gd name="adj" fmla="val 247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33008" y="1353312"/>
            <a:ext cx="545576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2" name="Shape 10"/>
          <p:cNvSpPr/>
          <p:nvPr/>
        </p:nvSpPr>
        <p:spPr>
          <a:xfrm>
            <a:off x="6489040" y="1627632"/>
            <a:ext cx="384048" cy="38404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3" name="Text 11"/>
          <p:cNvSpPr/>
          <p:nvPr/>
        </p:nvSpPr>
        <p:spPr>
          <a:xfrm>
            <a:off x="6489040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001104" y="1600200"/>
            <a:ext cx="4449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元素勁度：梁與桁架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25616" y="2139696"/>
            <a:ext cx="487055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2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梁元素的四個核心數字 12EI/L³、6EI/L²、4EI/L、2EI/L，全部是單位位移實驗的結果。</a:t>
            </a:r>
            <a:endParaRPr lang="en-US" sz="125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2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桁架元素的 c²、cs、s² 則是「投影兩次」留下的痕跡：位移投影進去、軸力投影出來。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3803904"/>
            <a:ext cx="5455768" cy="2212848"/>
          </a:xfrm>
          <a:prstGeom prst="roundRect">
            <a:avLst>
              <a:gd name="adj" fmla="val 247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3803904"/>
            <a:ext cx="545576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Shape 16"/>
          <p:cNvSpPr/>
          <p:nvPr/>
        </p:nvSpPr>
        <p:spPr>
          <a:xfrm>
            <a:off x="758952" y="4078224"/>
            <a:ext cx="384048" cy="38404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9" name="Text 17"/>
          <p:cNvSpPr/>
          <p:nvPr/>
        </p:nvSpPr>
        <p:spPr>
          <a:xfrm>
            <a:off x="758952" y="4078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71016" y="4050792"/>
            <a:ext cx="4449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座標轉換與組裝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95528" y="4590288"/>
            <a:ext cx="487055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2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元素勁度在桿自己的座標系最單純，組裝前要用 [k] = [T]ᵀ[k′][T] 轉到共同的整體座標。</a:t>
            </a:r>
            <a:endParaRPr lang="en-US" sz="125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2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組裝就是對號入座相加；邊界條件用劃除法；加完立刻檢查對稱性與對角線。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33008" y="3803904"/>
            <a:ext cx="5455768" cy="2212848"/>
          </a:xfrm>
          <a:prstGeom prst="roundRect">
            <a:avLst>
              <a:gd name="adj" fmla="val 247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33008" y="3803904"/>
            <a:ext cx="545576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4" name="Shape 22"/>
          <p:cNvSpPr/>
          <p:nvPr/>
        </p:nvSpPr>
        <p:spPr>
          <a:xfrm>
            <a:off x="6489040" y="4078224"/>
            <a:ext cx="384048" cy="38404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5" name="Text 23"/>
          <p:cNvSpPr/>
          <p:nvPr/>
        </p:nvSpPr>
        <p:spPr>
          <a:xfrm>
            <a:off x="6489040" y="4078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001104" y="4050792"/>
            <a:ext cx="4449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④ 兩階段疊加與靜態凝縮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525616" y="4590288"/>
            <a:ext cx="487055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2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矩陣只認節點力：跨間載重、沉陷、溫差都要「先鎖住，再放開」，回代時絕不能漏掉 {f_F}。</a:t>
            </a:r>
            <a:endParaRPr lang="en-US" sz="125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2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沒有外力的自由度可以凝縮掉：K* = K_aa − K_ab K_bb⁻¹ K_ba，4EI/L 因此降為 3EI/L。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SA-U2-4 靜不定結構之矩陣分析法｜觀念講義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CORE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899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一句話搞定矩陣分析法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494215" y="548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圖解 1／11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6693408" cy="5047488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12700">
            <a:solidFill>
              <a:srgbClr val="DF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pic>
        <p:nvPicPr>
          <p:cNvPr id="6" name="Image 0" descr="diagram_imgs/d1_unit_experi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431316"/>
            <a:ext cx="6583680" cy="46354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34072" y="1225296"/>
            <a:ext cx="4254703" cy="5047488"/>
          </a:xfrm>
          <a:prstGeom prst="roundRect">
            <a:avLst>
              <a:gd name="adj" fmla="val 128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34072" y="1225296"/>
            <a:ext cx="4254703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9" name="Text 6"/>
          <p:cNvSpPr/>
          <p:nvPr/>
        </p:nvSpPr>
        <p:spPr>
          <a:xfrm>
            <a:off x="7671816" y="1408176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看懂這張圖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671816" y="1792224"/>
            <a:ext cx="377921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2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▍勁度矩陣 [K] 的第 j 直行，就是一場「單位位移實驗」的紀錄。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▍實驗程序：把所有自由度鎖死 → 只讓第 j 個自由度移動 1 個單位 → 量各個自由度上必須施加多少力才能維持這個姿勢。量到的第 i 個力就是 K_ij。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▍n 個自由度就做 n 場實驗，把結果排成一張 n×n 的表 —— 這張表就是 [K]，沒有任何需要背的東西。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▍對角線 K_ii 一定為正（往哪推就要往哪施力）；非對角線一定對稱（Maxwell–Betti 互換定理）。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▍B 點接兩根桿，所以 K₁₁ = 4EI/L₁ + 4EI/L₂；K₂₁ 是傳遞過去的那一半 2EI/L₂。</a:t>
            </a:r>
            <a:endParaRPr lang="en-US" sz="1220" dirty="0"/>
          </a:p>
        </p:txBody>
      </p:sp>
      <p:sp>
        <p:nvSpPr>
          <p:cNvPr id="11" name="Shape 8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SA-U2-4 靜不定結構之矩陣分析法｜觀念講義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F1　定義與基本性質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勁度矩陣的定義：K_ij 就是那場實驗量到的力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" y="1298448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單位位移實驗</a:t>
            </a:r>
            <a:endParaRPr lang="en-US" sz="1300" dirty="0"/>
          </a:p>
        </p:txBody>
      </p:sp>
      <p:pic>
        <p:nvPicPr>
          <p:cNvPr id="7" name="Image 0" descr="formula_imgs/f1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05824" y="1417320"/>
            <a:ext cx="7494646" cy="6583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2340864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340864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0" name="Text 7"/>
          <p:cNvSpPr/>
          <p:nvPr/>
        </p:nvSpPr>
        <p:spPr>
          <a:xfrm>
            <a:off x="722376" y="2340864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基本方程與解</a:t>
            </a:r>
            <a:endParaRPr lang="en-US" sz="1300" dirty="0"/>
          </a:p>
        </p:txBody>
      </p:sp>
      <p:pic>
        <p:nvPicPr>
          <p:cNvPr id="11" name="Image 1" descr="formula_imgs/f1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7563" y="2459736"/>
            <a:ext cx="6311169" cy="6583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2920" y="3383280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02920" y="3383280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4" name="Text 10"/>
          <p:cNvSpPr/>
          <p:nvPr/>
        </p:nvSpPr>
        <p:spPr>
          <a:xfrm>
            <a:off x="722376" y="3383280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對稱性與正定性</a:t>
            </a:r>
            <a:endParaRPr lang="en-US" sz="1300" dirty="0"/>
          </a:p>
        </p:txBody>
      </p:sp>
      <p:pic>
        <p:nvPicPr>
          <p:cNvPr id="15" name="Image 2" descr="formula_imgs/f1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3072" y="3502152"/>
            <a:ext cx="8040151" cy="65836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02920" y="4425696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02920" y="4425696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8" name="Text 13"/>
          <p:cNvSpPr/>
          <p:nvPr/>
        </p:nvSpPr>
        <p:spPr>
          <a:xfrm>
            <a:off x="722376" y="4425696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應變能觀點</a:t>
            </a:r>
            <a:endParaRPr lang="en-US" sz="1300" dirty="0"/>
          </a:p>
        </p:txBody>
      </p:sp>
      <p:pic>
        <p:nvPicPr>
          <p:cNvPr id="19" name="Image 3" descr="formula_imgs/f1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9915" y="4544568"/>
            <a:ext cx="7626464" cy="658368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02920" y="5522976"/>
            <a:ext cx="11185855" cy="804672"/>
          </a:xfrm>
          <a:prstGeom prst="roundRect">
            <a:avLst>
              <a:gd name="adj" fmla="val 6818"/>
            </a:avLst>
          </a:prstGeom>
          <a:solidFill>
            <a:srgbClr val="FBF3DC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722376" y="5559552"/>
            <a:ext cx="107469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B8860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注意　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「正定」不是抽象的數學性質：它代表任何非零的變形都要付出正的應變能，也就是結構真的抵抗得住。一旦組裝出來的 [K] 奇異（行列式為零），就表示你漏了某個支承束制，或結構本身是機構。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SA-U2-4 靜不定結構之矩陣分析法｜觀念講義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WHY DISPLACEMENT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899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為什麼拿「位移」當未知數，而不是「力」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494215" y="548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圖解 2／11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6693408" cy="5047488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12700">
            <a:solidFill>
              <a:srgbClr val="DF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pic>
        <p:nvPicPr>
          <p:cNvPr id="6" name="Image 0" descr="diagram_imgs/d2_force_vs_dis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431316"/>
            <a:ext cx="6583680" cy="46354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34072" y="1225296"/>
            <a:ext cx="4254703" cy="5047488"/>
          </a:xfrm>
          <a:prstGeom prst="roundRect">
            <a:avLst>
              <a:gd name="adj" fmla="val 128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34072" y="1225296"/>
            <a:ext cx="4254703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9" name="Text 6"/>
          <p:cNvSpPr/>
          <p:nvPr/>
        </p:nvSpPr>
        <p:spPr>
          <a:xfrm>
            <a:off x="7671816" y="1408176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看懂這張圖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671816" y="1792224"/>
            <a:ext cx="377921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2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▍在結構學中，位移是連續且唯一的，力是不連續的。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▍一個剛性節點上不管接了幾根桿件，該節點的位移與轉角都只有一個值；但各桿件端部的內力卻各自不同。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▍所以拿位移當未知數：未知量最少、關係最乾淨，而且完全不需要人為判斷「挑選哪幾個多餘力」。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▍力法的未知量 = 靜不定度，且多餘力的選法不唯一；位移法的未知量 = 自由度數，是「數」出來的。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▍這就是為什麼所有商用結構分析軟體（SAP2000、ETABS、MIDAS）內部都是位移法，而不是力法。</a:t>
            </a:r>
            <a:endParaRPr lang="en-US" sz="1220" dirty="0"/>
          </a:p>
        </p:txBody>
      </p:sp>
      <p:sp>
        <p:nvSpPr>
          <p:cNvPr id="11" name="Shape 8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SA-U2-4 靜不定結構之矩陣分析法｜觀念講義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F2　梁元素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梁元素：四場實驗生出四個核心數字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" y="1298448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端彎矩（含相對垂直位移）</a:t>
            </a:r>
            <a:endParaRPr lang="en-US" sz="1300" dirty="0"/>
          </a:p>
        </p:txBody>
      </p:sp>
      <p:pic>
        <p:nvPicPr>
          <p:cNvPr id="7" name="Image 0" descr="formula_imgs/f2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14507" y="1417320"/>
            <a:ext cx="5077282" cy="6583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2340864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340864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0" name="Text 7"/>
          <p:cNvSpPr/>
          <p:nvPr/>
        </p:nvSpPr>
        <p:spPr>
          <a:xfrm>
            <a:off x="722376" y="2340864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端剪力</a:t>
            </a:r>
            <a:endParaRPr lang="en-US" sz="1300" dirty="0"/>
          </a:p>
        </p:txBody>
      </p:sp>
      <p:pic>
        <p:nvPicPr>
          <p:cNvPr id="11" name="Image 1" descr="formula_imgs/f2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5878" y="2459736"/>
            <a:ext cx="4874539" cy="6583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2920" y="3383280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02920" y="3383280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4" name="Text 10"/>
          <p:cNvSpPr/>
          <p:nvPr/>
        </p:nvSpPr>
        <p:spPr>
          <a:xfrm>
            <a:off x="722376" y="3383280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四個核心數字</a:t>
            </a:r>
            <a:endParaRPr lang="en-US" sz="1300" dirty="0"/>
          </a:p>
        </p:txBody>
      </p:sp>
      <p:pic>
        <p:nvPicPr>
          <p:cNvPr id="15" name="Image 2" descr="formula_imgs/f2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4436" y="3502152"/>
            <a:ext cx="3577423" cy="65836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02920" y="4425696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02920" y="4425696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8" name="Text 13"/>
          <p:cNvSpPr/>
          <p:nvPr/>
        </p:nvSpPr>
        <p:spPr>
          <a:xfrm>
            <a:off x="722376" y="4425696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傳遞係數</a:t>
            </a:r>
            <a:endParaRPr lang="en-US" sz="1300" dirty="0"/>
          </a:p>
        </p:txBody>
      </p:sp>
      <p:pic>
        <p:nvPicPr>
          <p:cNvPr id="19" name="Image 3" descr="formula_imgs/f2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6246" y="4544568"/>
            <a:ext cx="3113802" cy="658368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02920" y="5522976"/>
            <a:ext cx="11185855" cy="804672"/>
          </a:xfrm>
          <a:prstGeom prst="roundRect">
            <a:avLst>
              <a:gd name="adj" fmla="val 6818"/>
            </a:avLst>
          </a:prstGeom>
          <a:solidFill>
            <a:srgbClr val="FBF3DC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722376" y="5559552"/>
            <a:ext cx="107469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B8860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注意　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12EI/L³ 是單位平移所需的剪力（抗平移勁度）；6EI/L² 是平移與旋轉的耦合項（單位平移產生的端彎矩，也等於單位旋轉產生的剪力）；4EI/L 是單位旋轉時近端要施加的彎矩；2EI/L 是傳遞到遠端的彎矩 —— 兩者相除就是傳遞係數 1/2。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SA-U2-4 靜不定結構之矩陣分析法｜觀念講義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BEAM ELEMENT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899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梁元素 4×4：每一直行都是一場實驗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494215" y="548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圖解 3／11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6693408" cy="5047488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12700">
            <a:solidFill>
              <a:srgbClr val="DF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pic>
        <p:nvPicPr>
          <p:cNvPr id="6" name="Image 0" descr="diagram_imgs/d3_beam_ele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431316"/>
            <a:ext cx="6583680" cy="46354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34072" y="1225296"/>
            <a:ext cx="4254703" cy="5047488"/>
          </a:xfrm>
          <a:prstGeom prst="roundRect">
            <a:avLst>
              <a:gd name="adj" fmla="val 128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34072" y="1225296"/>
            <a:ext cx="4254703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9" name="Text 6"/>
          <p:cNvSpPr/>
          <p:nvPr/>
        </p:nvSpPr>
        <p:spPr>
          <a:xfrm>
            <a:off x="7671816" y="1408176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看懂這張圖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671816" y="1792224"/>
            <a:ext cx="377921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▍自由度順序 (v_i, θ_i, v_j, θ_j)：向上位移為正、逆時針轉角為正。本單元一律採矩陣法慣例。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▍同一個數字 6EI/L² 同時出現在「平移 → 彎矩」與「旋轉 → 剪力」兩個位置 —— 這正是對稱性的具體體現。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▍沒有支承時元素矩陣是奇異的（rank = 2）：因為剛體平移與剛體旋轉都不產生內力。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▍檢查方式：把 (1, 0, 1, 0) 這個剛體平移代進去，四個端力必須全為零；(0, 1, L, 1) 這個剛體旋轉也一樣。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▍含軸向時擴成 6×6，多出來的兩列只是 EA/L 的彈簧，與彎曲完全解耦（在小變形假設下）。</a:t>
            </a:r>
            <a:endParaRPr lang="en-US" sz="1220" dirty="0"/>
          </a:p>
        </p:txBody>
      </p:sp>
      <p:sp>
        <p:nvSpPr>
          <p:cNvPr id="11" name="Shape 8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SA-U2-4 靜不定結構之矩陣分析法｜觀念講義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微型例題①　建立 [K] 並求解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991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兩跨連續梁：兩場實驗、一次聯立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494215" y="5303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步驟 1–3、5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85855" cy="603504"/>
          </a:xfrm>
          <a:prstGeom prst="roundRect">
            <a:avLst>
              <a:gd name="adj" fmla="val 10606"/>
            </a:avLst>
          </a:prstGeom>
          <a:solidFill>
            <a:srgbClr val="DCE6F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79576"/>
            <a:ext cx="261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結構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389888"/>
            <a:ext cx="261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 固定端 — B — C 滾支承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9384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90824" y="1179576"/>
            <a:ext cx="261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跨度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90824" y="1389888"/>
            <a:ext cx="261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L₁ = 6 m，L₂ = 8 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95848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87288" y="1179576"/>
            <a:ext cx="261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斷面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87288" y="1389888"/>
            <a:ext cx="261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等 EI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892311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83751" y="1179576"/>
            <a:ext cx="261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載重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983751" y="1389888"/>
            <a:ext cx="261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 點節點彎矩 M = 100 kN·m（逆時針）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1883664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1883664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9" name="Shape 17"/>
          <p:cNvSpPr/>
          <p:nvPr/>
        </p:nvSpPr>
        <p:spPr>
          <a:xfrm>
            <a:off x="704088" y="2066544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" y="2066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24712" y="2048256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盤點自由度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58952" y="2468880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 為固定端 → 位移與轉角全部束制。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B、C 為支承／滾支承 → 垂直位移為零，但轉角自由。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不計軸向變形 → 水平位移全部歸零。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未知量只有 θ_B（編號 1）與 θ_C（編號 2），共 2 個。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10148" y="1883664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0148" y="1883664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5" name="Shape 23"/>
          <p:cNvSpPr/>
          <p:nvPr/>
        </p:nvSpPr>
        <p:spPr>
          <a:xfrm>
            <a:off x="6411316" y="2066544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6" name="Text 24"/>
          <p:cNvSpPr/>
          <p:nvPr/>
        </p:nvSpPr>
        <p:spPr>
          <a:xfrm>
            <a:off x="6411316" y="2066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31940" y="2048256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兩場單位位移實驗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466180" y="2468880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θ_B = 1：K₁₁ = 4EI/L₁ + 4EI/L₂ = EI(1.1667)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　　　　K₂₁ = 2EI/L₂ = EI(0.2500)（傳遞過去的一半）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θ_C = 1：K₂₂ = 4EI/L₂ = EI(0.5000)，K₁₂ = K₂₁ ✓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對角線恆正、非對角線對稱 —— 兩個檢查都過。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02920" y="3931920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3931920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1" name="Shape 29"/>
          <p:cNvSpPr/>
          <p:nvPr/>
        </p:nvSpPr>
        <p:spPr>
          <a:xfrm>
            <a:off x="704088" y="4114800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2" name="Text 30"/>
          <p:cNvSpPr/>
          <p:nvPr/>
        </p:nvSpPr>
        <p:spPr>
          <a:xfrm>
            <a:off x="704088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124712" y="4096512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解聯立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758952" y="4517136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[K]{D} = {P}，{P} = (100, 0)ᵀ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1.1667·EIθ_B + 0.2500·EIθ_C = 100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0.2500·EIθ_B + 0.5000·EIθ_C = 0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EIθ_B = 96，EIθ_C = −48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210148" y="3931920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10148" y="3931920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7" name="Shape 35"/>
          <p:cNvSpPr/>
          <p:nvPr/>
        </p:nvSpPr>
        <p:spPr>
          <a:xfrm>
            <a:off x="6411316" y="4114800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8" name="Text 36"/>
          <p:cNvSpPr/>
          <p:nvPr/>
        </p:nvSpPr>
        <p:spPr>
          <a:xfrm>
            <a:off x="6411316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831940" y="4096512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回代桿端彎矩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6466180" y="4517136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M_A = (2EI/L₁)θ_B = 32　M_BA = (4EI/L₁)θ_B = 64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M_BC = (4EI/L₂)θ_B + (2EI/L₂)θ_C = 36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M_C = (2EI/L₂)θ_B + (4EI/L₂)θ_C = 0 ✓（滾支承無彎矩）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節點 B：64 + 36 = 100 = 外加彎矩 ✓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02920" y="5907024"/>
            <a:ext cx="11185855" cy="603504"/>
          </a:xfrm>
          <a:prstGeom prst="roundRect">
            <a:avLst>
              <a:gd name="adj" fmla="val 12121"/>
            </a:avLst>
          </a:prstGeom>
          <a:solidFill>
            <a:srgbClr val="1B2A41"/>
          </a:solidFill>
          <a:ln/>
        </p:spPr>
      </p:sp>
      <p:sp>
        <p:nvSpPr>
          <p:cNvPr id="42" name="Text 40"/>
          <p:cNvSpPr/>
          <p:nvPr/>
        </p:nvSpPr>
        <p:spPr>
          <a:xfrm>
            <a:off x="722376" y="5907024"/>
            <a:ext cx="731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答案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1417320" y="5907024"/>
            <a:ext cx="99971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EIθ_B = 96、EIθ_C = −48；M_A = 32、M_BA = 64、M_BC = 36、M_C = 0 kN·m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TRUSS ELEMENT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899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桁架元素：整條公式就是「投影兩次」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494215" y="548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圖解 4／11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6693408" cy="5047488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12700">
            <a:solidFill>
              <a:srgbClr val="DF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pic>
        <p:nvPicPr>
          <p:cNvPr id="6" name="Image 0" descr="diagram_imgs/d4_truss_proj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431316"/>
            <a:ext cx="6583680" cy="46354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34072" y="1225296"/>
            <a:ext cx="4254703" cy="5047488"/>
          </a:xfrm>
          <a:prstGeom prst="roundRect">
            <a:avLst>
              <a:gd name="adj" fmla="val 128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34072" y="1225296"/>
            <a:ext cx="4254703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9" name="Text 6"/>
          <p:cNvSpPr/>
          <p:nvPr/>
        </p:nvSpPr>
        <p:spPr>
          <a:xfrm>
            <a:off x="7671816" y="1408176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看懂這張圖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671816" y="1792224"/>
            <a:ext cx="377921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2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▍桁架桿只受軸力，所以它的勁度矩陣只是把一維的 EA/L 彈簧「投影」到二維。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▍① 位移投影到桿軸 → 得到伸長量 e = c·u + s·v（垂直於桿軸的分量完全不讓桿件伸長）。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▍② 虎克定律 → 算出軸力 N = (EA/L)·e。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▍③ 軸力投影回 x、y 軸 → 得到兩軸方向的抗力 F_x = c·N、F_y = s·N。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▍一次投影進去、一次投影出來，所以矩陣裡出現的是 c²、cs、s² 這種二次項 —— 這就是「投影兩次」。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▍c² 與 s² 恆非負，所以桁架元素的對角線也恆為正。</a:t>
            </a:r>
            <a:endParaRPr lang="en-US" sz="1220" dirty="0"/>
          </a:p>
        </p:txBody>
      </p:sp>
      <p:sp>
        <p:nvSpPr>
          <p:cNvPr id="11" name="Shape 8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SA-U2-4 靜不定結構之矩陣分析法｜觀念講義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F3　桁架元素與座標轉換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方向餘弦、投影兩次、以及 [T] 的夾擊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" y="1298448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方向餘弦</a:t>
            </a:r>
            <a:endParaRPr lang="en-US" sz="1300" dirty="0"/>
          </a:p>
        </p:txBody>
      </p:sp>
      <p:pic>
        <p:nvPicPr>
          <p:cNvPr id="7" name="Image 0" descr="formula_imgs/f3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0962" y="1417320"/>
            <a:ext cx="5284371" cy="6583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2340864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340864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0" name="Text 7"/>
          <p:cNvSpPr/>
          <p:nvPr/>
        </p:nvSpPr>
        <p:spPr>
          <a:xfrm>
            <a:off x="722376" y="2340864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投影兩次（伸長量與軸力）</a:t>
            </a:r>
            <a:endParaRPr lang="en-US" sz="1300" dirty="0"/>
          </a:p>
        </p:txBody>
      </p:sp>
      <p:pic>
        <p:nvPicPr>
          <p:cNvPr id="11" name="Image 1" descr="formula_imgs/f3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3321" y="2459736"/>
            <a:ext cx="4359652" cy="6583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2920" y="3383280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02920" y="3383280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4" name="Text 10"/>
          <p:cNvSpPr/>
          <p:nvPr/>
        </p:nvSpPr>
        <p:spPr>
          <a:xfrm>
            <a:off x="722376" y="3383280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桁架元素勁度分量</a:t>
            </a:r>
            <a:endParaRPr lang="en-US" sz="1300" dirty="0"/>
          </a:p>
        </p:txBody>
      </p:sp>
      <p:pic>
        <p:nvPicPr>
          <p:cNvPr id="15" name="Image 2" descr="formula_imgs/f3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405" y="3502152"/>
            <a:ext cx="6425486" cy="65836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02920" y="4425696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02920" y="4425696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8" name="Text 13"/>
          <p:cNvSpPr/>
          <p:nvPr/>
        </p:nvSpPr>
        <p:spPr>
          <a:xfrm>
            <a:off x="722376" y="4425696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座標轉換（剛架通用）</a:t>
            </a:r>
            <a:endParaRPr lang="en-US" sz="1300" dirty="0"/>
          </a:p>
        </p:txBody>
      </p:sp>
      <p:pic>
        <p:nvPicPr>
          <p:cNvPr id="19" name="Image 3" descr="formula_imgs/f3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0157" y="4544568"/>
            <a:ext cx="6005982" cy="658368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02920" y="5522976"/>
            <a:ext cx="11185855" cy="804672"/>
          </a:xfrm>
          <a:prstGeom prst="roundRect">
            <a:avLst>
              <a:gd name="adj" fmla="val 6818"/>
            </a:avLst>
          </a:prstGeom>
          <a:solidFill>
            <a:srgbClr val="FBF3DC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722376" y="5559552"/>
            <a:ext cx="107469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B8860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注意　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 與 s 只跟兩端節點座標有關，跟載重無關 —— 所以一開始就把所有桿件的 c、s、L 列成一張表，後面完全不會再算錯。特別注意斜桿的 L 是斜長，不是水平投影長度。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SA-U2-4 靜不定結構之矩陣分析法｜觀念講義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微型例題②　桁架的投影兩次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991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兩桿桁架：從節點位移回推桿內軸力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494215" y="5303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步驟 2、5、6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85855" cy="603504"/>
          </a:xfrm>
          <a:prstGeom prst="roundRect">
            <a:avLst>
              <a:gd name="adj" fmla="val 10606"/>
            </a:avLst>
          </a:prstGeom>
          <a:solidFill>
            <a:srgbClr val="DCE6F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79576"/>
            <a:ext cx="261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節點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389888"/>
            <a:ext cx="261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A(0, 3)、B(0, 0) 鉸支承；C(4, 0) 自由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9384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90824" y="1179576"/>
            <a:ext cx="261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桿件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90824" y="1389888"/>
            <a:ext cx="261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AC、BC 兩根，等 EA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95848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87288" y="1179576"/>
            <a:ext cx="261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載重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87288" y="1389888"/>
            <a:ext cx="261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 點向下 P = 30 kN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892311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83751" y="1179576"/>
            <a:ext cx="261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自由度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983751" y="1389888"/>
            <a:ext cx="261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u_C、v_C 共 2 個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1883664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1883664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9" name="Shape 17"/>
          <p:cNvSpPr/>
          <p:nvPr/>
        </p:nvSpPr>
        <p:spPr>
          <a:xfrm>
            <a:off x="704088" y="2066544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" y="2066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24712" y="2048256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算方向餘弦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58952" y="2468880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桿 AC：Δx = 4、Δy = −3 → L = 5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　　　 c = 0.8，s = −0.6（注意 s 是負的）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桿 BC：水平桿 → L = 4，c = 1，s = 0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斜桿的 L 一律取斜長 5，不是水平投影 4。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10148" y="1883664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0148" y="1883664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5" name="Shape 23"/>
          <p:cNvSpPr/>
          <p:nvPr/>
        </p:nvSpPr>
        <p:spPr>
          <a:xfrm>
            <a:off x="6411316" y="2066544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6" name="Text 24"/>
          <p:cNvSpPr/>
          <p:nvPr/>
        </p:nvSpPr>
        <p:spPr>
          <a:xfrm>
            <a:off x="6411316" y="2066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31940" y="2048256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組裝 2×2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466180" y="2468880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桿 AC 貢獻：EA×[0.128, −0.096; −0.096, 0.072]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桿 BC 貢獻：EA×[0.250, 0; 0, 0]（水平桿不抵抗垂直位移）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相加：[K] = EA×[0.378, −0.096; −0.096, 0.072]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對稱 ✓ 對角線恆正 ✓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02920" y="3931920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3931920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1" name="Shape 29"/>
          <p:cNvSpPr/>
          <p:nvPr/>
        </p:nvSpPr>
        <p:spPr>
          <a:xfrm>
            <a:off x="704088" y="4114800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2" name="Text 30"/>
          <p:cNvSpPr/>
          <p:nvPr/>
        </p:nvSpPr>
        <p:spPr>
          <a:xfrm>
            <a:off x="704088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124712" y="4096512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解位移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758952" y="4517136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{P} = (0, −30)ᵀ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u_C = −160 / EA（向左）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v_C = −630 / EA（向下）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垂直位移遠大於水平位移 —— 因為垂直方向只有斜桿的 s² 分量在撐。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210148" y="3931920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10148" y="3931920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7" name="Shape 35"/>
          <p:cNvSpPr/>
          <p:nvPr/>
        </p:nvSpPr>
        <p:spPr>
          <a:xfrm>
            <a:off x="6411316" y="4114800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8" name="Text 36"/>
          <p:cNvSpPr/>
          <p:nvPr/>
        </p:nvSpPr>
        <p:spPr>
          <a:xfrm>
            <a:off x="6411316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831940" y="4096512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回代軸力並驗算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6466180" y="4517136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桿 AC：e = c·u + s·v = 250/EA → N = 50 kN（拉）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桿 BC：e = −160/EA → N = −40 kN（壓）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獨立驗算（節點 C 靜力平衡）：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ΣFy：50×0.6 = 30 ✓　ΣFx：50×0.8 + −40 = 0 ✓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02920" y="5907024"/>
            <a:ext cx="11185855" cy="603504"/>
          </a:xfrm>
          <a:prstGeom prst="roundRect">
            <a:avLst>
              <a:gd name="adj" fmla="val 12121"/>
            </a:avLst>
          </a:prstGeom>
          <a:solidFill>
            <a:srgbClr val="1B2A41"/>
          </a:solidFill>
          <a:ln/>
        </p:spPr>
      </p:sp>
      <p:sp>
        <p:nvSpPr>
          <p:cNvPr id="42" name="Text 40"/>
          <p:cNvSpPr/>
          <p:nvPr/>
        </p:nvSpPr>
        <p:spPr>
          <a:xfrm>
            <a:off x="722376" y="5907024"/>
            <a:ext cx="731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答案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1417320" y="5907024"/>
            <a:ext cx="99971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u_C = −160/EA、v_C = −630/EA；N_AC = 50 kN（拉）、N_BC = −40 kN（壓）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TRANSFORMATION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899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局部座標 → 整體座標：夾在兩個 [T] 中間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494215" y="548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圖解 5／11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6693408" cy="5047488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12700">
            <a:solidFill>
              <a:srgbClr val="DF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pic>
        <p:nvPicPr>
          <p:cNvPr id="6" name="Image 0" descr="diagram_imgs/d5_transf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431316"/>
            <a:ext cx="6583680" cy="46354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34072" y="1225296"/>
            <a:ext cx="4254703" cy="5047488"/>
          </a:xfrm>
          <a:prstGeom prst="roundRect">
            <a:avLst>
              <a:gd name="adj" fmla="val 128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34072" y="1225296"/>
            <a:ext cx="4254703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9" name="Text 6"/>
          <p:cNvSpPr/>
          <p:nvPr/>
        </p:nvSpPr>
        <p:spPr>
          <a:xfrm>
            <a:off x="7671816" y="1408176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看懂這張圖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671816" y="1792224"/>
            <a:ext cx="377921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▍元素勁度在「桿自己的座標系」裡最單純：軸向就是軸向、彎曲就是彎曲，兩者完全解耦。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▍但組裝時所有桿件必須講同一套語言，所以要先轉到共同的整體座標。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▍[k] = [T]ᵀ[k′][T]：位移先用 [T] 轉進去、端力再用 [T]ᵀ 轉回來，所以 [k′] 被夾在中間。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▍轉角那一列的轉換係數是 1 —— 平面問題裡轉角是純量，不隨座標系改變。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▍因為 [T] 是正交矩陣（[T]ᵀ = [T]⁻¹），轉換後的 [k] 一定保持對稱、保持正半定，應變能也不變。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▍水平梁（α = 0°）與垂直柱（α = 90°）是最常見的兩個特例；柱的「軸向」就是整體的 y 方向。</a:t>
            </a:r>
            <a:endParaRPr lang="en-US" sz="1220" dirty="0"/>
          </a:p>
        </p:txBody>
      </p:sp>
      <p:sp>
        <p:nvSpPr>
          <p:cNvPr id="11" name="Shape 8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SA-U2-4 靜不定結構之矩陣分析法｜觀念講義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ASSEMBLY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899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組裝：把小矩陣「對號入座」加進大矩陣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494215" y="548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圖解 6／11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6693408" cy="5047488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12700">
            <a:solidFill>
              <a:srgbClr val="DF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pic>
        <p:nvPicPr>
          <p:cNvPr id="6" name="Image 0" descr="diagram_imgs/d6_assemb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431316"/>
            <a:ext cx="6583680" cy="46354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34072" y="1225296"/>
            <a:ext cx="4254703" cy="5047488"/>
          </a:xfrm>
          <a:prstGeom prst="roundRect">
            <a:avLst>
              <a:gd name="adj" fmla="val 128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34072" y="1225296"/>
            <a:ext cx="4254703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9" name="Text 6"/>
          <p:cNvSpPr/>
          <p:nvPr/>
        </p:nvSpPr>
        <p:spPr>
          <a:xfrm>
            <a:off x="7671816" y="1408176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看懂這張圖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671816" y="1792224"/>
            <a:ext cx="377921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2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▍組裝沒有任何技巧，只有紀律：先在元素矩陣的列／行旁標上整體自由度編號，再逐格相加。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▍共用同一個自由度的格子會重疊 —— 那一格就是兩個（或多個）元素的貢獻相加。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▍物理意義：節點上接幾根桿，對角線就是幾根桿的勁度相加。這也是驗算 K_ii 的最快方法。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▍邊界條件用劃除法：支承束制的自由度位移為零，直接刪掉對應的那一列與那一行。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▍電腦則常用「大數法」：在 K_ii 加上一個極大的數（如 10¹⁵），效果等同於把該自由度鎖死。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▍加完立刻做三個檢查：對稱性、對角線恆正、剛體檢查。花不到 30 秒，卻能擋掉大部分低級錯誤。</a:t>
            </a:r>
            <a:endParaRPr lang="en-US" sz="1220" dirty="0"/>
          </a:p>
        </p:txBody>
      </p:sp>
      <p:sp>
        <p:nvSpPr>
          <p:cNvPr id="11" name="Shape 8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SA-U2-4 靜不定結構之矩陣分析法｜觀念講義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F4　組裝、邊界條件與反力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從元素到整體：組裝、劃除、回頭求反力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" y="1298448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直接勁度法組裝</a:t>
            </a:r>
            <a:endParaRPr lang="en-US" sz="1300" dirty="0"/>
          </a:p>
        </p:txBody>
      </p:sp>
      <p:pic>
        <p:nvPicPr>
          <p:cNvPr id="7" name="Image 0" descr="formula_imgs/f4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80823" y="1417320"/>
            <a:ext cx="4144648" cy="6583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2340864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340864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0" name="Text 7"/>
          <p:cNvSpPr/>
          <p:nvPr/>
        </p:nvSpPr>
        <p:spPr>
          <a:xfrm>
            <a:off x="722376" y="2340864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邊界條件（劃除法）</a:t>
            </a:r>
            <a:endParaRPr lang="en-US" sz="1300" dirty="0"/>
          </a:p>
        </p:txBody>
      </p:sp>
      <p:pic>
        <p:nvPicPr>
          <p:cNvPr id="11" name="Image 1" descr="formula_imgs/f4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9276" y="2459736"/>
            <a:ext cx="6227743" cy="6583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2920" y="3383280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02920" y="3383280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4" name="Text 10"/>
          <p:cNvSpPr/>
          <p:nvPr/>
        </p:nvSpPr>
        <p:spPr>
          <a:xfrm>
            <a:off x="722376" y="3383280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支承反力</a:t>
            </a:r>
            <a:endParaRPr lang="en-US" sz="1300" dirty="0"/>
          </a:p>
        </p:txBody>
      </p:sp>
      <p:pic>
        <p:nvPicPr>
          <p:cNvPr id="15" name="Image 2" descr="formula_imgs/f4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1203" y="3502152"/>
            <a:ext cx="4503889" cy="65836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02920" y="4425696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02920" y="4425696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8" name="Text 13"/>
          <p:cNvSpPr/>
          <p:nvPr/>
        </p:nvSpPr>
        <p:spPr>
          <a:xfrm>
            <a:off x="722376" y="4425696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剛體檢查</a:t>
            </a:r>
            <a:endParaRPr lang="en-US" sz="1300" dirty="0"/>
          </a:p>
        </p:txBody>
      </p:sp>
      <p:pic>
        <p:nvPicPr>
          <p:cNvPr id="19" name="Image 3" descr="formula_imgs/f4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2591" y="4544568"/>
            <a:ext cx="6761113" cy="658368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02920" y="5522976"/>
            <a:ext cx="11185855" cy="804672"/>
          </a:xfrm>
          <a:prstGeom prst="roundRect">
            <a:avLst>
              <a:gd name="adj" fmla="val 6818"/>
            </a:avLst>
          </a:prstGeom>
          <a:solidFill>
            <a:srgbClr val="FBF3DC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722376" y="5559552"/>
            <a:ext cx="107469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B8860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注意　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反力不是「解出來的」，而是解完位移後回代出來的：把被劃掉的那幾列重新拿出來，用已知的自由自由度位移算出來。這也提供一個好用的獨立檢查 —— 反力算完一定要回頭驗整體的 ΣFx = ΣFy = ΣM = 0。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SA-U2-4 靜不定結構之矩陣分析法｜觀念講義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微型例題③　兩階段疊加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991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同一根梁改放跨間載重：矩陣只換右手邊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494215" y="5303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步驟 4、6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85855" cy="603504"/>
          </a:xfrm>
          <a:prstGeom prst="roundRect">
            <a:avLst>
              <a:gd name="adj" fmla="val 10606"/>
            </a:avLst>
          </a:prstGeom>
          <a:solidFill>
            <a:srgbClr val="DCE6F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79576"/>
            <a:ext cx="261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結構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389888"/>
            <a:ext cx="261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與例題① 完全相同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9384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90824" y="1179576"/>
            <a:ext cx="261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AB 跨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90824" y="1389888"/>
            <a:ext cx="261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均佈載重 w = 24 kN/m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95848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87288" y="1179576"/>
            <a:ext cx="261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BC 跨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87288" y="1389888"/>
            <a:ext cx="261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中央集中載重 P = 40 kN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892311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83751" y="1179576"/>
            <a:ext cx="261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節點外力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983751" y="1389888"/>
            <a:ext cx="261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1883664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1883664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9" name="Shape 17"/>
          <p:cNvSpPr/>
          <p:nvPr/>
        </p:nvSpPr>
        <p:spPr>
          <a:xfrm>
            <a:off x="704088" y="2066544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" y="2066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24712" y="2048256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階段 I：全部鎖死，算固端力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58952" y="2468880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AB 跨均佈：M^F_A = +wL₁²/12 = 72，M^F_BA = −72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BC 跨中央 P：M^F_BC = +PL₂/8 = 40，M^F_C = −40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（逆時針為正；與 SA-U2-3 順時針慣例互為反號）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這一步是整個流程中唯一需要查表的地方。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10148" y="1883664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0148" y="1883664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5" name="Shape 23"/>
          <p:cNvSpPr/>
          <p:nvPr/>
        </p:nvSpPr>
        <p:spPr>
          <a:xfrm>
            <a:off x="6411316" y="2066544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6" name="Text 24"/>
          <p:cNvSpPr/>
          <p:nvPr/>
        </p:nvSpPr>
        <p:spPr>
          <a:xfrm>
            <a:off x="6411316" y="2066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31940" y="2048256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階段 II：不平衡力反號成節點力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466180" y="2468880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{P} = {P_外力} − {f_F}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節點 B：−(−72 + 40) = +32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節點 C：−(−40) = +40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[K] 完全不變 —— 結構沒改，只是右手邊換了。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02920" y="3931920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3931920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1" name="Shape 29"/>
          <p:cNvSpPr/>
          <p:nvPr/>
        </p:nvSpPr>
        <p:spPr>
          <a:xfrm>
            <a:off x="704088" y="4114800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2" name="Text 30"/>
          <p:cNvSpPr/>
          <p:nvPr/>
        </p:nvSpPr>
        <p:spPr>
          <a:xfrm>
            <a:off x="704088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124712" y="4096512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解位移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758952" y="4517136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1.1667·EIθ_B + 0.2500·EIθ_C = 32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0.2500·EIθ_B + 0.5000·EIθ_C = 40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EIθ_B = 11.52，EIθ_C = 74.24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與例題① 用的是同一個 [K]，只是右手邊不同。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210148" y="3931920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10148" y="3931920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7" name="Shape 35"/>
          <p:cNvSpPr/>
          <p:nvPr/>
        </p:nvSpPr>
        <p:spPr>
          <a:xfrm>
            <a:off x="6411316" y="4114800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8" name="Text 36"/>
          <p:cNvSpPr/>
          <p:nvPr/>
        </p:nvSpPr>
        <p:spPr>
          <a:xfrm>
            <a:off x="6411316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831940" y="4096512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回代內力（記得加回 {f_F}）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6466180" y="4517136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M_A = 75.84　M_BA = −64.32　M_BC = 64.32　M_C = 0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反力：R_A = 73.92、R_B = 98.12、R_C = 11.96 kN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整體檢查：ΣFy = 184.00 = wL₁ + P ✓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AB 跨最大正彎矩 +38.00 kN·m，發生在距 A 點 3.08 m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02920" y="5907024"/>
            <a:ext cx="11185855" cy="603504"/>
          </a:xfrm>
          <a:prstGeom prst="roundRect">
            <a:avLst>
              <a:gd name="adj" fmla="val 12121"/>
            </a:avLst>
          </a:prstGeom>
          <a:solidFill>
            <a:srgbClr val="1B2A41"/>
          </a:solidFill>
          <a:ln/>
        </p:spPr>
      </p:sp>
      <p:sp>
        <p:nvSpPr>
          <p:cNvPr id="42" name="Text 40"/>
          <p:cNvSpPr/>
          <p:nvPr/>
        </p:nvSpPr>
        <p:spPr>
          <a:xfrm>
            <a:off x="722376" y="5907024"/>
            <a:ext cx="731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答案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1417320" y="5907024"/>
            <a:ext cx="99971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EIθ_B = 11.52、EIθ_C = 74.24；M_A = 75.84、M_BA = −64.32 kN·m　（與 SA-U2-3 傾角變位法答案僅差符號慣例）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EQUIVALENT NODAL LOAD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899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跨間載重：先鎖住，再放開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494215" y="548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圖解 7／11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6693408" cy="5047488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12700">
            <a:solidFill>
              <a:srgbClr val="DF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pic>
        <p:nvPicPr>
          <p:cNvPr id="6" name="Image 0" descr="diagram_imgs/d7_two_st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431316"/>
            <a:ext cx="6583680" cy="46354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34072" y="1225296"/>
            <a:ext cx="4254703" cy="5047488"/>
          </a:xfrm>
          <a:prstGeom prst="roundRect">
            <a:avLst>
              <a:gd name="adj" fmla="val 128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34072" y="1225296"/>
            <a:ext cx="4254703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9" name="Text 6"/>
          <p:cNvSpPr/>
          <p:nvPr/>
        </p:nvSpPr>
        <p:spPr>
          <a:xfrm>
            <a:off x="7671816" y="1408176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看懂這張圖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671816" y="1792224"/>
            <a:ext cx="377921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2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▍矩陣只認識「作用在節點上的力」—— 跨內的載重必須先換算成等值節點力。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▍階段 I（鎖住）：把所有節點鎖死，計算各桿件產生的固端力 {f_F}。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▍階段 II（放開）：節點上多出來的不平衡力反號，當成真正的節點外力 {P} = {P_外力} − {f_F}，求解 [K]{D} = {P}。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▍回代內力：{f} = [k]{d} + {f_F}。絕對不能漏掉 {f_F}，否則跨內有載重的桿件端彎矩會整個算錯。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▍注意「反號」：固端力是「要維持鎖死」所需要施加的力，把它搬到右手邊當成外力時必須變號。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▍節點 A 是固定端，它的不平衡量直接由支承吸收，不列入 {P}。</a:t>
            </a:r>
            <a:endParaRPr lang="en-US" sz="1220" dirty="0"/>
          </a:p>
        </p:txBody>
      </p:sp>
      <p:sp>
        <p:nvSpPr>
          <p:cNvPr id="11" name="Shape 8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SA-U2-4 靜不定結構之矩陣分析法｜觀念講義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F5　兩階段疊加與固端力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等值節點力：把跨內的事搬到節點上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" y="1298448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階段 II 的載重向量</a:t>
            </a:r>
            <a:endParaRPr lang="en-US" sz="1300" dirty="0"/>
          </a:p>
        </p:txBody>
      </p:sp>
      <p:pic>
        <p:nvPicPr>
          <p:cNvPr id="7" name="Image 0" descr="formula_imgs/f5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2901" y="1417320"/>
            <a:ext cx="3820492" cy="6583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2340864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340864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0" name="Text 7"/>
          <p:cNvSpPr/>
          <p:nvPr/>
        </p:nvSpPr>
        <p:spPr>
          <a:xfrm>
            <a:off x="722376" y="2340864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回代真實內力</a:t>
            </a:r>
            <a:endParaRPr lang="en-US" sz="1300" dirty="0"/>
          </a:p>
        </p:txBody>
      </p:sp>
      <p:pic>
        <p:nvPicPr>
          <p:cNvPr id="11" name="Image 1" descr="formula_imgs/f5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0328" y="2459736"/>
            <a:ext cx="3665639" cy="6583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2920" y="3383280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02920" y="3383280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4" name="Text 10"/>
          <p:cNvSpPr/>
          <p:nvPr/>
        </p:nvSpPr>
        <p:spPr>
          <a:xfrm>
            <a:off x="722376" y="3383280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均佈載重的固端力</a:t>
            </a:r>
            <a:endParaRPr lang="en-US" sz="1300" dirty="0"/>
          </a:p>
        </p:txBody>
      </p:sp>
      <p:pic>
        <p:nvPicPr>
          <p:cNvPr id="15" name="Image 2" descr="formula_imgs/f5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6817" y="3502152"/>
            <a:ext cx="6752661" cy="65836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02920" y="4425696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02920" y="4425696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8" name="Text 13"/>
          <p:cNvSpPr/>
          <p:nvPr/>
        </p:nvSpPr>
        <p:spPr>
          <a:xfrm>
            <a:off x="722376" y="4425696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沉陷與溫差</a:t>
            </a:r>
            <a:endParaRPr lang="en-US" sz="1300" dirty="0"/>
          </a:p>
        </p:txBody>
      </p:sp>
      <p:pic>
        <p:nvPicPr>
          <p:cNvPr id="19" name="Image 3" descr="formula_imgs/f5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4040" y="4544568"/>
            <a:ext cx="7598214" cy="658368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02920" y="5522976"/>
            <a:ext cx="11185855" cy="804672"/>
          </a:xfrm>
          <a:prstGeom prst="roundRect">
            <a:avLst>
              <a:gd name="adj" fmla="val 6818"/>
            </a:avLst>
          </a:prstGeom>
          <a:solidFill>
            <a:srgbClr val="FBF3DC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722376" y="5559552"/>
            <a:ext cx="107469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B8860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注意　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固端力表只需要記四條：均佈 ±wL²/12、中央集中 ±PL/8、偏心集中 −Pab²/L² 與 +Pa²b/L²、支承沉陷 −6EIΔ/L²。其餘（三角形載重、溫差梯度）考卷通常會給；真的忘了也可以用 M̄^F = M^F_ij − ½M^F_ji 從遠端鉸接的結果回推。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SA-U2-4 靜不定結構之矩陣分析法｜觀念講義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NON-LOAD EFFECTS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899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沉陷、溫差、製造誤差都走同一條路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494215" y="548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圖解 8／11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6693408" cy="5047488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12700">
            <a:solidFill>
              <a:srgbClr val="DF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pic>
        <p:nvPicPr>
          <p:cNvPr id="6" name="Image 0" descr="diagram_imgs/d8_nonl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431316"/>
            <a:ext cx="6583680" cy="46354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34072" y="1225296"/>
            <a:ext cx="4254703" cy="5047488"/>
          </a:xfrm>
          <a:prstGeom prst="roundRect">
            <a:avLst>
              <a:gd name="adj" fmla="val 128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34072" y="1225296"/>
            <a:ext cx="4254703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9" name="Text 6"/>
          <p:cNvSpPr/>
          <p:nvPr/>
        </p:nvSpPr>
        <p:spPr>
          <a:xfrm>
            <a:off x="7671816" y="1408176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看懂這張圖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671816" y="1792224"/>
            <a:ext cx="377921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2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▍四個步驟永遠一樣：① 鎖死 → ② 算固端力 → ③ 反號成節點力 → ④ 解完回代。只有第 ② 步的來源不同。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▍支承沉陷 Δ：梁元素兩端產生相對垂直位移，兩端的固端彎矩同號同值 −6EIΔ/L²。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▍溫度變化 ΔT：桿件想伸長 α·ΔT·L 卻被鎖住 → 產生軸向固端力 −EA·α·ΔT（均勻溫變只影響軸力）。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▍製造誤差 e₀：桿件做長了硬塞進去，效果與溫度升高完全相同，固端力 −EA·e₀/L。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▍溫差梯度（上下溫度不同）才會產生彎矩固端力；均勻溫變只有軸力，這兩者常被混淆。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▍靜定結構對溫差與沉陷完全不產生內力 —— 只有靜不定結構才有；這是很好的合理性檢查。</a:t>
            </a:r>
            <a:endParaRPr lang="en-US" sz="1220" dirty="0"/>
          </a:p>
        </p:txBody>
      </p:sp>
      <p:sp>
        <p:nvSpPr>
          <p:cNvPr id="11" name="Shape 8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SA-U2-4 靜不定結構之矩陣分析法｜觀念講義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STATIC CONDENSATION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899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靜態凝縮：沒有外力的自由度會自己讓步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494215" y="548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圖解 9／11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6693408" cy="5047488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12700">
            <a:solidFill>
              <a:srgbClr val="DF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pic>
        <p:nvPicPr>
          <p:cNvPr id="6" name="Image 0" descr="diagram_imgs/d9_condens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431316"/>
            <a:ext cx="6583680" cy="46354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34072" y="1225296"/>
            <a:ext cx="4254703" cy="5047488"/>
          </a:xfrm>
          <a:prstGeom prst="roundRect">
            <a:avLst>
              <a:gd name="adj" fmla="val 128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34072" y="1225296"/>
            <a:ext cx="4254703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9" name="Text 6"/>
          <p:cNvSpPr/>
          <p:nvPr/>
        </p:nvSpPr>
        <p:spPr>
          <a:xfrm>
            <a:off x="7671816" y="1408176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看懂這張圖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671816" y="1792224"/>
            <a:ext cx="377921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2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▍物理直覺：沒有外力的自由度會自己滑到平衡位置，因此結構對剩餘自由度的抵抗一定變小。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▍凝縮不是近似 —— 先解 b 群再回代，答案與直接解完全相同，只是矩陣變小了。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▍最常用的結果：遠端為鉸支承／滾支承時，把該轉角凝縮掉，抗轉勁度就從 4EI/L 降為 3EI/L（掉 25%）。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▍抗平移勁度同理：遠端鉸接時 12EI/L³ 降為 3EI/L³（掉 75%）。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▍凝縮後的載重向量也要跟著改：{P*} = P_a − K_ab K_bb⁻¹ P_b，這正好等於「修正固端彎矩」M̄^F = M^F_ij − ½M^F_ji。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▍多層剛架把所有轉角自由度凝縮掉，只留下各層側移，就得到剪力屋架模型 —— 這就是 SD-U1-3 的起點。</a:t>
            </a:r>
            <a:endParaRPr lang="en-US" sz="1220" dirty="0"/>
          </a:p>
        </p:txBody>
      </p:sp>
      <p:sp>
        <p:nvSpPr>
          <p:cNvPr id="11" name="Shape 8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SA-U2-4 靜不定結構之矩陣分析法｜觀念講義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F6　靜態凝縮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Schur 補式：把不要的自由度乾淨地消掉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" y="1298448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凝縮後的勁度（Schur 補式）</a:t>
            </a:r>
            <a:endParaRPr lang="en-US" sz="1300" dirty="0"/>
          </a:p>
        </p:txBody>
      </p:sp>
      <p:pic>
        <p:nvPicPr>
          <p:cNvPr id="7" name="Image 0" descr="formula_imgs/f6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16145" y="1417320"/>
            <a:ext cx="4874005" cy="6583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2340864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340864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0" name="Text 7"/>
          <p:cNvSpPr/>
          <p:nvPr/>
        </p:nvSpPr>
        <p:spPr>
          <a:xfrm>
            <a:off x="722376" y="2340864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凝縮後的載重</a:t>
            </a:r>
            <a:endParaRPr lang="en-US" sz="1300" dirty="0"/>
          </a:p>
        </p:txBody>
      </p:sp>
      <p:pic>
        <p:nvPicPr>
          <p:cNvPr id="11" name="Image 1" descr="formula_imgs/f6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1896" y="2459736"/>
            <a:ext cx="4202502" cy="6583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2920" y="3383280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02920" y="3383280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4" name="Text 10"/>
          <p:cNvSpPr/>
          <p:nvPr/>
        </p:nvSpPr>
        <p:spPr>
          <a:xfrm>
            <a:off x="722376" y="3383280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回代被消去的自由度</a:t>
            </a:r>
            <a:endParaRPr lang="en-US" sz="1300" dirty="0"/>
          </a:p>
        </p:txBody>
      </p:sp>
      <p:pic>
        <p:nvPicPr>
          <p:cNvPr id="15" name="Image 2" descr="formula_imgs/f6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8579" y="3502152"/>
            <a:ext cx="5089137" cy="65836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02920" y="4425696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02920" y="4425696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8" name="Text 13"/>
          <p:cNvSpPr/>
          <p:nvPr/>
        </p:nvSpPr>
        <p:spPr>
          <a:xfrm>
            <a:off x="722376" y="4425696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最常用的兩個結果</a:t>
            </a:r>
            <a:endParaRPr lang="en-US" sz="1300" dirty="0"/>
          </a:p>
        </p:txBody>
      </p:sp>
      <p:pic>
        <p:nvPicPr>
          <p:cNvPr id="19" name="Image 3" descr="formula_imgs/f6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664" y="4544568"/>
            <a:ext cx="3910968" cy="658368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02920" y="5522976"/>
            <a:ext cx="11185855" cy="804672"/>
          </a:xfrm>
          <a:prstGeom prst="roundRect">
            <a:avLst>
              <a:gd name="adj" fmla="val 6818"/>
            </a:avLst>
          </a:prstGeom>
          <a:solidFill>
            <a:srgbClr val="FBF3DC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722376" y="5559552"/>
            <a:ext cx="107469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B8860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注意　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K_ab K_bb⁻¹ K_ba 這一項恆為正半定，所以 K* 一定小於或等於 K_aa —— 「讓步 ＝ 抵抗變小」在代數上是可以證明的，不只是直覺。凝縮完別忘了回代 D_b，否則被消掉的那些自由度的位移與內力就漏算了。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SA-U2-4 靜不定結構之矩陣分析法｜觀念講義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微型例題④　靜態凝縮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991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把例題③ 的 θ_C 消掉：2 個自由度變 1 個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494215" y="5303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步驟 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85855" cy="603504"/>
          </a:xfrm>
          <a:prstGeom prst="roundRect">
            <a:avLst>
              <a:gd name="adj" fmla="val 10606"/>
            </a:avLst>
          </a:prstGeom>
          <a:solidFill>
            <a:srgbClr val="DCE6F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79576"/>
            <a:ext cx="261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沿用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389888"/>
            <a:ext cx="261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例題③ 的 [K] 與 {P}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9384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90824" y="1179576"/>
            <a:ext cx="261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保留（a 群）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90824" y="1389888"/>
            <a:ext cx="261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θ_B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95848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87288" y="1179576"/>
            <a:ext cx="261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凝縮（b 群）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87288" y="1389888"/>
            <a:ext cx="261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θ_C（該自由度上沒有外加彎矩）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892311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83751" y="1179576"/>
            <a:ext cx="261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預期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983751" y="1389888"/>
            <a:ext cx="261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K* 應等於 4EI/L₁ + 3EI/L₂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1883664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1883664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9" name="Shape 17"/>
          <p:cNvSpPr/>
          <p:nvPr/>
        </p:nvSpPr>
        <p:spPr>
          <a:xfrm>
            <a:off x="704088" y="2066544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" y="2066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24712" y="2048256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分割矩陣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58952" y="2468880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K_aa = 1.1667　K_ab = K_ba = 0.2500　K_bb = 0.5000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P_a = 32　P_b = 40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 群 = 想保留的自由度；b 群 = 想消掉的自由度。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只有「該自由度上沒有外力」時凝縮才特別划算。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10148" y="1883664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0148" y="1883664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5" name="Shape 23"/>
          <p:cNvSpPr/>
          <p:nvPr/>
        </p:nvSpPr>
        <p:spPr>
          <a:xfrm>
            <a:off x="6411316" y="2066544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6" name="Text 24"/>
          <p:cNvSpPr/>
          <p:nvPr/>
        </p:nvSpPr>
        <p:spPr>
          <a:xfrm>
            <a:off x="6411316" y="2066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31940" y="2048256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算 K* 與 P*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466180" y="2468880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K* = 1.1667 − 0.2500²/0.5000 = 1.0417 EI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　 = 4EI/6 + 3EI/8　← 正是遠端鉸接修正式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P* = 32 − (0.25/0.50)×40 = 12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等價寫法：P* = −(M^F_BA + M̄^F_BC)，其中 M̄^F = 60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02920" y="3931920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3931920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1" name="Shape 29"/>
          <p:cNvSpPr/>
          <p:nvPr/>
        </p:nvSpPr>
        <p:spPr>
          <a:xfrm>
            <a:off x="704088" y="4114800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2" name="Text 30"/>
          <p:cNvSpPr/>
          <p:nvPr/>
        </p:nvSpPr>
        <p:spPr>
          <a:xfrm>
            <a:off x="704088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124712" y="4096512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解 1 個自由度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758952" y="4517136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1.0417·EIθ_B = 12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EIθ_B = 11.52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與例題③ 的 2 自由度直解完全相同 ✓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降維不失真：凝縮只是先解 b 群、再回代，不是把結構改簡單了。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210148" y="3931920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10148" y="3931920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7" name="Shape 35"/>
          <p:cNvSpPr/>
          <p:nvPr/>
        </p:nvSpPr>
        <p:spPr>
          <a:xfrm>
            <a:off x="6411316" y="4114800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8" name="Text 36"/>
          <p:cNvSpPr/>
          <p:nvPr/>
        </p:nvSpPr>
        <p:spPr>
          <a:xfrm>
            <a:off x="6411316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831940" y="4096512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回代被消掉的自由度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6466180" y="4517136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D_b = K_bb⁻¹(P_b − K_ba·D_a)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EIθ_C = (40 − 0.25×11.52) / 0.50 = 74.24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也與例題③ 完全相同 ✓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忘了回代，θ_C 與 BC 桿的內力就漏算了 —— 這是凝縮最常見的失分點。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02920" y="5907024"/>
            <a:ext cx="11185855" cy="603504"/>
          </a:xfrm>
          <a:prstGeom prst="roundRect">
            <a:avLst>
              <a:gd name="adj" fmla="val 12121"/>
            </a:avLst>
          </a:prstGeom>
          <a:solidFill>
            <a:srgbClr val="1B2A41"/>
          </a:solidFill>
          <a:ln/>
        </p:spPr>
      </p:sp>
      <p:sp>
        <p:nvSpPr>
          <p:cNvPr id="42" name="Text 40"/>
          <p:cNvSpPr/>
          <p:nvPr/>
        </p:nvSpPr>
        <p:spPr>
          <a:xfrm>
            <a:off x="722376" y="5907024"/>
            <a:ext cx="731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答案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1417320" y="5907024"/>
            <a:ext cx="99971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K* = 1.0417 EI = 4EI/L₁ + 3EI/L₂；EIθ_B = 11.52、EIθ_C = 74.24 —— 與 2 自由度直解逐項相同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微型例題⑤　門型剛架（有側移）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991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三個自由度、三場實驗，再凝縮成側向勁度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494215" y="5303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全流程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85855" cy="603504"/>
          </a:xfrm>
          <a:prstGeom prst="roundRect">
            <a:avLst>
              <a:gd name="adj" fmla="val 10606"/>
            </a:avLst>
          </a:prstGeom>
          <a:solidFill>
            <a:srgbClr val="DCE6F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79576"/>
            <a:ext cx="261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幾何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389888"/>
            <a:ext cx="261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柱 4 m、梁 6 m，等 EI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9384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90824" y="1179576"/>
            <a:ext cx="261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支承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90824" y="1389888"/>
            <a:ext cx="261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A、D 皆為固定端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95848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87288" y="1179576"/>
            <a:ext cx="261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載重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87288" y="1389888"/>
            <a:ext cx="261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 點水平 P = 60 kN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892311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83751" y="1179576"/>
            <a:ext cx="261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假設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983751" y="1389888"/>
            <a:ext cx="261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不計軸向變形 → B、C 側移相同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1883664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1883664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9" name="Shape 17"/>
          <p:cNvSpPr/>
          <p:nvPr/>
        </p:nvSpPr>
        <p:spPr>
          <a:xfrm>
            <a:off x="704088" y="2066544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" y="2066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24712" y="2048256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三場單位位移實驗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58952" y="2468880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θ_B = 1：K₁₁ = 4EI/h + 4EI/L = 1.667 EI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θ_C = 1：K₂₂ 同上；K₁₂ = 2EI/L = 0.333 EI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Δ = 1：K₃₃ = 2×12EI/h³ = 0.375 EI（兩根柱）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耦合項 K₁₃ = K₂₃ = 6EI/h² = 0.375 EI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10148" y="1883664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0148" y="1883664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5" name="Shape 23"/>
          <p:cNvSpPr/>
          <p:nvPr/>
        </p:nvSpPr>
        <p:spPr>
          <a:xfrm>
            <a:off x="6411316" y="2066544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6" name="Text 24"/>
          <p:cNvSpPr/>
          <p:nvPr/>
        </p:nvSpPr>
        <p:spPr>
          <a:xfrm>
            <a:off x="6411316" y="2066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31940" y="2048256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組裝與求解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466180" y="2468880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{P} = (0, 0, 60)ᵀ —— 只有側移那一列有外力。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反對稱載重 → θ_B = θ_C（同號）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EIθ_B = EIθ_C = −48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EIΔ = 256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02920" y="3931920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3931920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1" name="Shape 29"/>
          <p:cNvSpPr/>
          <p:nvPr/>
        </p:nvSpPr>
        <p:spPr>
          <a:xfrm>
            <a:off x="704088" y="4114800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2" name="Text 30"/>
          <p:cNvSpPr/>
          <p:nvPr/>
        </p:nvSpPr>
        <p:spPr>
          <a:xfrm>
            <a:off x="704088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124712" y="4096512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回代桿端彎矩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758952" y="4517136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M_AB = M_DC = 72　M_BA = M_CD = 48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M_BC = M_CB = −48　（單位 kN·m，逆時針為正）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節點 B：48 + (−48) = 0 ✓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柱剪力 30 × 2 = 60 = P ✓　反曲點距柱底 2.4 m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210148" y="3931920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10148" y="3931920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7" name="Shape 35"/>
          <p:cNvSpPr/>
          <p:nvPr/>
        </p:nvSpPr>
        <p:spPr>
          <a:xfrm>
            <a:off x="6411316" y="4114800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8" name="Text 36"/>
          <p:cNvSpPr/>
          <p:nvPr/>
        </p:nvSpPr>
        <p:spPr>
          <a:xfrm>
            <a:off x="6411316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831940" y="4096512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凝縮成側向勁度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6466180" y="4517136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 θ_B、θ_C 凝縮掉：k_lat = 0.234375 EI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檢核：Δ = P / k_lat = 256 / EI ✓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剛性梁上限（梁 EI → ∞）：2×12EI/h³ = 0.375 EI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實際只有上限的 62.5% —— 把梁當剛性會高估側向勁度 60%。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02920" y="5907024"/>
            <a:ext cx="11185855" cy="603504"/>
          </a:xfrm>
          <a:prstGeom prst="roundRect">
            <a:avLst>
              <a:gd name="adj" fmla="val 12121"/>
            </a:avLst>
          </a:prstGeom>
          <a:solidFill>
            <a:srgbClr val="1B2A41"/>
          </a:solidFill>
          <a:ln/>
        </p:spPr>
      </p:sp>
      <p:sp>
        <p:nvSpPr>
          <p:cNvPr id="42" name="Text 40"/>
          <p:cNvSpPr/>
          <p:nvPr/>
        </p:nvSpPr>
        <p:spPr>
          <a:xfrm>
            <a:off x="722376" y="5907024"/>
            <a:ext cx="731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答案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1417320" y="5907024"/>
            <a:ext cx="99971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EIθ = −48、EIΔ = 256；M_AB = 72、M_BA = 48、M_BC = −48 kN·m；側向勁度 0.234375 EI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WORKED FRAME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899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門型剛架：三個自由度 = 三場單位位移實驗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494215" y="548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圖解 10／11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6693408" cy="5047488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12700">
            <a:solidFill>
              <a:srgbClr val="DF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pic>
        <p:nvPicPr>
          <p:cNvPr id="6" name="Image 0" descr="diagram_imgs/d10_por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431316"/>
            <a:ext cx="6583680" cy="46354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34072" y="1225296"/>
            <a:ext cx="4254703" cy="5047488"/>
          </a:xfrm>
          <a:prstGeom prst="roundRect">
            <a:avLst>
              <a:gd name="adj" fmla="val 128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34072" y="1225296"/>
            <a:ext cx="4254703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9" name="Text 6"/>
          <p:cNvSpPr/>
          <p:nvPr/>
        </p:nvSpPr>
        <p:spPr>
          <a:xfrm>
            <a:off x="7671816" y="1408176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看懂這張圖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671816" y="1792224"/>
            <a:ext cx="377921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▍自由度盤點：兩個固定端扣掉 6 個，B、C 各留轉角，再因「不計軸向變形」讓兩點共用一個側移 Δ。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▍K₃₃ = 2×12EI/h³ 是兩根柱的抗平移勁度相加；耦合項 K₁₃ = 6EI/h² 就是那個平移↔旋轉的數字。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▍反對稱載重下 θ_B = θ_C（同號），這與對稱載重時 θ_C = −θ_B 正好相反。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▍柱兩端彎矩在逆時針慣例下同號（72 與 48），代表雙曲率；反曲點落在 72/(72+48)×4 = 2.4 m。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▍梁的彎矩圖從 +48 線性變到 −48，中點恰為反曲點 —— 反對稱變形的特徵。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▍與 SA-U2-3 傾角變位法的答案逐項互為反號，因為那邊用順時針為正。慣例不同，物理完全一樣。</a:t>
            </a:r>
            <a:endParaRPr lang="en-US" sz="1220" dirty="0"/>
          </a:p>
        </p:txBody>
      </p:sp>
      <p:sp>
        <p:nvSpPr>
          <p:cNvPr id="11" name="Shape 8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SA-U2-4 靜不定結構之矩陣分析法｜觀念講義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考場 SOP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六個標準動作，嚴格照做就不會亂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16736"/>
            <a:ext cx="2017715" cy="4224528"/>
          </a:xfrm>
          <a:prstGeom prst="roundRect">
            <a:avLst>
              <a:gd name="adj" fmla="val 3172"/>
            </a:avLst>
          </a:prstGeom>
          <a:solidFill>
            <a:srgbClr val="FFFFFF"/>
          </a:solidFill>
          <a:ln w="15240">
            <a:solidFill>
              <a:srgbClr val="4C6B8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16736"/>
            <a:ext cx="2017715" cy="658368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" y="1371600"/>
            <a:ext cx="15788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22376" y="1591056"/>
            <a:ext cx="157880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1–2　盤點與元素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85800" y="2157984"/>
            <a:ext cx="1651955" cy="384048"/>
          </a:xfrm>
          <a:prstGeom prst="roundRect">
            <a:avLst>
              <a:gd name="adj" fmla="val 50000"/>
            </a:avLst>
          </a:prstGeom>
          <a:solidFill>
            <a:srgbClr val="FBE1DE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157984"/>
            <a:ext cx="16519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自由度盤點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58952" y="2578608"/>
            <a:ext cx="1505651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平面節點預設 3 個 (u, v, θ)，扣除支承束制。註明「忽略軸向變形」時，把沿桿軸的位移合併或歸零。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3877056"/>
            <a:ext cx="1651955" cy="384048"/>
          </a:xfrm>
          <a:prstGeom prst="roundRect">
            <a:avLst>
              <a:gd name="adj" fmla="val 50000"/>
            </a:avLst>
          </a:prstGeom>
          <a:solidFill>
            <a:srgbClr val="DCE6F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877056"/>
            <a:ext cx="16519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逐元素計算勁度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58952" y="4297680"/>
            <a:ext cx="150565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梁元素列 4×4、桁架元素列 2×2；斜桿先算 c、s、L。列／行旁務必標上整體自由度編號。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 rot="18900000">
            <a:off x="2575499" y="1572768"/>
            <a:ext cx="164592" cy="164592"/>
          </a:xfrm>
          <a:prstGeom prst="rtTriangle">
            <a:avLst/>
          </a:prstGeom>
          <a:solidFill>
            <a:srgbClr val="E8734A"/>
          </a:solidFill>
          <a:ln/>
        </p:spPr>
      </p:sp>
      <p:sp>
        <p:nvSpPr>
          <p:cNvPr id="15" name="Shape 13"/>
          <p:cNvSpPr/>
          <p:nvPr/>
        </p:nvSpPr>
        <p:spPr>
          <a:xfrm>
            <a:off x="2794955" y="1316736"/>
            <a:ext cx="2017715" cy="4224528"/>
          </a:xfrm>
          <a:prstGeom prst="roundRect">
            <a:avLst>
              <a:gd name="adj" fmla="val 3172"/>
            </a:avLst>
          </a:prstGeom>
          <a:solidFill>
            <a:srgbClr val="FFFFFF"/>
          </a:solidFill>
          <a:ln w="15240">
            <a:solidFill>
              <a:srgbClr val="4C6B8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94955" y="1316736"/>
            <a:ext cx="2017715" cy="658368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17" name="Text 15"/>
          <p:cNvSpPr/>
          <p:nvPr/>
        </p:nvSpPr>
        <p:spPr>
          <a:xfrm>
            <a:off x="3014411" y="1371600"/>
            <a:ext cx="15788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2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014411" y="1591056"/>
            <a:ext cx="157880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3　組裝 [K]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2977835" y="2157984"/>
            <a:ext cx="1651955" cy="384048"/>
          </a:xfrm>
          <a:prstGeom prst="roundRect">
            <a:avLst>
              <a:gd name="adj" fmla="val 50000"/>
            </a:avLst>
          </a:prstGeom>
          <a:solidFill>
            <a:srgbClr val="FBE1DE"/>
          </a:solidFill>
          <a:ln/>
        </p:spPr>
      </p:sp>
      <p:sp>
        <p:nvSpPr>
          <p:cNvPr id="20" name="Text 18"/>
          <p:cNvSpPr/>
          <p:nvPr/>
        </p:nvSpPr>
        <p:spPr>
          <a:xfrm>
            <a:off x="2977835" y="2157984"/>
            <a:ext cx="16519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對號入座相加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050987" y="2578608"/>
            <a:ext cx="150565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把小矩陣按自由度編號加到大矩陣中；共用自由度的格子相加。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977835" y="3694176"/>
            <a:ext cx="1651955" cy="384048"/>
          </a:xfrm>
          <a:prstGeom prst="roundRect">
            <a:avLst>
              <a:gd name="adj" fmla="val 50000"/>
            </a:avLst>
          </a:prstGeom>
          <a:solidFill>
            <a:srgbClr val="DCE6F0"/>
          </a:solidFill>
          <a:ln/>
        </p:spPr>
      </p:sp>
      <p:sp>
        <p:nvSpPr>
          <p:cNvPr id="23" name="Text 21"/>
          <p:cNvSpPr/>
          <p:nvPr/>
        </p:nvSpPr>
        <p:spPr>
          <a:xfrm>
            <a:off x="2977835" y="3694176"/>
            <a:ext cx="16519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立刻驗算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050987" y="4114800"/>
            <a:ext cx="1505651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非對角線必須對稱 K_ij = K_ji；對角線項恆為正 K_ii &gt; 0；剛體位移代入內力為零。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 rot="18900000">
            <a:off x="4867534" y="1572768"/>
            <a:ext cx="164592" cy="164592"/>
          </a:xfrm>
          <a:prstGeom prst="rtTriangle">
            <a:avLst/>
          </a:prstGeom>
          <a:solidFill>
            <a:srgbClr val="E8734A"/>
          </a:solidFill>
          <a:ln/>
        </p:spPr>
      </p:sp>
      <p:sp>
        <p:nvSpPr>
          <p:cNvPr id="26" name="Shape 24"/>
          <p:cNvSpPr/>
          <p:nvPr/>
        </p:nvSpPr>
        <p:spPr>
          <a:xfrm>
            <a:off x="5086990" y="1316736"/>
            <a:ext cx="2017715" cy="4224528"/>
          </a:xfrm>
          <a:prstGeom prst="roundRect">
            <a:avLst>
              <a:gd name="adj" fmla="val 3172"/>
            </a:avLst>
          </a:prstGeom>
          <a:solidFill>
            <a:srgbClr val="FFFFFF"/>
          </a:solidFill>
          <a:ln w="15240">
            <a:solidFill>
              <a:srgbClr val="4C6B8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86990" y="1316736"/>
            <a:ext cx="2017715" cy="658368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28" name="Text 26"/>
          <p:cNvSpPr/>
          <p:nvPr/>
        </p:nvSpPr>
        <p:spPr>
          <a:xfrm>
            <a:off x="5306446" y="1371600"/>
            <a:ext cx="15788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3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306446" y="1591056"/>
            <a:ext cx="157880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4　載重向量 {P}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5269870" y="2157984"/>
            <a:ext cx="1651955" cy="384048"/>
          </a:xfrm>
          <a:prstGeom prst="roundRect">
            <a:avLst>
              <a:gd name="adj" fmla="val 50000"/>
            </a:avLst>
          </a:prstGeom>
          <a:solidFill>
            <a:srgbClr val="DCE6F0"/>
          </a:solidFill>
          <a:ln/>
        </p:spPr>
      </p:sp>
      <p:sp>
        <p:nvSpPr>
          <p:cNvPr id="31" name="Text 29"/>
          <p:cNvSpPr/>
          <p:nvPr/>
        </p:nvSpPr>
        <p:spPr>
          <a:xfrm>
            <a:off x="5269870" y="2157984"/>
            <a:ext cx="16519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只有節點力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43022" y="2578608"/>
            <a:ext cx="150565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直接填入 {P}，不必做任何換算。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269870" y="3401568"/>
            <a:ext cx="1651955" cy="384048"/>
          </a:xfrm>
          <a:prstGeom prst="roundRect">
            <a:avLst>
              <a:gd name="adj" fmla="val 50000"/>
            </a:avLst>
          </a:prstGeom>
          <a:solidFill>
            <a:srgbClr val="FBE1DE"/>
          </a:solidFill>
          <a:ln/>
        </p:spPr>
      </p:sp>
      <p:sp>
        <p:nvSpPr>
          <p:cNvPr id="34" name="Text 32"/>
          <p:cNvSpPr/>
          <p:nvPr/>
        </p:nvSpPr>
        <p:spPr>
          <a:xfrm>
            <a:off x="5269870" y="3401568"/>
            <a:ext cx="16519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有跨間載重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43022" y="3822192"/>
            <a:ext cx="1505651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先鎖住算固端力 {f_F}，再反號：{P} = {P_外力} − {f_F}。沉陷、溫差、製造誤差同樣處理。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 rot="18900000">
            <a:off x="7159569" y="1572768"/>
            <a:ext cx="164592" cy="164592"/>
          </a:xfrm>
          <a:prstGeom prst="rtTriangle">
            <a:avLst/>
          </a:prstGeom>
          <a:solidFill>
            <a:srgbClr val="E8734A"/>
          </a:solidFill>
          <a:ln/>
        </p:spPr>
      </p:sp>
      <p:sp>
        <p:nvSpPr>
          <p:cNvPr id="37" name="Shape 35"/>
          <p:cNvSpPr/>
          <p:nvPr/>
        </p:nvSpPr>
        <p:spPr>
          <a:xfrm>
            <a:off x="7379025" y="1316736"/>
            <a:ext cx="2017715" cy="4224528"/>
          </a:xfrm>
          <a:prstGeom prst="roundRect">
            <a:avLst>
              <a:gd name="adj" fmla="val 3172"/>
            </a:avLst>
          </a:prstGeom>
          <a:solidFill>
            <a:srgbClr val="FFFFFF"/>
          </a:solidFill>
          <a:ln w="15240">
            <a:solidFill>
              <a:srgbClr val="4C6B8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379025" y="1316736"/>
            <a:ext cx="2017715" cy="658368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9" name="Text 37"/>
          <p:cNvSpPr/>
          <p:nvPr/>
        </p:nvSpPr>
        <p:spPr>
          <a:xfrm>
            <a:off x="7598481" y="1371600"/>
            <a:ext cx="15788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4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598481" y="1591056"/>
            <a:ext cx="157880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5　求解位移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7561905" y="2157984"/>
            <a:ext cx="1651955" cy="384048"/>
          </a:xfrm>
          <a:prstGeom prst="roundRect">
            <a:avLst>
              <a:gd name="adj" fmla="val 50000"/>
            </a:avLst>
          </a:prstGeom>
          <a:solidFill>
            <a:srgbClr val="DCE6F0"/>
          </a:solidFill>
          <a:ln/>
        </p:spPr>
      </p:sp>
      <p:sp>
        <p:nvSpPr>
          <p:cNvPr id="42" name="Text 40"/>
          <p:cNvSpPr/>
          <p:nvPr/>
        </p:nvSpPr>
        <p:spPr>
          <a:xfrm>
            <a:off x="7561905" y="2157984"/>
            <a:ext cx="16519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直接解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635057" y="2578608"/>
            <a:ext cx="150565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{D} = [K]⁻¹{P}。自由度少時直接消去法最快。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7561905" y="3557016"/>
            <a:ext cx="1651955" cy="384048"/>
          </a:xfrm>
          <a:prstGeom prst="roundRect">
            <a:avLst>
              <a:gd name="adj" fmla="val 50000"/>
            </a:avLst>
          </a:prstGeom>
          <a:solidFill>
            <a:srgbClr val="FBE1DE"/>
          </a:solidFill>
          <a:ln/>
        </p:spPr>
      </p:sp>
      <p:sp>
        <p:nvSpPr>
          <p:cNvPr id="45" name="Text 43"/>
          <p:cNvSpPr/>
          <p:nvPr/>
        </p:nvSpPr>
        <p:spPr>
          <a:xfrm>
            <a:off x="7561905" y="3557016"/>
            <a:ext cx="16519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先凝縮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635057" y="3977640"/>
            <a:ext cx="1505651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有自由度上沒有外力時，用 K* = K_aa − K_ab K_bb⁻¹K_ba 降維；解完務必回代 D_b。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 rot="18900000">
            <a:off x="9451604" y="1572768"/>
            <a:ext cx="164592" cy="164592"/>
          </a:xfrm>
          <a:prstGeom prst="rtTriangle">
            <a:avLst/>
          </a:prstGeom>
          <a:solidFill>
            <a:srgbClr val="E8734A"/>
          </a:solidFill>
          <a:ln/>
        </p:spPr>
      </p:sp>
      <p:sp>
        <p:nvSpPr>
          <p:cNvPr id="48" name="Shape 46"/>
          <p:cNvSpPr/>
          <p:nvPr/>
        </p:nvSpPr>
        <p:spPr>
          <a:xfrm>
            <a:off x="9671060" y="1316736"/>
            <a:ext cx="2017715" cy="4224528"/>
          </a:xfrm>
          <a:prstGeom prst="roundRect">
            <a:avLst>
              <a:gd name="adj" fmla="val 3172"/>
            </a:avLst>
          </a:prstGeom>
          <a:solidFill>
            <a:srgbClr val="FFFFFF"/>
          </a:solidFill>
          <a:ln w="15240">
            <a:solidFill>
              <a:srgbClr val="4C6B8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9671060" y="1316736"/>
            <a:ext cx="2017715" cy="658368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50" name="Text 48"/>
          <p:cNvSpPr/>
          <p:nvPr/>
        </p:nvSpPr>
        <p:spPr>
          <a:xfrm>
            <a:off x="9890516" y="1371600"/>
            <a:ext cx="15788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5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9890516" y="1591056"/>
            <a:ext cx="157880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6　內力與驗算</a:t>
            </a:r>
            <a:endParaRPr lang="en-US" sz="1350" dirty="0"/>
          </a:p>
        </p:txBody>
      </p:sp>
      <p:sp>
        <p:nvSpPr>
          <p:cNvPr id="52" name="Shape 50"/>
          <p:cNvSpPr/>
          <p:nvPr/>
        </p:nvSpPr>
        <p:spPr>
          <a:xfrm>
            <a:off x="9853940" y="2157984"/>
            <a:ext cx="1651955" cy="384048"/>
          </a:xfrm>
          <a:prstGeom prst="roundRect">
            <a:avLst>
              <a:gd name="adj" fmla="val 50000"/>
            </a:avLst>
          </a:prstGeom>
          <a:solidFill>
            <a:srgbClr val="FBE1DE"/>
          </a:solidFill>
          <a:ln/>
        </p:spPr>
      </p:sp>
      <p:sp>
        <p:nvSpPr>
          <p:cNvPr id="53" name="Text 51"/>
          <p:cNvSpPr/>
          <p:nvPr/>
        </p:nvSpPr>
        <p:spPr>
          <a:xfrm>
            <a:off x="9853940" y="2157984"/>
            <a:ext cx="16519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回代內力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9927092" y="2578608"/>
            <a:ext cx="150565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{f} = [k]{d} + {f_F}。跨間有載重時千萬不能漏掉 {f_F}。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9853940" y="3694176"/>
            <a:ext cx="1651955" cy="384048"/>
          </a:xfrm>
          <a:prstGeom prst="roundRect">
            <a:avLst>
              <a:gd name="adj" fmla="val 50000"/>
            </a:avLst>
          </a:prstGeom>
          <a:solidFill>
            <a:srgbClr val="DCE6F0"/>
          </a:solidFill>
          <a:ln/>
        </p:spPr>
      </p:sp>
      <p:sp>
        <p:nvSpPr>
          <p:cNvPr id="56" name="Text 54"/>
          <p:cNvSpPr/>
          <p:nvPr/>
        </p:nvSpPr>
        <p:spPr>
          <a:xfrm>
            <a:off x="9853940" y="3694176"/>
            <a:ext cx="16519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三個獨立檢查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9927092" y="4114800"/>
            <a:ext cx="1505651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節點 ΣM = 0、整體 ΣF = ΣM = 0、剛體檢查。三項全過才交卷。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502920" y="5687568"/>
            <a:ext cx="11185855" cy="566928"/>
          </a:xfrm>
          <a:prstGeom prst="roundRect">
            <a:avLst>
              <a:gd name="adj" fmla="val 12903"/>
            </a:avLst>
          </a:prstGeom>
          <a:solidFill>
            <a:srgbClr val="1B2A41"/>
          </a:solidFill>
          <a:ln/>
        </p:spPr>
      </p:sp>
      <p:sp>
        <p:nvSpPr>
          <p:cNvPr id="59" name="Text 57"/>
          <p:cNvSpPr/>
          <p:nvPr/>
        </p:nvSpPr>
        <p:spPr>
          <a:xfrm>
            <a:off x="777240" y="5687568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★ 這六步的順序不能顛倒：編號沒定好就算元素，組裝一定錯；{P} 沒扣固端力，位移就是錯的。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SA-U2-4 靜不定結構之矩陣分析法｜觀念講義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BIG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899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全景圖：六步驟與五題例題的定位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494215" y="548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圖解 11／11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6693408" cy="5047488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12700">
            <a:solidFill>
              <a:srgbClr val="DF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pic>
        <p:nvPicPr>
          <p:cNvPr id="6" name="Image 0" descr="diagram_imgs/d11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431316"/>
            <a:ext cx="6583680" cy="46354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34072" y="1225296"/>
            <a:ext cx="4254703" cy="5047488"/>
          </a:xfrm>
          <a:prstGeom prst="roundRect">
            <a:avLst>
              <a:gd name="adj" fmla="val 128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34072" y="1225296"/>
            <a:ext cx="4254703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9" name="Text 6"/>
          <p:cNvSpPr/>
          <p:nvPr/>
        </p:nvSpPr>
        <p:spPr>
          <a:xfrm>
            <a:off x="7671816" y="1408176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看懂這張圖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671816" y="1792224"/>
            <a:ext cx="377921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2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▍整個矩陣分析法就是：做 n 場單位位移實驗 → 排成一張表 → 解一次聯立 → 回代。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▍例題①③④ 用的是同一根梁（L₁ = 6 m、L₂ = 8 m）：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　① 建 [K] 並解節點彎矩 → EIθ_B = 96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　③ 換成跨間載重，[K] 不變只換右手邊 → EIθ_B = 11.52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　④ 把 θ_C 凝縮掉 → K* = 4EI/L₁ + 3EI/L₂，答案逐項相同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▍例題② 示範桁架的投影兩次；例題⑤ 把六個步驟從頭走一遍，並帶出剛架側向勁度。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▍這樣安排是刻意的：同一組結構跑三遍，才看得出「換的只是右手邊與自由度個數」。</a:t>
            </a:r>
            <a:endParaRPr lang="en-US" sz="1220" dirty="0"/>
          </a:p>
        </p:txBody>
      </p:sp>
      <p:sp>
        <p:nvSpPr>
          <p:cNvPr id="11" name="Shape 8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SA-U2-4 靜不定結構之矩陣分析法｜觀念講義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全公式速查 (1／2)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基本方程、梁元素、桁架與轉換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6" name="Text 4"/>
          <p:cNvSpPr/>
          <p:nvPr/>
        </p:nvSpPr>
        <p:spPr>
          <a:xfrm>
            <a:off x="630936" y="1389888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基本方程</a:t>
            </a:r>
            <a:endParaRPr lang="en-US" sz="1100" dirty="0"/>
          </a:p>
        </p:txBody>
      </p:sp>
      <p:pic>
        <p:nvPicPr>
          <p:cNvPr id="7" name="Image 0" descr="formula_imgs/s1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1688223"/>
            <a:ext cx="2352980" cy="58290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349676" y="1298448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349676" y="1298448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0" name="Text 7"/>
          <p:cNvSpPr/>
          <p:nvPr/>
        </p:nvSpPr>
        <p:spPr>
          <a:xfrm>
            <a:off x="3477692" y="1389888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對稱性</a:t>
            </a:r>
            <a:endParaRPr lang="en-US" sz="1100" dirty="0"/>
          </a:p>
        </p:txBody>
      </p:sp>
      <p:pic>
        <p:nvPicPr>
          <p:cNvPr id="11" name="Image 1" descr="formula_imgs/s1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6696" y="1682496"/>
            <a:ext cx="1831547" cy="59436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196432" y="1298448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196432" y="1298448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4" name="Text 10"/>
          <p:cNvSpPr/>
          <p:nvPr/>
        </p:nvSpPr>
        <p:spPr>
          <a:xfrm>
            <a:off x="6324448" y="1389888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對角線恆正</a:t>
            </a:r>
            <a:endParaRPr lang="en-US" sz="1100" dirty="0"/>
          </a:p>
        </p:txBody>
      </p:sp>
      <p:pic>
        <p:nvPicPr>
          <p:cNvPr id="15" name="Image 2" descr="formula_imgs/s1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2167" y="1682496"/>
            <a:ext cx="1474118" cy="59436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9043187" y="1298448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9043187" y="1298448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8" name="Text 13"/>
          <p:cNvSpPr/>
          <p:nvPr/>
        </p:nvSpPr>
        <p:spPr>
          <a:xfrm>
            <a:off x="9171203" y="1389888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解位移</a:t>
            </a:r>
            <a:endParaRPr lang="en-US" sz="1100" dirty="0"/>
          </a:p>
        </p:txBody>
      </p:sp>
      <p:pic>
        <p:nvPicPr>
          <p:cNvPr id="19" name="Image 3" descr="formula_imgs/s1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491" y="1726578"/>
            <a:ext cx="2352980" cy="506197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02920" y="2587752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502920" y="2587752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22" name="Text 16"/>
          <p:cNvSpPr/>
          <p:nvPr/>
        </p:nvSpPr>
        <p:spPr>
          <a:xfrm>
            <a:off x="630936" y="2679192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抗平移勁度</a:t>
            </a:r>
            <a:endParaRPr lang="en-US" sz="1100" dirty="0"/>
          </a:p>
        </p:txBody>
      </p:sp>
      <p:pic>
        <p:nvPicPr>
          <p:cNvPr id="23" name="Image 4" descr="formula_imgs/s2_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0704" y="2971800"/>
            <a:ext cx="650019" cy="59436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3349676" y="2587752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3349676" y="2587752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26" name="Text 19"/>
          <p:cNvSpPr/>
          <p:nvPr/>
        </p:nvSpPr>
        <p:spPr>
          <a:xfrm>
            <a:off x="3477692" y="2679192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平移↔旋轉耦合</a:t>
            </a:r>
            <a:endParaRPr lang="en-US" sz="1100" dirty="0"/>
          </a:p>
        </p:txBody>
      </p:sp>
      <p:pic>
        <p:nvPicPr>
          <p:cNvPr id="27" name="Image 5" descr="formula_imgs/s2_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08747" y="2971800"/>
            <a:ext cx="527445" cy="594360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6196432" y="2587752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6196432" y="2587752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30" name="Text 22"/>
          <p:cNvSpPr/>
          <p:nvPr/>
        </p:nvSpPr>
        <p:spPr>
          <a:xfrm>
            <a:off x="6324448" y="2679192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抗轉勁度（近端）</a:t>
            </a:r>
            <a:endParaRPr lang="en-US" sz="1100" dirty="0"/>
          </a:p>
        </p:txBody>
      </p:sp>
      <p:pic>
        <p:nvPicPr>
          <p:cNvPr id="31" name="Image 6" descr="formula_imgs/s2_3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4782" y="2971800"/>
            <a:ext cx="568887" cy="594360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9043187" y="2587752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9043187" y="2587752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34" name="Text 25"/>
          <p:cNvSpPr/>
          <p:nvPr/>
        </p:nvSpPr>
        <p:spPr>
          <a:xfrm>
            <a:off x="9171203" y="2679192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傳遞彎矩（遠端）</a:t>
            </a:r>
            <a:endParaRPr lang="en-US" sz="1100" dirty="0"/>
          </a:p>
        </p:txBody>
      </p:sp>
      <p:pic>
        <p:nvPicPr>
          <p:cNvPr id="35" name="Image 7" descr="formula_imgs/s2_4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1538" y="2971800"/>
            <a:ext cx="568887" cy="594360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502920" y="3877056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37" name="Shape 27"/>
          <p:cNvSpPr/>
          <p:nvPr/>
        </p:nvSpPr>
        <p:spPr>
          <a:xfrm>
            <a:off x="502920" y="3877056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38" name="Text 28"/>
          <p:cNvSpPr/>
          <p:nvPr/>
        </p:nvSpPr>
        <p:spPr>
          <a:xfrm>
            <a:off x="630936" y="3968496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傳遞係數</a:t>
            </a:r>
            <a:endParaRPr lang="en-US" sz="1100" dirty="0"/>
          </a:p>
        </p:txBody>
      </p:sp>
      <p:pic>
        <p:nvPicPr>
          <p:cNvPr id="39" name="Image 8" descr="formula_imgs/s3_1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4299" y="4261104"/>
            <a:ext cx="1442830" cy="594360"/>
          </a:xfrm>
          <a:prstGeom prst="rect">
            <a:avLst/>
          </a:prstGeom>
        </p:spPr>
      </p:pic>
      <p:sp>
        <p:nvSpPr>
          <p:cNvPr id="40" name="Shape 29"/>
          <p:cNvSpPr/>
          <p:nvPr/>
        </p:nvSpPr>
        <p:spPr>
          <a:xfrm>
            <a:off x="3349676" y="3877056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41" name="Shape 30"/>
          <p:cNvSpPr/>
          <p:nvPr/>
        </p:nvSpPr>
        <p:spPr>
          <a:xfrm>
            <a:off x="3349676" y="3877056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42" name="Text 31"/>
          <p:cNvSpPr/>
          <p:nvPr/>
        </p:nvSpPr>
        <p:spPr>
          <a:xfrm>
            <a:off x="3477692" y="3968496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方向餘弦 c</a:t>
            </a:r>
            <a:endParaRPr lang="en-US" sz="1100" dirty="0"/>
          </a:p>
        </p:txBody>
      </p:sp>
      <p:pic>
        <p:nvPicPr>
          <p:cNvPr id="43" name="Image 9" descr="formula_imgs/s3_2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28042" y="4261104"/>
            <a:ext cx="1888856" cy="594360"/>
          </a:xfrm>
          <a:prstGeom prst="rect">
            <a:avLst/>
          </a:prstGeom>
        </p:spPr>
      </p:pic>
      <p:sp>
        <p:nvSpPr>
          <p:cNvPr id="44" name="Shape 32"/>
          <p:cNvSpPr/>
          <p:nvPr/>
        </p:nvSpPr>
        <p:spPr>
          <a:xfrm>
            <a:off x="6196432" y="3877056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45" name="Shape 33"/>
          <p:cNvSpPr/>
          <p:nvPr/>
        </p:nvSpPr>
        <p:spPr>
          <a:xfrm>
            <a:off x="6196432" y="3877056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46" name="Text 34"/>
          <p:cNvSpPr/>
          <p:nvPr/>
        </p:nvSpPr>
        <p:spPr>
          <a:xfrm>
            <a:off x="6324448" y="3968496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方向餘弦 s</a:t>
            </a:r>
            <a:endParaRPr lang="en-US" sz="1100" dirty="0"/>
          </a:p>
        </p:txBody>
      </p:sp>
      <p:pic>
        <p:nvPicPr>
          <p:cNvPr id="47" name="Image 10" descr="formula_imgs/s3_3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83612" y="4261104"/>
            <a:ext cx="1871227" cy="594360"/>
          </a:xfrm>
          <a:prstGeom prst="rect">
            <a:avLst/>
          </a:prstGeom>
        </p:spPr>
      </p:pic>
      <p:sp>
        <p:nvSpPr>
          <p:cNvPr id="48" name="Shape 35"/>
          <p:cNvSpPr/>
          <p:nvPr/>
        </p:nvSpPr>
        <p:spPr>
          <a:xfrm>
            <a:off x="9043187" y="3877056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49" name="Shape 36"/>
          <p:cNvSpPr/>
          <p:nvPr/>
        </p:nvSpPr>
        <p:spPr>
          <a:xfrm>
            <a:off x="9043187" y="3877056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50" name="Text 37"/>
          <p:cNvSpPr/>
          <p:nvPr/>
        </p:nvSpPr>
        <p:spPr>
          <a:xfrm>
            <a:off x="9171203" y="3968496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桁架軸力</a:t>
            </a:r>
            <a:endParaRPr lang="en-US" sz="1100" dirty="0"/>
          </a:p>
        </p:txBody>
      </p:sp>
      <p:pic>
        <p:nvPicPr>
          <p:cNvPr id="51" name="Image 11" descr="formula_imgs/s3_4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89491" y="4282894"/>
            <a:ext cx="2352980" cy="550780"/>
          </a:xfrm>
          <a:prstGeom prst="rect">
            <a:avLst/>
          </a:prstGeom>
        </p:spPr>
      </p:pic>
      <p:sp>
        <p:nvSpPr>
          <p:cNvPr id="52" name="Shape 38"/>
          <p:cNvSpPr/>
          <p:nvPr/>
        </p:nvSpPr>
        <p:spPr>
          <a:xfrm>
            <a:off x="502920" y="5166360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53" name="Shape 39"/>
          <p:cNvSpPr/>
          <p:nvPr/>
        </p:nvSpPr>
        <p:spPr>
          <a:xfrm>
            <a:off x="502920" y="5166360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54" name="Text 40"/>
          <p:cNvSpPr/>
          <p:nvPr/>
        </p:nvSpPr>
        <p:spPr>
          <a:xfrm>
            <a:off x="630936" y="5257800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桁架元素分量</a:t>
            </a:r>
            <a:endParaRPr lang="en-US" sz="1100" dirty="0"/>
          </a:p>
        </p:txBody>
      </p:sp>
      <p:pic>
        <p:nvPicPr>
          <p:cNvPr id="55" name="Image 12" descr="formula_imgs/s4_1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9224" y="5639366"/>
            <a:ext cx="2352980" cy="416444"/>
          </a:xfrm>
          <a:prstGeom prst="rect">
            <a:avLst/>
          </a:prstGeom>
        </p:spPr>
      </p:pic>
      <p:sp>
        <p:nvSpPr>
          <p:cNvPr id="56" name="Shape 41"/>
          <p:cNvSpPr/>
          <p:nvPr/>
        </p:nvSpPr>
        <p:spPr>
          <a:xfrm>
            <a:off x="3349676" y="5166360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57" name="Shape 42"/>
          <p:cNvSpPr/>
          <p:nvPr/>
        </p:nvSpPr>
        <p:spPr>
          <a:xfrm>
            <a:off x="3349676" y="5166360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58" name="Text 43"/>
          <p:cNvSpPr/>
          <p:nvPr/>
        </p:nvSpPr>
        <p:spPr>
          <a:xfrm>
            <a:off x="3477692" y="5257800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座標轉換</a:t>
            </a:r>
            <a:endParaRPr lang="en-US" sz="1100" dirty="0"/>
          </a:p>
        </p:txBody>
      </p:sp>
      <p:pic>
        <p:nvPicPr>
          <p:cNvPr id="59" name="Image 13" descr="formula_imgs/s4_2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95980" y="5581827"/>
            <a:ext cx="2352980" cy="531521"/>
          </a:xfrm>
          <a:prstGeom prst="rect">
            <a:avLst/>
          </a:prstGeom>
        </p:spPr>
      </p:pic>
      <p:sp>
        <p:nvSpPr>
          <p:cNvPr id="60" name="Shape 44"/>
          <p:cNvSpPr/>
          <p:nvPr/>
        </p:nvSpPr>
        <p:spPr>
          <a:xfrm>
            <a:off x="6196432" y="5166360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61" name="Shape 45"/>
          <p:cNvSpPr/>
          <p:nvPr/>
        </p:nvSpPr>
        <p:spPr>
          <a:xfrm>
            <a:off x="6196432" y="5166360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62" name="Text 46"/>
          <p:cNvSpPr/>
          <p:nvPr/>
        </p:nvSpPr>
        <p:spPr>
          <a:xfrm>
            <a:off x="6324448" y="5257800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組裝</a:t>
            </a:r>
            <a:endParaRPr lang="en-US" sz="1100" dirty="0"/>
          </a:p>
        </p:txBody>
      </p:sp>
      <p:pic>
        <p:nvPicPr>
          <p:cNvPr id="63" name="Image 14" descr="formula_imgs/s4_3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27002" y="5550408"/>
            <a:ext cx="1584447" cy="594360"/>
          </a:xfrm>
          <a:prstGeom prst="rect">
            <a:avLst/>
          </a:prstGeom>
        </p:spPr>
      </p:pic>
      <p:sp>
        <p:nvSpPr>
          <p:cNvPr id="64" name="Shape 47"/>
          <p:cNvSpPr/>
          <p:nvPr/>
        </p:nvSpPr>
        <p:spPr>
          <a:xfrm>
            <a:off x="9043187" y="5166360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65" name="Shape 48"/>
          <p:cNvSpPr/>
          <p:nvPr/>
        </p:nvSpPr>
        <p:spPr>
          <a:xfrm>
            <a:off x="9043187" y="5166360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66" name="Text 49"/>
          <p:cNvSpPr/>
          <p:nvPr/>
        </p:nvSpPr>
        <p:spPr>
          <a:xfrm>
            <a:off x="9171203" y="5257800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邊界條件（劃除）</a:t>
            </a:r>
            <a:endParaRPr lang="en-US" sz="1100" dirty="0"/>
          </a:p>
        </p:txBody>
      </p:sp>
      <p:pic>
        <p:nvPicPr>
          <p:cNvPr id="67" name="Image 15" descr="formula_imgs/s4_4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89491" y="5603134"/>
            <a:ext cx="2352980" cy="488908"/>
          </a:xfrm>
          <a:prstGeom prst="rect">
            <a:avLst/>
          </a:prstGeom>
        </p:spPr>
      </p:pic>
      <p:sp>
        <p:nvSpPr>
          <p:cNvPr id="68" name="Shape 50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69" name="Text 51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SA-U2-4 靜不定結構之矩陣分析法｜觀念講義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全公式速查 (2／2)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兩階段疊加、固端力、靜態凝縮與檢查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6" name="Text 4"/>
          <p:cNvSpPr/>
          <p:nvPr/>
        </p:nvSpPr>
        <p:spPr>
          <a:xfrm>
            <a:off x="630936" y="1389888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階段 II 載重</a:t>
            </a:r>
            <a:endParaRPr lang="en-US" sz="1100" dirty="0"/>
          </a:p>
        </p:txBody>
      </p:sp>
      <p:pic>
        <p:nvPicPr>
          <p:cNvPr id="7" name="Image 0" descr="formula_imgs/s5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1776937"/>
            <a:ext cx="2352980" cy="40547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349676" y="1298448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349676" y="1298448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0" name="Text 7"/>
          <p:cNvSpPr/>
          <p:nvPr/>
        </p:nvSpPr>
        <p:spPr>
          <a:xfrm>
            <a:off x="3477692" y="1389888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回代內力</a:t>
            </a:r>
            <a:endParaRPr lang="en-US" sz="1100" dirty="0"/>
          </a:p>
        </p:txBody>
      </p:sp>
      <p:pic>
        <p:nvPicPr>
          <p:cNvPr id="11" name="Image 1" descr="formula_imgs/s5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980" y="1768372"/>
            <a:ext cx="2352980" cy="42260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196432" y="1298448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196432" y="1298448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4" name="Text 10"/>
          <p:cNvSpPr/>
          <p:nvPr/>
        </p:nvSpPr>
        <p:spPr>
          <a:xfrm>
            <a:off x="6324448" y="1389888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均佈固端彎矩</a:t>
            </a:r>
            <a:endParaRPr lang="en-US" sz="1100" dirty="0"/>
          </a:p>
        </p:txBody>
      </p:sp>
      <p:pic>
        <p:nvPicPr>
          <p:cNvPr id="15" name="Image 2" descr="formula_imgs/s5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6883" y="1682496"/>
            <a:ext cx="1824685" cy="59436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9043187" y="1298448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9043187" y="1298448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8" name="Text 13"/>
          <p:cNvSpPr/>
          <p:nvPr/>
        </p:nvSpPr>
        <p:spPr>
          <a:xfrm>
            <a:off x="9171203" y="1389888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中央集中固端彎矩</a:t>
            </a:r>
            <a:endParaRPr lang="en-US" sz="1100" dirty="0"/>
          </a:p>
        </p:txBody>
      </p:sp>
      <p:pic>
        <p:nvPicPr>
          <p:cNvPr id="19" name="Image 3" descr="formula_imgs/s5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0226" y="1682496"/>
            <a:ext cx="1791511" cy="59436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02920" y="2587752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502920" y="2587752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22" name="Text 16"/>
          <p:cNvSpPr/>
          <p:nvPr/>
        </p:nvSpPr>
        <p:spPr>
          <a:xfrm>
            <a:off x="630936" y="2679192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偏心集中（近端）</a:t>
            </a:r>
            <a:endParaRPr lang="en-US" sz="1100" dirty="0"/>
          </a:p>
        </p:txBody>
      </p:sp>
      <p:pic>
        <p:nvPicPr>
          <p:cNvPr id="23" name="Image 4" descr="formula_imgs/s6_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1753" y="2971800"/>
            <a:ext cx="1667923" cy="59436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3349676" y="2587752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3349676" y="2587752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26" name="Text 19"/>
          <p:cNvSpPr/>
          <p:nvPr/>
        </p:nvSpPr>
        <p:spPr>
          <a:xfrm>
            <a:off x="3477692" y="2679192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支承沉陷</a:t>
            </a:r>
            <a:endParaRPr lang="en-US" sz="1100" dirty="0"/>
          </a:p>
        </p:txBody>
      </p:sp>
      <p:pic>
        <p:nvPicPr>
          <p:cNvPr id="27" name="Image 5" descr="formula_imgs/s6_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4622" y="2971800"/>
            <a:ext cx="1835695" cy="594360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6196432" y="2587752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6196432" y="2587752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30" name="Text 22"/>
          <p:cNvSpPr/>
          <p:nvPr/>
        </p:nvSpPr>
        <p:spPr>
          <a:xfrm>
            <a:off x="6324448" y="2679192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均勻溫變</a:t>
            </a:r>
            <a:endParaRPr lang="en-US" sz="1100" dirty="0"/>
          </a:p>
        </p:txBody>
      </p:sp>
      <p:pic>
        <p:nvPicPr>
          <p:cNvPr id="31" name="Image 6" descr="formula_imgs/s6_3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2736" y="3060500"/>
            <a:ext cx="2352980" cy="416961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9043187" y="2587752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9043187" y="2587752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34" name="Text 25"/>
          <p:cNvSpPr/>
          <p:nvPr/>
        </p:nvSpPr>
        <p:spPr>
          <a:xfrm>
            <a:off x="9171203" y="2679192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製造誤差</a:t>
            </a:r>
            <a:endParaRPr lang="en-US" sz="1100" dirty="0"/>
          </a:p>
        </p:txBody>
      </p:sp>
      <p:pic>
        <p:nvPicPr>
          <p:cNvPr id="35" name="Image 7" descr="formula_imgs/s6_4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74441" y="2971800"/>
            <a:ext cx="1783080" cy="594360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502920" y="3877056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37" name="Shape 27"/>
          <p:cNvSpPr/>
          <p:nvPr/>
        </p:nvSpPr>
        <p:spPr>
          <a:xfrm>
            <a:off x="502920" y="3877056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38" name="Text 28"/>
          <p:cNvSpPr/>
          <p:nvPr/>
        </p:nvSpPr>
        <p:spPr>
          <a:xfrm>
            <a:off x="630936" y="3968496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Schur 補式</a:t>
            </a:r>
            <a:endParaRPr lang="en-US" sz="1100" dirty="0"/>
          </a:p>
        </p:txBody>
      </p:sp>
      <p:pic>
        <p:nvPicPr>
          <p:cNvPr id="39" name="Image 8" descr="formula_imgs/s7_1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224" y="4391064"/>
            <a:ext cx="2352980" cy="334440"/>
          </a:xfrm>
          <a:prstGeom prst="rect">
            <a:avLst/>
          </a:prstGeom>
        </p:spPr>
      </p:pic>
      <p:sp>
        <p:nvSpPr>
          <p:cNvPr id="40" name="Shape 29"/>
          <p:cNvSpPr/>
          <p:nvPr/>
        </p:nvSpPr>
        <p:spPr>
          <a:xfrm>
            <a:off x="3349676" y="3877056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41" name="Shape 30"/>
          <p:cNvSpPr/>
          <p:nvPr/>
        </p:nvSpPr>
        <p:spPr>
          <a:xfrm>
            <a:off x="3349676" y="3877056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42" name="Text 31"/>
          <p:cNvSpPr/>
          <p:nvPr/>
        </p:nvSpPr>
        <p:spPr>
          <a:xfrm>
            <a:off x="3477692" y="3968496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凝縮後載重</a:t>
            </a:r>
            <a:endParaRPr lang="en-US" sz="1100" dirty="0"/>
          </a:p>
        </p:txBody>
      </p:sp>
      <p:pic>
        <p:nvPicPr>
          <p:cNvPr id="43" name="Image 9" descr="formula_imgs/s7_2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95980" y="4366868"/>
            <a:ext cx="2352980" cy="382832"/>
          </a:xfrm>
          <a:prstGeom prst="rect">
            <a:avLst/>
          </a:prstGeom>
        </p:spPr>
      </p:pic>
      <p:sp>
        <p:nvSpPr>
          <p:cNvPr id="44" name="Shape 32"/>
          <p:cNvSpPr/>
          <p:nvPr/>
        </p:nvSpPr>
        <p:spPr>
          <a:xfrm>
            <a:off x="6196432" y="3877056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45" name="Shape 33"/>
          <p:cNvSpPr/>
          <p:nvPr/>
        </p:nvSpPr>
        <p:spPr>
          <a:xfrm>
            <a:off x="6196432" y="3877056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46" name="Text 34"/>
          <p:cNvSpPr/>
          <p:nvPr/>
        </p:nvSpPr>
        <p:spPr>
          <a:xfrm>
            <a:off x="6324448" y="3968496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遠端鉸接（抗轉）</a:t>
            </a:r>
            <a:endParaRPr lang="en-US" sz="1100" dirty="0"/>
          </a:p>
        </p:txBody>
      </p:sp>
      <p:pic>
        <p:nvPicPr>
          <p:cNvPr id="47" name="Image 10" descr="formula_imgs/s7_3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71006" y="4261104"/>
            <a:ext cx="1496438" cy="594360"/>
          </a:xfrm>
          <a:prstGeom prst="rect">
            <a:avLst/>
          </a:prstGeom>
        </p:spPr>
      </p:pic>
      <p:sp>
        <p:nvSpPr>
          <p:cNvPr id="48" name="Shape 35"/>
          <p:cNvSpPr/>
          <p:nvPr/>
        </p:nvSpPr>
        <p:spPr>
          <a:xfrm>
            <a:off x="9043187" y="3877056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49" name="Shape 36"/>
          <p:cNvSpPr/>
          <p:nvPr/>
        </p:nvSpPr>
        <p:spPr>
          <a:xfrm>
            <a:off x="9043187" y="3877056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50" name="Text 37"/>
          <p:cNvSpPr/>
          <p:nvPr/>
        </p:nvSpPr>
        <p:spPr>
          <a:xfrm>
            <a:off x="9171203" y="3968496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遠端鉸接（抗平移）</a:t>
            </a:r>
            <a:endParaRPr lang="en-US" sz="1100" dirty="0"/>
          </a:p>
        </p:txBody>
      </p:sp>
      <p:pic>
        <p:nvPicPr>
          <p:cNvPr id="51" name="Image 11" descr="formula_imgs/s7_4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10239" y="4261104"/>
            <a:ext cx="1511485" cy="594360"/>
          </a:xfrm>
          <a:prstGeom prst="rect">
            <a:avLst/>
          </a:prstGeom>
        </p:spPr>
      </p:pic>
      <p:sp>
        <p:nvSpPr>
          <p:cNvPr id="52" name="Shape 38"/>
          <p:cNvSpPr/>
          <p:nvPr/>
        </p:nvSpPr>
        <p:spPr>
          <a:xfrm>
            <a:off x="502920" y="5166360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53" name="Shape 39"/>
          <p:cNvSpPr/>
          <p:nvPr/>
        </p:nvSpPr>
        <p:spPr>
          <a:xfrm>
            <a:off x="502920" y="5166360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54" name="Text 40"/>
          <p:cNvSpPr/>
          <p:nvPr/>
        </p:nvSpPr>
        <p:spPr>
          <a:xfrm>
            <a:off x="630936" y="5257800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修正固端彎矩</a:t>
            </a:r>
            <a:endParaRPr lang="en-US" sz="1100" dirty="0"/>
          </a:p>
        </p:txBody>
      </p:sp>
      <p:pic>
        <p:nvPicPr>
          <p:cNvPr id="55" name="Image 12" descr="formula_imgs/s8_1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9224" y="5597023"/>
            <a:ext cx="2352980" cy="501131"/>
          </a:xfrm>
          <a:prstGeom prst="rect">
            <a:avLst/>
          </a:prstGeom>
        </p:spPr>
      </p:pic>
      <p:sp>
        <p:nvSpPr>
          <p:cNvPr id="56" name="Shape 41"/>
          <p:cNvSpPr/>
          <p:nvPr/>
        </p:nvSpPr>
        <p:spPr>
          <a:xfrm>
            <a:off x="3349676" y="5166360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57" name="Shape 42"/>
          <p:cNvSpPr/>
          <p:nvPr/>
        </p:nvSpPr>
        <p:spPr>
          <a:xfrm>
            <a:off x="3349676" y="5166360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58" name="Text 43"/>
          <p:cNvSpPr/>
          <p:nvPr/>
        </p:nvSpPr>
        <p:spPr>
          <a:xfrm>
            <a:off x="3477692" y="5257800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支承反力</a:t>
            </a:r>
            <a:endParaRPr lang="en-US" sz="1100" dirty="0"/>
          </a:p>
        </p:txBody>
      </p:sp>
      <p:pic>
        <p:nvPicPr>
          <p:cNvPr id="59" name="Image 13" descr="formula_imgs/s8_2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95980" y="5675611"/>
            <a:ext cx="2352980" cy="343953"/>
          </a:xfrm>
          <a:prstGeom prst="rect">
            <a:avLst/>
          </a:prstGeom>
        </p:spPr>
      </p:pic>
      <p:sp>
        <p:nvSpPr>
          <p:cNvPr id="60" name="Shape 44"/>
          <p:cNvSpPr/>
          <p:nvPr/>
        </p:nvSpPr>
        <p:spPr>
          <a:xfrm>
            <a:off x="6196432" y="5166360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61" name="Shape 45"/>
          <p:cNvSpPr/>
          <p:nvPr/>
        </p:nvSpPr>
        <p:spPr>
          <a:xfrm>
            <a:off x="6196432" y="5166360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62" name="Text 46"/>
          <p:cNvSpPr/>
          <p:nvPr/>
        </p:nvSpPr>
        <p:spPr>
          <a:xfrm>
            <a:off x="6324448" y="5257800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剛體檢查</a:t>
            </a:r>
            <a:endParaRPr lang="en-US" sz="1100" dirty="0"/>
          </a:p>
        </p:txBody>
      </p:sp>
      <p:pic>
        <p:nvPicPr>
          <p:cNvPr id="63" name="Image 14" descr="formula_imgs/s8_3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42736" y="5599628"/>
            <a:ext cx="2352980" cy="495920"/>
          </a:xfrm>
          <a:prstGeom prst="rect">
            <a:avLst/>
          </a:prstGeom>
        </p:spPr>
      </p:pic>
      <p:sp>
        <p:nvSpPr>
          <p:cNvPr id="64" name="Shape 47"/>
          <p:cNvSpPr/>
          <p:nvPr/>
        </p:nvSpPr>
        <p:spPr>
          <a:xfrm>
            <a:off x="9043187" y="5166360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65" name="Shape 48"/>
          <p:cNvSpPr/>
          <p:nvPr/>
        </p:nvSpPr>
        <p:spPr>
          <a:xfrm>
            <a:off x="9043187" y="5166360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66" name="Text 49"/>
          <p:cNvSpPr/>
          <p:nvPr/>
        </p:nvSpPr>
        <p:spPr>
          <a:xfrm>
            <a:off x="9171203" y="5257800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梁慣例轉換</a:t>
            </a:r>
            <a:endParaRPr lang="en-US" sz="1100" dirty="0"/>
          </a:p>
        </p:txBody>
      </p:sp>
      <p:pic>
        <p:nvPicPr>
          <p:cNvPr id="67" name="Image 15" descr="formula_imgs/s8_4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89491" y="5621695"/>
            <a:ext cx="2352980" cy="451787"/>
          </a:xfrm>
          <a:prstGeom prst="rect">
            <a:avLst/>
          </a:prstGeom>
        </p:spPr>
      </p:pic>
      <p:sp>
        <p:nvSpPr>
          <p:cNvPr id="68" name="Shape 50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69" name="Text 51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SA-U2-4 靜不定結構之矩陣分析法｜觀念講義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高頻陷阱（一）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自由度、編號與元素矩陣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5464912" cy="2395728"/>
          </a:xfrm>
          <a:prstGeom prst="roundRect">
            <a:avLst>
              <a:gd name="adj" fmla="val 2290"/>
            </a:avLst>
          </a:prstGeom>
          <a:solidFill>
            <a:srgbClr val="FBE1DE"/>
          </a:solidFill>
          <a:ln w="12700">
            <a:solidFill>
              <a:srgbClr val="EFC4B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0292" cy="2395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" y="14081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✕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78408" y="1389888"/>
            <a:ext cx="480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自由度數錯：忘了「不計軸向變形」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0664" y="1737360"/>
            <a:ext cx="49894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題目一旦註明忽略軸向變形，同一層的梁兩端水平位移就必須合併成一個 Δ。沒合併會多算自由度，矩陣變大且奇異；合併過頭（連垂直位移也歸零）則會算出錯誤的勁度。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23864" y="1298448"/>
            <a:ext cx="5464912" cy="2395728"/>
          </a:xfrm>
          <a:prstGeom prst="roundRect">
            <a:avLst>
              <a:gd name="adj" fmla="val 2290"/>
            </a:avLst>
          </a:prstGeom>
          <a:solidFill>
            <a:srgbClr val="FBE1DE"/>
          </a:solidFill>
          <a:ln w="12700">
            <a:solidFill>
              <a:srgbClr val="EFC4B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23864" y="1298448"/>
            <a:ext cx="50292" cy="2395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6388456" y="14081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✕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99352" y="1389888"/>
            <a:ext cx="480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元素矩陣沒標自由度編號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61608" y="1737360"/>
            <a:ext cx="49894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這是組裝階段最大的錯誤來源。小矩陣的列與行一定要在旁邊寫上整體編號再開始加，尤其是桁架斜桿與方向相反的桿件（i、j 順序顛倒會讓 c、s 一起變號）。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877056"/>
            <a:ext cx="5464912" cy="2395728"/>
          </a:xfrm>
          <a:prstGeom prst="roundRect">
            <a:avLst>
              <a:gd name="adj" fmla="val 2290"/>
            </a:avLst>
          </a:prstGeom>
          <a:solidFill>
            <a:srgbClr val="FBE1DE"/>
          </a:solidFill>
          <a:ln w="12700">
            <a:solidFill>
              <a:srgbClr val="EFC4B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877056"/>
            <a:ext cx="50292" cy="2395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" y="3986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✕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78408" y="3968496"/>
            <a:ext cx="480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斜桿的 L 用了水平投影長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0664" y="4315968"/>
            <a:ext cx="49894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 = Δx/L、s = Δy/L 裡的 L 是斜長 √(Δx² + Δy²)。三邊 3-4-5 的桿件 L 是 5 不是 4 —— 用錯會讓整根桿的勁度差 25% 以上。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23864" y="3877056"/>
            <a:ext cx="5464912" cy="2395728"/>
          </a:xfrm>
          <a:prstGeom prst="roundRect">
            <a:avLst>
              <a:gd name="adj" fmla="val 2290"/>
            </a:avLst>
          </a:prstGeom>
          <a:solidFill>
            <a:srgbClr val="FBE1DE"/>
          </a:solidFill>
          <a:ln w="12700">
            <a:solidFill>
              <a:srgbClr val="EFC4B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23864" y="3877056"/>
            <a:ext cx="50292" cy="2395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6388456" y="3986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✕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99352" y="3968496"/>
            <a:ext cx="480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轉角也拿去做座標轉換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61608" y="4315968"/>
            <a:ext cx="49894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平面問題裡轉角是純量，[R] 的第三列第三行就是 1。把轉角也乘上 c、s 是常見的機械性錯誤，會讓 [k] 失去對稱性 —— 這也正好是檢查點。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SA-U2-4 靜不定結構之矩陣分析法｜觀念講義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高頻陷阱（二）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載重向量、凝縮與回代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5464912" cy="2395728"/>
          </a:xfrm>
          <a:prstGeom prst="roundRect">
            <a:avLst>
              <a:gd name="adj" fmla="val 2290"/>
            </a:avLst>
          </a:prstGeom>
          <a:solidFill>
            <a:srgbClr val="FBE1DE"/>
          </a:solidFill>
          <a:ln w="12700">
            <a:solidFill>
              <a:srgbClr val="EFC4B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0292" cy="2395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" y="14081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✕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78408" y="1389888"/>
            <a:ext cx="480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{P} 忘了扣固端力，或扣錯符號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0664" y="1737360"/>
            <a:ext cx="49894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{P} = {P_外力} − {f_F}。固端力是「要維持鎖死」所需的力，搬到右手邊時必須反號。只要這一步符號寫反，位移與所有內力就整組跟著錯，而且各項檢查未必抓得到。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23864" y="1298448"/>
            <a:ext cx="5464912" cy="2395728"/>
          </a:xfrm>
          <a:prstGeom prst="roundRect">
            <a:avLst>
              <a:gd name="adj" fmla="val 2290"/>
            </a:avLst>
          </a:prstGeom>
          <a:solidFill>
            <a:srgbClr val="FBE1DE"/>
          </a:solidFill>
          <a:ln w="12700">
            <a:solidFill>
              <a:srgbClr val="EFC4B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23864" y="1298448"/>
            <a:ext cx="50292" cy="2395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6388456" y="14081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✕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99352" y="1389888"/>
            <a:ext cx="480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回代內力時漏掉 {f_F}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61608" y="1737360"/>
            <a:ext cx="49894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{f} = [k]{d} + {f_F}。解出來的位移只是階段 II 的答案，跨內有載重的桿件必須把階段 I 的固端力加回去。漏掉時節點平衡通常仍成立，但桿端彎矩與跨中彎矩全錯，非常難察覺。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877056"/>
            <a:ext cx="5464912" cy="2395728"/>
          </a:xfrm>
          <a:prstGeom prst="roundRect">
            <a:avLst>
              <a:gd name="adj" fmla="val 2290"/>
            </a:avLst>
          </a:prstGeom>
          <a:solidFill>
            <a:srgbClr val="FBE1DE"/>
          </a:solidFill>
          <a:ln w="12700">
            <a:solidFill>
              <a:srgbClr val="EFC4B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877056"/>
            <a:ext cx="50292" cy="2395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" y="3986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✕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78408" y="3968496"/>
            <a:ext cx="480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凝縮完忘了回代被消掉的自由度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0664" y="4315968"/>
            <a:ext cx="49894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靜態凝縮只是先解 b 群再回代。只算出 D_a 就交卷，被凝縮掉那些節點的轉角與相關桿件的內力就全漏了。凝縮前先在草稿上寫一行「解完要回代 D_b」。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23864" y="3877056"/>
            <a:ext cx="5464912" cy="2395728"/>
          </a:xfrm>
          <a:prstGeom prst="roundRect">
            <a:avLst>
              <a:gd name="adj" fmla="val 2290"/>
            </a:avLst>
          </a:prstGeom>
          <a:solidFill>
            <a:srgbClr val="FBE1DE"/>
          </a:solidFill>
          <a:ln w="12700">
            <a:solidFill>
              <a:srgbClr val="EFC4B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23864" y="3877056"/>
            <a:ext cx="50292" cy="2395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6388456" y="3986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✕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99352" y="3968496"/>
            <a:ext cx="480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兩種符號慣例混用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61608" y="4315968"/>
            <a:ext cx="49894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矩陣分析法習慣逆時針為正，傾角變位法習慣順時針為正，兩者互為反號（M_cw = −M_ccw）。同一題裡混用會讓節點平衡莫名其妙不成立。答案紙上務必寫明本題採用哪一種慣例。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SA-U2-4 靜不定結構之矩陣分析法｜觀念講義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0233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WRAP UP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94944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五句話帶走這個單元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11185855" cy="833933"/>
          </a:xfrm>
          <a:prstGeom prst="roundRect">
            <a:avLst>
              <a:gd name="adj" fmla="val 657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" y="1715414"/>
            <a:ext cx="365760" cy="36576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7" name="Text 5"/>
          <p:cNvSpPr/>
          <p:nvPr/>
        </p:nvSpPr>
        <p:spPr>
          <a:xfrm>
            <a:off x="722376" y="171541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536192"/>
            <a:ext cx="10216591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勁度矩陣的第 j 直行，就是一場「單位位移實驗」的紀錄：把所有自由度鎖死，只讓第 j 個動 1 單位，量各自由度上要施加多少力。整個方法就是把這場實驗重複 n 次、排成一張表。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461565"/>
            <a:ext cx="11185855" cy="833933"/>
          </a:xfrm>
          <a:prstGeom prst="roundRect">
            <a:avLst>
              <a:gd name="adj" fmla="val 657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2376" y="2695651"/>
            <a:ext cx="365760" cy="36576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1" name="Text 9"/>
          <p:cNvSpPr/>
          <p:nvPr/>
        </p:nvSpPr>
        <p:spPr>
          <a:xfrm>
            <a:off x="722376" y="2695651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516429"/>
            <a:ext cx="10216591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位移在節點上唯一且連續，力在同一個節點上卻是各桿各一份 —— 所以拿位移當未知數，未知量最少、關係最乾淨，而且不需要任何人為判斷，可以完全機械化。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441802"/>
            <a:ext cx="11185855" cy="833933"/>
          </a:xfrm>
          <a:prstGeom prst="roundRect">
            <a:avLst>
              <a:gd name="adj" fmla="val 657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2376" y="3675888"/>
            <a:ext cx="365760" cy="36576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5" name="Text 13"/>
          <p:cNvSpPr/>
          <p:nvPr/>
        </p:nvSpPr>
        <p:spPr>
          <a:xfrm>
            <a:off x="722376" y="3675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3496666"/>
            <a:ext cx="10216591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梁元素的四個核心數字（12EI/L³、6EI/L²、4EI/L、2EI/L）與桁架元素的 c²、cs、s²，都不必背：前者是四場單位位移實驗的結果，後者是「投影兩次」留下的痕跡。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4422038"/>
            <a:ext cx="11185855" cy="833933"/>
          </a:xfrm>
          <a:prstGeom prst="roundRect">
            <a:avLst>
              <a:gd name="adj" fmla="val 657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4656125"/>
            <a:ext cx="365760" cy="36576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9" name="Text 17"/>
          <p:cNvSpPr/>
          <p:nvPr/>
        </p:nvSpPr>
        <p:spPr>
          <a:xfrm>
            <a:off x="722376" y="4656125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34440" y="4476902"/>
            <a:ext cx="10216591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矩陣只認節點力。跨間載重、支承沉陷、溫度變化、製造誤差一律「先鎖住、再放開」：{P} = {P_外力} − {f_F}；回代時 {f} = [k]{d} + {f_F}，絕不能漏掉 {f_F}。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" y="5402275"/>
            <a:ext cx="11185855" cy="833933"/>
          </a:xfrm>
          <a:prstGeom prst="roundRect">
            <a:avLst>
              <a:gd name="adj" fmla="val 657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2376" y="5636362"/>
            <a:ext cx="365760" cy="36576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3" name="Text 21"/>
          <p:cNvSpPr/>
          <p:nvPr/>
        </p:nvSpPr>
        <p:spPr>
          <a:xfrm>
            <a:off x="722376" y="563636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5457139"/>
            <a:ext cx="10216591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沒有外力的自由度會自己讓步，所以凝縮後的勁度一定變小：K* = K_aa − K_ab K_bb⁻¹K_ba。遠端鉸接時 4EI/L 降為 3EI/L、12EI/L³ 降為 3EI/L³ —— 這不是近似，是同一個答案的另一種寫法。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SA-U2-4 靜不定結構之矩陣分析法｜觀念講義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GIBSIN｜YJC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GIBSIN｜YJC</dc:creator>
  <cp:lastModifiedBy>GIBSIN｜YJC</cp:lastModifiedBy>
  <cp:revision>1</cp:revision>
  <dcterms:created xsi:type="dcterms:W3CDTF">2026-09-17T04:07:20Z</dcterms:created>
  <dcterms:modified xsi:type="dcterms:W3CDTF">2026-09-17T04:07:20Z</dcterms:modified>
</cp:coreProperties>
</file>