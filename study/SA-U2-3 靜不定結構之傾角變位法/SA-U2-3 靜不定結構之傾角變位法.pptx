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95728"/>
            <a:ext cx="118872" cy="1828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　結構學｜靜不定結構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2505456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靜不定結構之傾角變位法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584448"/>
            <a:ext cx="3840480" cy="0"/>
          </a:xfrm>
          <a:prstGeom prst="line">
            <a:avLst/>
          </a:prstGeom>
          <a:noFill/>
          <a:ln w="19050">
            <a:solidFill>
              <a:srgbClr val="93A9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3075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位移法的第一課：只要看懂變形幾何，就不需要死記公式。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本講義從「彎矩只認相對於弦的轉角」出發，走完四步驟解題流程，涵蓋無側移、有側移、斜桿與對稱降維四種題型。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46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觀念講義｜29 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這個單元要建立的四件事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71016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公式的物理來源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傾角變位公式不是背來的：把 −3ψ 拆成 −2ψ − ψ，就看見「近端與遠端各自扣掉弦轉角」。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再用「先鎖住、再放鬆」的三個單位狀態（4EI/L、2EI/L、−6EIψ/L）疊出完整式。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9040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01104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自由度與邊界條件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5616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未知量 = 自由節點轉角 θ + 獨立側移 Δ；固定端、鉸支承、剛性構件、不計軸向變形各自怎麼翻譯。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端點鉸支承直接改用遠端鉸接修正式 3EI/L，把那個 θ 消掉。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71016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弦轉角與側移方程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 = 垂直於桿軸的相對位移 ÷ 桿長；平行桿軸的位移不算。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每個獨立側移補一條方程：柱剪力平衡最直觀，虛功法在斜桿與柱上有載重時才不會漏項。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3008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3008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89040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5" name="Text 23"/>
          <p:cNvSpPr/>
          <p:nvPr/>
        </p:nvSpPr>
        <p:spPr>
          <a:xfrm>
            <a:off x="64890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01104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對稱降維與自我檢查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25616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對稱載重 → θ 反號、Δ = 0、跨越對稱軸之梁 2EI/L；反對稱 → θ 同號、Δ ≠ 0、6EI/L。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解完一定要做剛體旋轉檢查、節點 ΣM = 0 與 BMD 受拉側檢查。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彎矩只認「相對於弦」的轉角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_chord_ro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▍桿件不在乎節點轉了多少，只在乎節點相對於弦轉了多少。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▍把標準式改寫成 (2EI/L)[2(θA − ψ) + (θB − ψ)]，−3ψ 的來源立刻一目了然：它就是 −2ψ − ψ。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▍弦轉角 ψ 只是把桿件整根抬走或放下，屬於剛體運動，本身不產生曲率。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▍剛體檢查法：θA = θB = ψ 時算出的 M 必定恰好為零。這是考場上最快的驗算手段。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▍反過來說，只要 (θ − ψ) ≠ 0，桿件就一定彎曲、一定有彎矩，與外力有沒有作用在跨內無關。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核心公式：標準式與等價改寫式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標準傾角變位式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4294" y="1417320"/>
            <a:ext cx="5777706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等價改寫（物理版）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244" y="2459736"/>
            <a:ext cx="6939808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弦轉角與正負號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849" y="3502152"/>
            <a:ext cx="5614597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剛體旋轉檢查</a:t>
            </a:r>
            <a:endParaRPr lang="en-US" sz="1300" dirty="0"/>
          </a:p>
        </p:txBody>
      </p:sp>
      <p:pic>
        <p:nvPicPr>
          <p:cNvPr id="19" name="Image 3" descr="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042" y="4544568"/>
            <a:ext cx="6888211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θ、ψ、M 三個量一律「順時針為正」，兩端的正向都畫成順時針 —— 不是互為反向。在這個約定下，「兩端彎矩同號」代表物理上的雙曲率，中間必有反曲點。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IT COMES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位移法的骨架：先鎖住，再放鬆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2／11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2_lock_rele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▍① 鎖住：先把所有節點當固定端，算出跨內載重造成的固端彎矩 M F。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▍② 放鬆：把節點與弦放開，疊加三個單位狀態的修正 —— 這就是公式的三個係數。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▍近端轉 θA = 1 → 近端 4EI/L，遠端傳遞一半得 2EI/L（傳遞係數恰為 ½）。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▍遠端轉 θB = 1 → 近端只拿到 2EI/L。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▍弦轉 ψ = 1 → 桿件呈雙曲率（S 形），兩端同為 −6EIψ/L。同號正是雙曲率的標誌。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▍位移法的順序永遠是「先鎖住 → 算 FEM → 再放鬆 → 用平衡方程解未知位移」；力法才是先切開再合攏。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三個單位狀態的勁度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近端轉一個單位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9869" y="1417320"/>
            <a:ext cx="5826557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傳遞係數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383" y="2459736"/>
            <a:ext cx="4251530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弦轉一個單位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516" y="3502152"/>
            <a:ext cx="5241263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疊加得完整式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608" y="4544568"/>
            <a:ext cx="6105079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4EI/L 是「近端勁度」、2EI/L 是「傳遞勁度」、6EI/L 是「側移勁度」。這三個數字在彎矩分配法、勁度矩陣法裡是同一批常數，記熟一次可以用在整個位移法家族。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SIGN CONVENTION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正負號約定與彎矩圖的轉換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3／11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3_sign_conv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▍桿端彎矩 M、節點轉角 θ、弦轉角 ψ 一律順時針為正，全講義不混用。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▍要畫 BMD 前必須換算：M sag（近端 A）= + M_AB，M sag（遠端 B）= − M_BA。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▍換算後把正彎矩畫在下方、負彎矩畫在上方，就是「畫在受拉側」。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▍例題① 的結果：M_AB = -75.84、M_BA = 64.32 kN·m，C 端為滾支承所以 M_CB = 0。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▍AB 跨最大正彎矩 +38.00 kN·m 落在 x = 3.08 m，不在跨中。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▍畫完剛架 BMD 一定要檢查角隅兩側的圖形接不接得上 —— 這比檢查數字更快抓到錯。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盤點自由度，把邊界條件翻譯成 θ 與 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4／11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4_dof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▍未知量數目 = 自由節點轉角數 θ ＋ 獨立側移數 Δ。這一步算錯，後面全錯。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▍固定端：θ = 0、Δ = 0，直接代 0，不必為它列平衡方程。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▍端點鉸／滾支承：θ ≠ 0 而 M = 0。建議直接改用遠端鉸接修正式，消掉這個 θ。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▍內部鉸接：兩側轉角各自獨立，節點平衡要分成兩條，不可合併。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▍剛性構件 EI = ∞：剛梁上各節點 θ = 0，整層往往只剩一個側移未知量。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▍不計軸向變形：桿長不變，節點位移互相綁定 —— 這是減少獨立 Δ 數最有效的條件。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遠端鉸接修正式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修正式本體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9401" y="1417320"/>
            <a:ext cx="6847494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修正固端彎矩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729" y="2459736"/>
            <a:ext cx="3678838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兩個常用結果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701" y="3502152"/>
            <a:ext cx="5718893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勁度變化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877" y="4544568"/>
            <a:ext cx="4736540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這不是另一條公式，而是把 M_BA = 0 代回完整式、消去 θB 的結果。使用時機只有一個：該端是「端點」鉸支承或滾支承（不能傳彎矩，且該端沒有別的桿件接上去）。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DERIVATION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3EI/L 是怎麼來的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5／11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5_far_end_hi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▍三步驟：寫下遠端完整式 → 令 M_BA = 0 解出 θB → 代回近端式。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▍近端勁度從 4EI/L 掉到 3EI/L，恰好少 25%；因為遠端可以自由轉，桿件不再有反曲點。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▍固端彎矩也要一起改：M̄ F_AB = M F_AB − ½ M F_BA。例題① 的 BC 跨從 -40 變成 -60 kN·m。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▍滿跨均佈由 −wL²/12 變成 −wL²/8；中央集中由 −PL/8 變成 −3PL/16 —— 都是放大 1.5 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▍套用後例題① 的未知量只剩 EIθB 一個，解得 EIθB = -11.52 kN·m²。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▍若該端還連著別的桿件（是內部節點而非端點），就不能用修正式，必須乖乖列節點平衡。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兩跨連續梁：遠端鉸接修正式把兩個未知量變成一個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個未知量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固定 — B 支承 — C 滾支承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6 m，w = 24 kN/m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BC 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8 m，中央 P = 40 kN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全跨相同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盤點自由度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固定端 → θA = 0；連續梁無側移 → Δ = 0。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是剛節點 → θB 未知；C 是端點滾支承 → θC ≠ 0 但 M_CB = 0。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端改用遠端鉸接修正式，θC 直接消掉 → 全題只剩 EIθB。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算固端彎矩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滿跨均佈：M F_AB = -72、M F_BA = +72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BC 中央集中：M F_BC = -40、M F_CB = +40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BC 修正：M̄ F_BC = -40 − ½(40) = -60 kN·m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列節點 B 平衡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M_BA = (2EI/6)(2θB) + 72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(3EI/8)(θB) − 60　（修正式）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M_BA + M_BC = 0 → EIθB = -11.52 kN·m²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回代與檢查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-75.84　M_BA = 64.32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-64.32　M_CB = 0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 R_A = 73.92、R_B = 98.12、R_C = 11.96 kN，合計 184 kN = 總載重 ✓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-75.84、M_BA = −M_BC = 64.32 kN·m；AB 跨最大正彎矩 +38.00 kN·m（x = 3.08 m），BC 跨中 +47.84 kN·m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必背固端彎矩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滿跨均佈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8795" y="1417320"/>
            <a:ext cx="6008705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中央集中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764" y="2459736"/>
            <a:ext cx="6144768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偏心集中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812" y="3502152"/>
            <a:ext cx="5830672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遠端下沉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461" y="4544568"/>
            <a:ext cx="5953374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順時針約定下，向下載重讓近端為負、遠端為正；支承沉陷則兩端同號（因為是雙曲率）。作用在剛節點上的集中力 FEM = 0，不進節點彎矩平衡，只進側移方程 —— 這是最常見的漏項。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LOOKUP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固端彎矩速查（含遠端鉸接的修正值）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6／11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7_fem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▍考卷通常不附 FEM 表，均佈 −wL²/12 與中央集中 −PL/8 一定要能直接寫出來。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▍偏心集中 −Pab²/L²：a 由近端量起，注意分子是「另一邊」的距離平方。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▍三角形載重要分清楚尖端在哪邊：w 在遠端是 −wL²/30，w 在近端是 −wL²/20。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▍支承沉陷的 M F 兩端同號 −6EIΔ/L²，這與 ψ 項 −6EIψ/L 是同一件事的兩種寫法。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▍遠端鉸接時一律套通式 M̄ F_AB = M F_AB − ½ M F_BA，不必另外背一張表。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▍記憶訣竅：遠端鉸接的近端 FEM 一律是固接值的 1.5 倍（因為遠端的一半被「還」回來了）。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弦轉角 ψ 怎麼判讀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7／11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6_chord_rotation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▍ψ = 垂直於桿軸的相對位移 ÷ 桿長。只有這個定義，沒有例外。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▍兩端同量平移（純平移）→ 弦仍與原桿軸平行 → ψ = 0。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▍位移方向平行於桿軸（柱的垂直位移、梁的水平位移）→ ψ = 0。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▍最常見的情形是柱頂側移 Δ：ψ = Δ/h，頂端右移為順時針正。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▍斜桿要先把位移分解，只取垂直於桿軸的分量，而且桿長要用斜長 √(a² + b²)，不可用水平投影長。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▍口訣：先看兩端位移差 → 投影到「垂直於桿軸」的方向 → 除以真正的桿長。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對稱降維與方程式數量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對稱載重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060" y="1417320"/>
            <a:ext cx="6038175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反對稱載重</a:t>
            </a:r>
            <a:endParaRPr lang="en-US" sz="1300" dirty="0"/>
          </a:p>
        </p:txBody>
      </p:sp>
      <p:pic>
        <p:nvPicPr>
          <p:cNvPr id="11" name="Image 1" descr="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961" y="2459736"/>
            <a:ext cx="6630373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 θ 一條</a:t>
            </a:r>
            <a:endParaRPr lang="en-US" sz="1300" dirty="0"/>
          </a:p>
        </p:txBody>
      </p:sp>
      <p:pic>
        <p:nvPicPr>
          <p:cNvPr id="15" name="Image 2" descr="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068" y="3502152"/>
            <a:ext cx="3698160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 Δ 一條</a:t>
            </a:r>
            <a:endParaRPr lang="en-US" sz="1300" dirty="0"/>
          </a:p>
        </p:txBody>
      </p:sp>
      <p:pic>
        <p:nvPicPr>
          <p:cNvPr id="19" name="Image 3" descr="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258" y="4544568"/>
            <a:ext cx="6559779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方程式數量必須與未知量一一對應：每一個自由轉角 θ 對一條節點彎矩平衡，每一個獨立側移 Δ 對一條側移方程。少列一條就解不出來，多列一條代表你把同一個條件寫了兩次。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SYMMETRY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對稱降維：把未知量從 3 個砍到 1 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8／11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0_sym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▍對稱載重：θC = −θB、側移 Δ = 0，跨越對稱軸之梁有效勁度折半為 2EI/L。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▍反對稱載重：θC = +θB、側移 Δ ≠ 0，跨越對稱軸之梁有效勁度增為 6EI/L。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▍這兩個係數不是新公式：把 θC = ∓θB 代進 (2EI/L)(2θB + θC) 就直接掉出來。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▍任意載重作用在對稱結構上，都可以拆成「對稱部分 + 反對稱部分」分別求解再疊加。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▍例題⑤ 就是這樣做的：3 個未知量的問題被拆成兩個各只有 1 個未知量的問題。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▍對稱軸上的斷面：對稱載重時不能轉也不能水平移動；反對稱載重時彎矩與軸力為零。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無側移對稱剛架：對稱降維後只剩一個未知量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個未知量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A、D 固定端的單跨門型剛架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柱高 4 m，梁跨 6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梁滿佈 w = 30 kN/m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梁柱相同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判斷有無側移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結構對稱、載重也對稱 → 不會產生側移。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= 0，不必列側移方程。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未知量原為 θB、θC 兩個。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用對稱降維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 → θC = −θB，未知量剩 EIθB 一個。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跨越對稱軸之梁有效勁度折半：M_BC = (2EI/L)θB + M F_BC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F_BC = −wL²/12 = -90 kN·m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列節點 B 平衡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M_BA = (2EI/4)(2θB) = EIθB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(2EI/6)θB − 90 = 0.3333 EIθB − 90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M_BA + M_BC = 0 → EIθB = 67.5 kN·m²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回代與檢查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33.75、M_DC = -33.75 kN·m（對稱反號）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-67.5 kN·m → 節點 B：67.5 + (-67.5) = 0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梁跨中淨彎矩 = wL²/8 − 67.5 = 67.5 kN·m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33.75、M_BA = −M_BC = 67.5 kN·m，梁跨中 +67.5 kN·m；柱剪力 25.313 kN，柱反曲點距柱底 1.333 m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側移方程的兩條路線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9／11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8_sidesway_eq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▍每一個獨立側移 Δ 都要補一條方程，否則未知量比方程式多，永遠解不出來。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▍路線 A 層剪力平衡：把柱切開，ΣH柱 = ΣP；每柱剪力 H = −(M頂 + M底)/h。直觀，適合規則剛架。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▍路線 B 虛功法：給一個單位虛側移，Σ(M_ij + M_ji)ψ̂_ij + ΣP·δ = 0。斜桿或柱上有跨內載重時只有這條不會漏項。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▍例題③ 的驗算：每柱剪力 30 kN × 2 = 60 kN = P ✓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▍柱上若有跨內水平載重，剪力法必須額外加上該段載重的合力，很容易忘 —— 這就是虛功法容錯率高的原因。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▍作用在剛節點上的集中力 FEM = 0，它不進節點彎矩平衡，但一定要進側移方程。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有側移剛架：反對稱降維 + 側移方程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 個未知量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同例題② 的門型剛架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柱高 4 m，梁跨 6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點水平 P = 60 kN（→）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 與 EIψ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判斷側移與對稱性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結構對稱、載重反對稱 → 必有側移。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θC = +θB = θ；兩柱的 ψ = Δ/h 相同且同為順時針。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 BC 兩端水平位移相同、無垂直相對位移 → ψ_BC = 0。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寫桿端彎矩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(2EI/4)(θ − 3ψ)　M_BA = (2EI/4)(2θ − 3ψ)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反對稱 → 梁有效勁度 6EI/L：M_BC = (6EI/6)θ = EIθ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載重作用在節點上 → 所有 FEM = 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兩條方程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B：M_BA + M_BC = 0 → θ = 0.75 ψ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側移方程：Σ(M頂 + M底)/h + P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解得 EIθ = 48、EIψ = 64、EIΔ = 256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回代與檢查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M_DC = -72、M_BA = M_CD = -48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M_CB = 48 kN·m → 節點平衡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柱兩端彎矩同號 → 雙曲率，反曲點距柱底 2.4 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-72、M_BA = -48、M_BC = 48 kN·m；每柱剪力 30 kN × 2 = 60 kN = P ✓，柱軸力（傾覆力偶）40 kN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INCLINED MEMBER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斜桿結構：位移相容決定一切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10／11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9_inclined_me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▍不計軸向變形時，每根桿的兩端位移差必須「垂直於桿軸」—— 這一句就能推出所有 ψ 的關係。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▍柱 AB 垂直 → B 只能水平移動 Δ；梁 BC 不變長 → C 的水平位移也是 Δ。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▍斜桿 CD 不變長 → C 的位移必須垂直於 CD，逼出垂直分量 0.75Δ。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▍三根桿的弦轉角比值 ψ_AB : ψ_BC : ψ_CD = 2 : −1 : 2。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▍注意梁的 ψ 反號：C 端往上抬，弦是逆時針轉。漏掉這個負號是斜桿題最常見的失分點。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▍有斜桿時側移方程一律用虛功法；用剪力法要把斜桿的軸力分量也算進去，極易出錯。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斜桿剛架：先做位移相容，再用虛功法列側移方程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個未知量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A(0,0)、B(0,4)、C(6,4)、D(9,0)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= 4、BC = 6、CD = 5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點水平 P = 40 kN（→）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A、D 皆為固定端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位移相容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只能水平移動 → Δ；C 的水平位移也是 Δ。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的位移須垂直於 CD（方向 3:−4）→ 垂直分量 = 0.75Δ。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獨立側移只有一個，未知量 = θB、θC、Δ 共 3 個。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算三根桿的 ψ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ψ_AB = +Δ/4 = 0.250Δ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ψ_BC = −0.75Δ/6 = -0.125Δ（反號！）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ψ_CD = +1.25Δ/5 = 0.250Δ　→　比值 2 : −1 : 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列三條方程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B：M_BA + M_BC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C：M_CB + M_CD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側移（虛功法）：Σ(M_ij + M_ji)ψ̂_ij + P = 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解與檢查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EIθB = 16.51　EIθC = 11.16　EIΔ = 124.97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-38.61　M_BA = -30.35　M_BC = 30.35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M_CB = 28.56　M_CD = -28.56　M_DC = -33.03 kN·m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ψ_AB : ψ_BC : ψ_CD = 2 : −1 : 2；M_AB = -38.61、M_DC = -33.03 kN·m，兩節點彎矩平衡皆為 0 ✓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對稱分解：3 個未知量拆成兩個 1 未知量的問題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→ 1 + 1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同例題②③ 的對稱門型剛架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梁滿佈 w = 30 kN/m（對稱）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點水平 P = 60 kN（反對稱）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直解未知量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θB、θC、Δ 共 3 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拆解載重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梁上的均佈載重是對稱載重 → 例題② 的解。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頂部的水平力是反對稱載重 → 例題③ 的解。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兩者的結構完全相同，所以可以直接疊加。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對稱部分（例題②）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33.75　M_BA = 67.5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-67.5　M_CB = 67.5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未知量只有 EIθB 一個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反對稱部分（例題③）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-72　M_BA = -48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48　M_CB = 48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未知量 EIθ 與 EIψ，用側移方程補齊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疊加與檢查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-38.25　M_BA = 19.5　M_BC = -19.5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M_CB = 115.5　M_CD = -115.5　M_DC = -105.75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兩柱剪力 4.688 + 55.313 = 60 kN = P ✓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疊加結果與直接解 3 未知量系統完全相同；左右柱不再對稱：H_A = 4.688 kN、H_D = 55.313 kN，右柱承擔了絕大部分的水平力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 SOP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考場四步驟：快、強、準的解題決策流程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2590724" cy="4224528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16736"/>
            <a:ext cx="2590724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371600"/>
            <a:ext cx="2151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2376" y="1591056"/>
            <a:ext cx="21518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1｜盤點自由度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157984"/>
            <a:ext cx="2224964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57984"/>
            <a:ext cx="222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數未知量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2578608"/>
            <a:ext cx="20786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自由節點轉角 θ ＋ 獨立側移 Δ。固定端 θ = 0；剛性構件上各節點 θ = 0。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584448"/>
            <a:ext cx="2224964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584448"/>
            <a:ext cx="222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翻譯邊界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4005072"/>
            <a:ext cx="2078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端點鉸／滾支承 → 改用 3EI/L 修正式消掉該 θ；不計軸向變形 → 位移互相綁定。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18900000">
            <a:off x="3148508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3367964" y="1316736"/>
            <a:ext cx="2590724" cy="4224528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7964" y="1316736"/>
            <a:ext cx="2590724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3587420" y="1371600"/>
            <a:ext cx="2151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87420" y="1591056"/>
            <a:ext cx="21518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2｜判 ψ 與對稱性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550844" y="2157984"/>
            <a:ext cx="2224964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0" name="Text 18"/>
          <p:cNvSpPr/>
          <p:nvPr/>
        </p:nvSpPr>
        <p:spPr>
          <a:xfrm>
            <a:off x="3550844" y="2157984"/>
            <a:ext cx="222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算弦轉角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23996" y="2578608"/>
            <a:ext cx="20786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 = 垂直於桿軸的相對位移 ÷ 桿長。純平移或位移平行桿軸 → ψ = 0。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50844" y="3584448"/>
            <a:ext cx="2224964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23" name="Text 21"/>
          <p:cNvSpPr/>
          <p:nvPr/>
        </p:nvSpPr>
        <p:spPr>
          <a:xfrm>
            <a:off x="3550844" y="3584448"/>
            <a:ext cx="222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對稱降維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23996" y="4005072"/>
            <a:ext cx="2078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對稱：θC = −θB、Δ = 0、梁 2EI/L；反對稱：θC = +θB、Δ ≠ 0、梁 6EI/L。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18900000">
            <a:off x="6013552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6233008" y="1316736"/>
            <a:ext cx="2590724" cy="4224528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33008" y="1316736"/>
            <a:ext cx="2590724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6452464" y="1371600"/>
            <a:ext cx="2151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52464" y="1591056"/>
            <a:ext cx="21518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3｜算 FEM、列方程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15888" y="2157984"/>
            <a:ext cx="2224964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31" name="Text 29"/>
          <p:cNvSpPr/>
          <p:nvPr/>
        </p:nvSpPr>
        <p:spPr>
          <a:xfrm>
            <a:off x="6415888" y="2157984"/>
            <a:ext cx="222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固端彎矩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89040" y="2578608"/>
            <a:ext cx="20786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滿跨均佈 −wL²/12、中央集中 −PL/8；遠端鉸接用 M F_AB − ½ M F_BA。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15888" y="3584448"/>
            <a:ext cx="2224964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34" name="Text 32"/>
          <p:cNvSpPr/>
          <p:nvPr/>
        </p:nvSpPr>
        <p:spPr>
          <a:xfrm>
            <a:off x="6415888" y="3584448"/>
            <a:ext cx="222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方程一一對應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89040" y="4005072"/>
            <a:ext cx="2078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 θ 一條節點彎矩平衡；每個 Δ 一條側移方程（有斜桿就用虛功法）。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rot="18900000">
            <a:off x="8878595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9098051" y="1316736"/>
            <a:ext cx="2590724" cy="4224528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98051" y="1316736"/>
            <a:ext cx="2590724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9" name="Text 37"/>
          <p:cNvSpPr/>
          <p:nvPr/>
        </p:nvSpPr>
        <p:spPr>
          <a:xfrm>
            <a:off x="9317507" y="1371600"/>
            <a:ext cx="2151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317507" y="1591056"/>
            <a:ext cx="21518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4｜解聯立＋檢查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9280931" y="2157984"/>
            <a:ext cx="2224964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42" name="Text 40"/>
          <p:cNvSpPr/>
          <p:nvPr/>
        </p:nvSpPr>
        <p:spPr>
          <a:xfrm>
            <a:off x="9280931" y="2157984"/>
            <a:ext cx="222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回代求 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54083" y="2578608"/>
            <a:ext cx="20786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解出 EIθ、EIΔ 後回代求桿端彎矩，再換成梁慣例畫 BMD。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280931" y="3584448"/>
            <a:ext cx="2224964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45" name="Text 43"/>
          <p:cNvSpPr/>
          <p:nvPr/>
        </p:nvSpPr>
        <p:spPr>
          <a:xfrm>
            <a:off x="9280931" y="3584448"/>
            <a:ext cx="222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三道速驗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354083" y="4005072"/>
            <a:ext cx="2078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剛體旋轉 M = 0　② 每點 ΣM = 0　③ 柱剪力合計 = 水平外力。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02920" y="5687568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1B2A41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56875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四步驟的順序不可調換：沒盤點完自由度就開始寫式子，一定會漏方程；沒判完 ψ 就算 FEM，側移項會整批算錯。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全景圖：四步驟與五題例題的定位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11／11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▍例題① 練的是「端點鉸支承怎麼消未知量」，這是連續梁題的標準開場。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▍例題② 練的是「對稱載重 → 無側移 + 2EI/L」，最常出現在單跨門型剛架。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▍例題③ 練的是「反對稱 → 有側移 + 6EI/L + 側移方程」，是傾角變位法的核心題型。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▍例題④ 練的是「斜桿的位移相容」，這一步錯了後面全錯，必須畫位移圖確認。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▍例題⑤ 練的是「任意載重拆成對稱 + 反對稱」，把 3 未知量降成兩個 1 未知量。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▍五題合起來就是完整的題型地圖：看到題目先定位它屬於哪一格，再套對應的降維手段。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全公式速查：桿端式、勁度、修正式、固端彎矩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近端桿端式</a:t>
            </a:r>
            <a:endParaRPr lang="en-US" sz="1100" dirty="0"/>
          </a:p>
        </p:txBody>
      </p:sp>
      <p:pic>
        <p:nvPicPr>
          <p:cNvPr id="7" name="Image 0" descr="formula_imgs/s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46265"/>
            <a:ext cx="2352980" cy="2668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遠端桿端式</a:t>
            </a:r>
            <a:endParaRPr lang="en-US" sz="1100" dirty="0"/>
          </a:p>
        </p:txBody>
      </p:sp>
      <p:pic>
        <p:nvPicPr>
          <p:cNvPr id="11" name="Image 1" descr="formula_imgs/s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80" y="1846103"/>
            <a:ext cx="2352980" cy="26714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弦轉角定義</a:t>
            </a:r>
            <a:endParaRPr lang="en-US" sz="1100" dirty="0"/>
          </a:p>
        </p:txBody>
      </p:sp>
      <p:pic>
        <p:nvPicPr>
          <p:cNvPr id="15" name="Image 2" descr="formula_imgs/s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799" y="1682496"/>
            <a:ext cx="2092852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剛體檢查</a:t>
            </a:r>
            <a:endParaRPr lang="en-US" sz="1100" dirty="0"/>
          </a:p>
        </p:txBody>
      </p:sp>
      <p:pic>
        <p:nvPicPr>
          <p:cNvPr id="19" name="Image 3" descr="formula_imgs/s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491" y="1735113"/>
            <a:ext cx="2352980" cy="48912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近端勁度</a:t>
            </a:r>
            <a:endParaRPr lang="en-US" sz="1100" dirty="0"/>
          </a:p>
        </p:txBody>
      </p:sp>
      <p:pic>
        <p:nvPicPr>
          <p:cNvPr id="23" name="Image 4" descr="formula_imgs/s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763" y="2971800"/>
            <a:ext cx="1349902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傳遞勁度</a:t>
            </a:r>
            <a:endParaRPr lang="en-US" sz="1100" dirty="0"/>
          </a:p>
        </p:txBody>
      </p:sp>
      <p:pic>
        <p:nvPicPr>
          <p:cNvPr id="27" name="Image 5" descr="formula_imgs/s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7519" y="2971800"/>
            <a:ext cx="1349902" cy="5943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側移勁度</a:t>
            </a:r>
            <a:endParaRPr lang="en-US" sz="1100" dirty="0"/>
          </a:p>
        </p:txBody>
      </p:sp>
      <p:pic>
        <p:nvPicPr>
          <p:cNvPr id="31" name="Image 6" descr="formula_imgs/s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4576" y="2971800"/>
            <a:ext cx="1949299" cy="5943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傳遞係數</a:t>
            </a:r>
            <a:endParaRPr lang="en-US" sz="1100" dirty="0"/>
          </a:p>
        </p:txBody>
      </p:sp>
      <p:pic>
        <p:nvPicPr>
          <p:cNvPr id="35" name="Image 7" descr="formula_imgs/s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593" y="2971800"/>
            <a:ext cx="2150777" cy="59436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遠端鉸接式</a:t>
            </a:r>
            <a:endParaRPr lang="en-US" sz="1100" dirty="0"/>
          </a:p>
        </p:txBody>
      </p:sp>
      <p:pic>
        <p:nvPicPr>
          <p:cNvPr id="39" name="Image 8" descr="formula_imgs/s3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388407"/>
            <a:ext cx="2352980" cy="339754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 FEM 通式</a:t>
            </a:r>
            <a:endParaRPr lang="en-US" sz="1100" dirty="0"/>
          </a:p>
        </p:txBody>
      </p:sp>
      <p:pic>
        <p:nvPicPr>
          <p:cNvPr id="43" name="Image 9" descr="formula_imgs/s3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5980" y="4347738"/>
            <a:ext cx="2352980" cy="421091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 FEM：均佈</a:t>
            </a:r>
            <a:endParaRPr lang="en-US" sz="1100" dirty="0"/>
          </a:p>
        </p:txBody>
      </p:sp>
      <p:pic>
        <p:nvPicPr>
          <p:cNvPr id="47" name="Image 10" descr="formula_imgs/s3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2736" y="4292048"/>
            <a:ext cx="2352980" cy="53247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 FEM：中央 P</a:t>
            </a:r>
            <a:endParaRPr lang="en-US" sz="1100" dirty="0"/>
          </a:p>
        </p:txBody>
      </p:sp>
      <p:pic>
        <p:nvPicPr>
          <p:cNvPr id="51" name="Image 11" descr="formula_imgs/s3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491" y="4306889"/>
            <a:ext cx="2352980" cy="50279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FEM：滿跨均佈</a:t>
            </a:r>
            <a:endParaRPr lang="en-US" sz="1100" dirty="0"/>
          </a:p>
        </p:txBody>
      </p:sp>
      <p:pic>
        <p:nvPicPr>
          <p:cNvPr id="55" name="Image 12" descr="formula_imgs/s4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" y="5601798"/>
            <a:ext cx="2352980" cy="49158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FEM：中央集中</a:t>
            </a:r>
            <a:endParaRPr lang="en-US" sz="1100" dirty="0"/>
          </a:p>
        </p:txBody>
      </p:sp>
      <p:pic>
        <p:nvPicPr>
          <p:cNvPr id="59" name="Image 13" descr="formula_imgs/s4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5980" y="5558325"/>
            <a:ext cx="2352980" cy="578527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FEM：偏心 P 近端</a:t>
            </a:r>
            <a:endParaRPr lang="en-US" sz="1100" dirty="0"/>
          </a:p>
        </p:txBody>
      </p:sp>
      <p:pic>
        <p:nvPicPr>
          <p:cNvPr id="63" name="Image 14" descr="formula_imgs/s4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2736" y="5626888"/>
            <a:ext cx="2352980" cy="441401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FEM：偏心 P 遠端</a:t>
            </a:r>
            <a:endParaRPr lang="en-US" sz="1100" dirty="0"/>
          </a:p>
        </p:txBody>
      </p:sp>
      <p:pic>
        <p:nvPicPr>
          <p:cNvPr id="67" name="Image 15" descr="formula_imgs/s4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491" y="5625411"/>
            <a:ext cx="2352980" cy="444355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全公式速查：三角形載重、沉陷、方程、對稱與轉換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三角形 0→w 近端</a:t>
            </a:r>
            <a:endParaRPr lang="en-US" sz="1100" dirty="0"/>
          </a:p>
        </p:txBody>
      </p:sp>
      <p:pic>
        <p:nvPicPr>
          <p:cNvPr id="7" name="Image 0" descr="formula_imgs/s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48920"/>
            <a:ext cx="2352980" cy="4615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三角形 0→w 遠端</a:t>
            </a:r>
            <a:endParaRPr lang="en-US" sz="1100" dirty="0"/>
          </a:p>
        </p:txBody>
      </p:sp>
      <p:pic>
        <p:nvPicPr>
          <p:cNvPr id="11" name="Image 1" descr="formula_imgs/s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80" y="1748920"/>
            <a:ext cx="2352980" cy="46151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沉陷 FEM</a:t>
            </a:r>
            <a:endParaRPr lang="en-US" sz="1100" dirty="0"/>
          </a:p>
        </p:txBody>
      </p:sp>
      <p:pic>
        <p:nvPicPr>
          <p:cNvPr id="15" name="Image 2" descr="formula_imgs/s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736" y="1756883"/>
            <a:ext cx="2352980" cy="44558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沉陷（遠端鉸接）</a:t>
            </a:r>
            <a:endParaRPr lang="en-US" sz="1100" dirty="0"/>
          </a:p>
        </p:txBody>
      </p:sp>
      <p:pic>
        <p:nvPicPr>
          <p:cNvPr id="19" name="Image 3" descr="formula_imgs/s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491" y="1754863"/>
            <a:ext cx="2352980" cy="44962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節點彎矩平衡</a:t>
            </a:r>
            <a:endParaRPr lang="en-US" sz="1100" dirty="0"/>
          </a:p>
        </p:txBody>
      </p:sp>
      <p:pic>
        <p:nvPicPr>
          <p:cNvPr id="23" name="Image 4" descr="formula_imgs/s6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22" y="2971800"/>
            <a:ext cx="1961584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側移方程（虛功）</a:t>
            </a:r>
            <a:endParaRPr lang="en-US" sz="1100" dirty="0"/>
          </a:p>
        </p:txBody>
      </p:sp>
      <p:pic>
        <p:nvPicPr>
          <p:cNvPr id="27" name="Image 5" descr="formula_imgs/s6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5980" y="3109340"/>
            <a:ext cx="2352980" cy="3192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側移方程（剪力）</a:t>
            </a:r>
            <a:endParaRPr lang="en-US" sz="1100" dirty="0"/>
          </a:p>
        </p:txBody>
      </p:sp>
      <p:pic>
        <p:nvPicPr>
          <p:cNvPr id="31" name="Image 6" descr="formula_imgs/s6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0334" y="2971800"/>
            <a:ext cx="2257783" cy="5943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柱剪力</a:t>
            </a:r>
            <a:endParaRPr lang="en-US" sz="1100" dirty="0"/>
          </a:p>
        </p:txBody>
      </p:sp>
      <p:pic>
        <p:nvPicPr>
          <p:cNvPr id="35" name="Image 7" descr="formula_imgs/s6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0524" y="2971800"/>
            <a:ext cx="2070915" cy="59436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對稱有效勁度</a:t>
            </a:r>
            <a:endParaRPr lang="en-US" sz="1100" dirty="0"/>
          </a:p>
        </p:txBody>
      </p:sp>
      <p:pic>
        <p:nvPicPr>
          <p:cNvPr id="39" name="Image 8" descr="formula_imgs/s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368503"/>
            <a:ext cx="2352980" cy="379563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反對稱有效勁度</a:t>
            </a:r>
            <a:endParaRPr lang="en-US" sz="1100" dirty="0"/>
          </a:p>
        </p:txBody>
      </p:sp>
      <p:pic>
        <p:nvPicPr>
          <p:cNvPr id="43" name="Image 9" descr="formula_imgs/s7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5980" y="4398562"/>
            <a:ext cx="2352980" cy="319444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未知量數目</a:t>
            </a:r>
            <a:endParaRPr lang="en-US" sz="1100" dirty="0"/>
          </a:p>
        </p:txBody>
      </p:sp>
      <p:pic>
        <p:nvPicPr>
          <p:cNvPr id="47" name="Image 10" descr="formula_imgs/s7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2736" y="4261217"/>
            <a:ext cx="2352980" cy="594134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近端換梁慣例</a:t>
            </a:r>
            <a:endParaRPr lang="en-US" sz="1100" dirty="0"/>
          </a:p>
        </p:txBody>
      </p:sp>
      <p:pic>
        <p:nvPicPr>
          <p:cNvPr id="51" name="Image 11" descr="formula_imgs/s7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491" y="4339755"/>
            <a:ext cx="2352980" cy="437058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遠端換梁慣例</a:t>
            </a:r>
            <a:endParaRPr lang="en-US" sz="1100" dirty="0"/>
          </a:p>
        </p:txBody>
      </p:sp>
      <p:pic>
        <p:nvPicPr>
          <p:cNvPr id="55" name="Image 12" descr="formula_imgs/s8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" y="5628727"/>
            <a:ext cx="2352980" cy="43772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單端轉角反算</a:t>
            </a:r>
            <a:endParaRPr lang="en-US" sz="1100" dirty="0"/>
          </a:p>
        </p:txBody>
      </p:sp>
      <p:pic>
        <p:nvPicPr>
          <p:cNvPr id="59" name="Image 13" descr="formula_imgs/s8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5980" y="5638325"/>
            <a:ext cx="2352980" cy="418525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反曲點條件</a:t>
            </a:r>
            <a:endParaRPr lang="en-US" sz="1100" dirty="0"/>
          </a:p>
        </p:txBody>
      </p:sp>
      <p:pic>
        <p:nvPicPr>
          <p:cNvPr id="63" name="Image 14" descr="formula_imgs/s8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2736" y="5661454"/>
            <a:ext cx="2352980" cy="372267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未知量寫法</a:t>
            </a:r>
            <a:endParaRPr lang="en-US" sz="1100" dirty="0"/>
          </a:p>
        </p:txBody>
      </p:sp>
      <p:pic>
        <p:nvPicPr>
          <p:cNvPr id="67" name="Image 15" descr="formula_imgs/s8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491" y="5696449"/>
            <a:ext cx="2352980" cy="302279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1／2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高頻陷阱（一）：自由度與弦轉角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鉸支承誤設 θ =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鉸支承是「不能傳彎矩」（M = 0），但它的轉角 θ 恰恰是全結構最大的，絕不能誤設為 0。正確做法是改用遠端鉸接修正式 3EI/L 把這個 θ 消掉，而不是把它當成零。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以為沒有水平力就沒有側移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側移的成因是「結構有沒有無束制的側向自由度」，不是「有沒有水平載重」。縱使載重全是垂直力，倒 L 型、單斜柱或左右不對稱的剛架依然會產生側移，必須列側移方程。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兩柱同向側移就以為 ψ 同號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 的正負由「弦往哪個方向轉」決定，不是由位移方向決定。若左柱固定端在底、右柱鉸支承在頂，同一個水平側移 Δ 會導致兩柱的 ψ 正負號相反 —— 畫圖確認最保險。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斜桿用水平投影長算 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斜桿的 ψ 分母必須是真正的斜長 √(a² + b²)，分子只取垂直於桿軸的位移分量。用水平投影長或直接拿總位移去除，兩個錯誤都會讓整題的側移項全盤走樣。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2／2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高頻陷阱（二）：方程、符號與檢查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節點集中力漏進側移方程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作用在剛節點上的集中力 FEM = 0，所以它不進節點彎矩平衡 —— 很多人因此整個忘掉它。但它是側移方程裡的外力項，漏了就少一項，解出來的 Δ 會系統性偏小。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方程式數量與未知量對不上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每個自由轉角 θ 對一條節點彎矩平衡、每個獨立側移 Δ 對一條側移方程，缺一不可。列完先數一遍：方程式比未知量少代表漏了側移方程，多了代表把同一個條件寫了兩次。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把桿端彎矩直接拿去畫 BMD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桿端彎矩是順時針約定，BMD 是梁慣例（sagging 為正），兩者不同。近端 M sag = + M_AB、遠端 M sag = − M_BA；忘了換算會讓 BMD 在角隅接不起來。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只檢查數字、不檢查變形合理性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考場三道速驗最快：① 剛體旋轉時 M 是否為 0　② 每個節點 ΣM 是否為 0　③ 柱剪力合計是否等於水平外力。再加一眼看 BMD 的受拉側與外力方向合不合理，錯誤幾乎無所遁形。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SA-U2-3 靜不定結構之傾角變位法｜重點回顧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715414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71541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公式的物理本質只有一句：彎矩只認「相對於弦」的轉角。把標準式改寫成 (2EI/L)[2(θA − ψ) + (θB − ψ)]，−3ψ 的來源就不必再背；θA = θB = ψ 時 M = 0 是最快的驗算。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156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695651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269565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1642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整套方法的骨架是「先鎖住、再放鬆」：先把節點全當固定端算 FEM，再疊加 4EI/L、2EI/L、−6EIψ/L 三個單位狀態。這三個常數在彎矩分配法與勁度矩陣法完全通用。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41802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36758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496666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 盤點未知量（θ 數 + Δ 數）、Step 2 判 ψ 與對稱性、Step 3 算 FEM 列方程、Step 4 解聯立並自我檢查 —— 順序不可調換。端點鉸支承一律改用 3EI/L 修正式先消未知量。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2203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4656125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6561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7690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每個獨立側移補一條方程：規則剛架用柱剪力平衡最快，斜桿或柱上有跨內載重時一律改用虛功法 Σ(M_ij + M_ji)ψ̂ + ΣPδ = 0，容錯率最高。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40227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5636362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56363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45713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對稱結構是最大的省力點：對稱載重 θC = −θB、Δ = 0、梁 2EI/L；反對稱 θC = +θB、Δ ≠ 0、梁 6EI/L。任意載重先拆成對稱 + 反對稱，3 個未知量立刻降成兩個 1 未知量的問題。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SA-U2-3 靜不定結構之傾角變位法｜觀念講義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GIBSIN｜YJC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GIBSIN｜YJC</dc:creator>
  <cp:lastModifiedBy>GIBSIN｜YJC</cp:lastModifiedBy>
  <cp:revision>1</cp:revision>
  <dcterms:created xsi:type="dcterms:W3CDTF">2026-09-17T02:31:38Z</dcterms:created>
  <dcterms:modified xsi:type="dcterms:W3CDTF">2026-09-17T02:31:38Z</dcterms:modified>
</cp:coreProperties>
</file>