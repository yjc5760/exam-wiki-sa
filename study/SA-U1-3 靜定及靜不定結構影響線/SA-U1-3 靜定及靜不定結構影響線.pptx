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395728"/>
            <a:ext cx="118872" cy="1828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　結構學｜靜定與靜不定結構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384" y="2505456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靜定及靜不定結構影響線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3584448"/>
            <a:ext cx="3840480" cy="0"/>
          </a:xfrm>
          <a:prstGeom prst="line">
            <a:avLst/>
          </a:prstGeom>
          <a:noFill/>
          <a:ln w="19050">
            <a:solidFill>
              <a:srgbClr val="93A9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3075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影響線不是新的分析方法，而是一次視角切換：把斷面固定下來，讓單位載重跑動。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本講義從「橫軸是什麼」講起，用 Müller-Breslau 原理把定性繪圖變成畫變形圖，再走完靜定梁、Gerber 梁、桁架與靜不定結構的定量做法，最後收在最大效應的取值。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200400" cy="402336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8463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觀念講義｜31 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這個單元要建立的四件事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71016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橫軸是載重位置，不是斷面位置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彎矩圖問的是「載重固定時整根梁的反應」；影響線問的是「斷面固定時，單位載重跑到哪裡最不利」。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分清楚這一句，量綱就跟著清楚：反力與剪力 IL 無因次，彎矩 IL 帶長度單位 m。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353312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3008" y="1353312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89040" y="1627632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3" name="Text 11"/>
          <p:cNvSpPr/>
          <p:nvPr/>
        </p:nvSpPr>
        <p:spPr>
          <a:xfrm>
            <a:off x="64890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01104" y="1600200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Müller-Breslau 把繪圖變成畫變形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25616" y="2139696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拆掉要求的那個束制，沿該反應正方向強迫單位廣義位移，畫出來的變形曲線就是影響線。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根源是貝蒂互換定理：無數次移動載重的計算，被壓縮成一次單位位移下的撓曲線。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71016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折線或曲線，一秒判斷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95528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拆掉束制後問一句：結構還撐得住嗎？撐不住 → 機構 → 剛體旋轉 → 折線，與 EI 無關。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還撐得住 → 彈性彎曲 → 光滑曲線；此時 IL 是位移比值，EI 為常數時前後消掉。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3008" y="3803904"/>
            <a:ext cx="5455768" cy="2212848"/>
          </a:xfrm>
          <a:prstGeom prst="roundRect">
            <a:avLst>
              <a:gd name="adj" fmla="val 24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33008" y="3803904"/>
            <a:ext cx="545576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89040" y="4078224"/>
            <a:ext cx="384048" cy="38404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5" name="Text 23"/>
          <p:cNvSpPr/>
          <p:nvPr/>
        </p:nvSpPr>
        <p:spPr>
          <a:xfrm>
            <a:off x="64890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01104" y="4050792"/>
            <a:ext cx="4449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有了影響線才談最大效應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25616" y="4590288"/>
            <a:ext cx="487055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集中力擺峰值、可佈置均佈只鋪同號區、車隊逐一把輪重擺到折點上試。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把均佈載重鋪滿全長是最常見的失分點：負值區會抵銷正效應，算出來不保守。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影響線在問什麼？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_what_is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▍彎矩圖：載重固定在某處，問「整根梁各個斷面的反應」→ 橫軸是斷面位置。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▍影響線：斷面固定在某處，問「單位載重跑動時，這一個斷面的反應」→ 橫軸是載重位置。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▍同一根梁、同一個 C 點，兩張圖長得像但意義完全不同：左圖讀的是 kN·m，右圖讀的是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▍量綱是最好用的自我檢查：反力／剪力 IL 是「力/力」無因次；彎矩 IL 是「力·長度/力」＝ m。C 點的峰值 ab/L = 2.4 m，不是 2.4 kN·m。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▍有了 IL 之後，求效應永遠是「載重 × 縱座標」：集中力乘峰值、均佈乘面積。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影響線的定義、量綱與取值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影響線的定義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1460223"/>
            <a:ext cx="8122615" cy="57256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反力／剪力：無因次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990" y="2459736"/>
            <a:ext cx="6628315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彎矩：帶長度單位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196" y="3502152"/>
            <a:ext cx="3053903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效應的取用方式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175" y="4544568"/>
            <a:ext cx="2845945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影響線的縱座標 y(x) 是「單位載重站在 x 時那個固定斷面的反應值」。所以它本身不是內力，而是內力對載重的敏感度。把實際載重乘上去才會變成 kN 或 kN·m。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MÜLLER-BRESLAU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三種束制的拆法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2／11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2_muller_bresl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▍一句話：把要求反應的束制拆掉，強迫結構沿該反應的正方向產生單位廣義位移，畫出來的變形曲線就是影響線。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▍反力 R：拿掉該支承，讓結構沿反力方向單位平移 Δ = 1。該支承處的縱座標必為 1。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▍剪力 V：在斷面切開（剪力釋放），左右相對錯動 1，但兩段必須保持平行 → 斷面處必定跳躍 1。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▍彎矩 M：在斷面插入鉸，左右施加相對轉角 1 rad → 斷面處有折點（尖角）但曲線連續。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▍「保持平行」與「只能折不能跳」是最容易畫錯的兩個細節，改考卷時一眼就看得出來。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Müller-Breslau 原理與兩個特徵條件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原理本身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7267" y="1417320"/>
            <a:ext cx="385176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物理根源（互換定理）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288" y="2459736"/>
            <a:ext cx="5019720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剪力：跳躍 = 1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560" y="3502152"/>
            <a:ext cx="4969176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彎矩：相對轉角 = 1 rad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732" y="4544568"/>
            <a:ext cx="5230831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Maxwell–Betti 互換定理保證「在 B 加單位力量到 x 的位移」等於「在 x 加單位力量到 B 的位移」。前者要跑遍所有 x，後者只要解一次 —— 這就是 Müller-Breslau 之所以成立、也之所以好用的原因。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SHAPE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折線還是曲線？拆掉束制後問一句就知道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3／11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3_determinate_vs_indetermin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▍靜定結構：少了一個束制後變成機構，只能剛體旋轉 → 影響線由直線段（折線）組成。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▍折線與 EI 完全無關，所以靜定影響線題不會給你 EI，也不需要積分。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▍靜不定結構：少了一個束制後仍然穩定，產生彈性彎曲 → 影響線是光滑曲線。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▍靜不定 IL 本質是位移比值 δ(x)/δ_XX；全梁 EI 為常數時 EI 前後消掉，所以題目不給 EI 不是漏給。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▍看到答案是曲線就知道這題一定是靜不定；看到折線卻寫出 EI，通常是題意讀錯了。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簡支梁的三條基本影響線（記憶錨點）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靜定｜折線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跨度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10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 C 距左端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4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距右端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= 6 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1 由 A 走到 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R_A、V_C、M_C 的 IL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R_A：拿掉 A 支承，Δ = 1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端上抬 1，梁繞 B 剛體旋轉 → 一條直線。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IL_R_A(x) = (L − x)/L：A 處 1.0、B 處 0。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點的縱座標 = b/L = 0.6。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支承點檢查：B 處必為 0（B 沒有移動）。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V_C：切開 C，錯動 1 保持平行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左段下沉、右段上抬，兩段斜率相同。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左側 −a/L = −0.40，右側 +b/L = 0.60。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跳躍量 0.60 −（−0.40）= 1.00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兩者絕對值相加恆等於 1，是最快的檢查。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M_C：在 C 插入鉸，轉 1 rad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兩段直線在 C 相交，交點就是峰值。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 = a × (b/L) = ab/L = 2.4 m。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斷面在跨中時 ab/L = L/4 = 2.5 m（最大）。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峰值帶長度單位 m —— 算出 kN·m 就是混淆了 IL 與 BMD。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三項自我檢查（10 秒）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支承點：未移動的支承處縱座標必為 0。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剪力跳躍：斷面左右之差必等於 1。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單位：R、V 無因次；M 帶 m。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三項都過才動手算最大效應。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IL_R_A 在 C 處 0.6；IL_V_C 左 −0.40、右 0.60（跳躍 1.00）；IL_M_C 峰值 ab/L = 2.4 m（跨中最大 L/4 = 2.5 m）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EXAMPLE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三條影響線疊在一起看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4／11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4_simple_beam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▍三張圖的橫軸都是「載重位置」，所以可以直接上下對齊比較。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▍R_A 從 1.0 線性降到 0；V_C 在 C 處跳躍 1；M_C 在 C 處是折點、峰值 2.4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▍注意 V_C 的兩段斜率相同（都是 −1/L）—— 這是「保持平行」的直接結果。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▍M_C 的峰值為什麼在斷面處？因為兩段直線的交點就在 C，高度 = a × (b/L)。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▍單一集中力 P = 100 kN 的最大彎矩 = P × ab/L = 240 kN·m。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靜定梁的四條記憶錨點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反力影響線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007" y="1417320"/>
            <a:ext cx="4374281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彎矩峰值（在斷面處）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265" y="2459736"/>
            <a:ext cx="5753765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剪力左右兩側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017" y="3502152"/>
            <a:ext cx="5014261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跳躍量恆等於 1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69" y="4544568"/>
            <a:ext cx="1650556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Gerber 梁（含內鉸）不必另記公式：先劃分主段與從段。載重在從段會經內鉸傳給主段；載重在主段則不會傳給從段，所以從段反力的影響線在主段區域恆為 0。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拿影響線求最大效應：三種載重型態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取值｜同一條 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沿用例題 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10、a =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100 kN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可佈置均佈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20 kN/m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車隊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80 + 40 kN，軸距 3 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 M_C 與 max V_C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集中力：擺在峰值上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 = P × y_max = 100 × 2.4 = 240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V_C 最大正值 = 100 × 0.6 = 60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V_C 最大負值 = 100 × −0.40 = −40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一個集中力就是一個乘法，不必試位置。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均佈：只鋪同號區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 的 IL 全正 → 面積 = ½ × 10 × 2.4 = 12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 = 20 × 12 = 240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V_C 正區面積 = ½ × 6 × 0.6 = 1.8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最大正剪力 = 20 × 1.8 = 36 kN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鋪滿全長會低估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負區面積 = −0.80，鋪滿時正負相消。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= 20 × (1.8 −0.8) = 20 kN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比正解少了 44.4 %，設計會不安全。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 IL 全正，所以彎矩鋪滿＝只鋪同號區，不受影響。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車隊：逐一試折點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試位 1（P1 壓在 C）：80×2.4 + 40×1.2 = 240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試位 2（P2 壓在 C）：80×0.6 + 40×2.4 = 144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取大者 → 240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極值必在折點，所以只要試「每個輪重壓在峰值」這幾個位置。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 M_C = 240 kN·m（集中力、均佈、車隊三者在本題恰好同值）；max +V_C = 36 kN，若把均佈鋪滿全長只算得 20 kN，低估 44.4 %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LIVE 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可任意佈置的均佈載重：只鋪同號區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5／11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5_udl_same_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▍活載重的定義就是「可以出現、也可以不出現」，所以求最大值時負值區當然不鋪。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▍只鋪正區：V = w × A⁺ = 20 × 1.8 = 36 kN。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▍鋪滿全長：V = w × (A⁺ + A⁻) = 20 kN，被負區吃掉 44.4 %。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▍彎矩影響線全部同號，所以兩種鋪法結果相同 —— 這也是很多人誤以為「鋪滿沒差」的來源。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▍連續梁的跨中彎矩與支承彎矩影響線有正有負，必須逐跨挑同號區，這就是「棋盤格佈置」的由來。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三種載重型態的最大效應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單一集中力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243" y="1417320"/>
            <a:ext cx="300181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可佈置均佈（只鋪同號區）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961" y="2459736"/>
            <a:ext cx="2912373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鋪滿全長（不保守）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694" y="3502152"/>
            <a:ext cx="5300907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車隊：試每個折點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866" y="4544568"/>
            <a:ext cx="7952564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為什麼車隊只要試折點？因為總效應 ΣP_i·y(x_i) 是各段的線性組合，極值一定落在斜率變號處，也就是影響線的折點。三、四個試位算完取最大即可，不必掃描。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TRAIN 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車隊載重：把每個輪重擺到折點上試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6／11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6_train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▍試位 1：P1 壓在 C → 另一輪落在 x = 7 m，縱座標 1.2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▍試位 2：P2 壓在 C → 另一輪落在 x = 1 m，縱座標 0.6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▍240 kN·m vs 144 kN·m → 最大值 240 kN·m。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▍直覺：把「重的那一軸」壓在峰值上通常就是答案，但輕軸落在陡側時仍要驗算另一個試位。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▍若有輪重跑出梁外，該輪的縱座標直接取 0 —— 這種試位往往才是真正的極值位置。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Gerber 梁：先分主段與從段（5 條影響線）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靜定｜含內鉸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A(0) 鉸、B(8) 滾、C(16) 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H(11)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D(19)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觀察斷面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K(4)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R_A、R_B、R_C、M_B、V_K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第一步：劃分主段與從段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主段 A–B–H：A 鉸 + B 滾支承，自己站得住。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從段 H–C–D：只有 C 一個支承，靠內鉸 H 掛在主段上。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判別法：拿掉內鉸後，還能自撐的那一段就是主段。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從段的所有力都必須經 H 傳回主段。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載重在從段（H → D）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從段跨距 5 m：R_H = (16 − x)/5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主段收到向下的 R_H：R_A = −(3/8)R_H、R_B = (11/8)R_H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D 時 R_H = −0.6（向上）→ R_A = 0.225、R_B = −0.825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R_C = (x − 11)/5，在 D 達 1.6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載重在主段（A → H）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R_A = (8 − x)/8、R_B = x/8（懸出段直接延伸）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H 時 R_A = −0.375、R_B = 1.375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R_C ≡ 0：從段完全不知道主段上有載重。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這條「從段反力 IL 在主段恆為 0」是 Gerber 題的招牌特徵。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 與 V_K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M_B 取 B 右側自由體：AB 段載重時 M_B = 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H 時 M_B = −1 × 3 = −3（hogging）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D 時 M_B = 1.8（懸臂把 B 頂起來，變成 sagging）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V_K = R_A − 1（x &lt; K）或 R_A（x &gt; K）→ 跳躍 1 ✓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關鍵縱座標：R_A 在 H 為 −0.375、在 D 為 0.225；R_B 在 H 為 1.375、在 D 為 −0.825；R_C 在 D 為 1.6；M_B 在 H 為 −3 m、在 D 為 1.8 m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EXAMPLE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五條影響線一次攤開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7／11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7_gerber_b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▍所有 IL 在內鉸 H 只能「折」不能「跳」—— 因為 H 處彎矩恆為零，但位移仍然連續。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▍R_C 的影響線在整個主段（A 到 H）恆為 0，在 H 之後才開始線性上升到 C 處的 1.0、D 處的 1.6。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▍R_B 在 H 達到最大 1.375（大於 1！），在 D 卻變成 −0.825（向下）—— 懸臂把梁翹起來。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▍M_B 在 AB 段完全為 0，B 之後才開始下墜到 H 的 −3 m，再回升到 D 的 1.8 m。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▍任意位置檢查 ΣV = R_A + R_B + R_C = 1.000 —— 這是最快的全域驗算。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桁架：借用梁的影響線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弦桿：除以桁高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3410" y="1417320"/>
            <a:ext cx="4619476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斜桿：除以 sinθ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995" y="2459736"/>
            <a:ext cx="3392305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節間內必為直線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522" y="3502152"/>
            <a:ext cx="7265250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斜率關係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705" y="4544568"/>
            <a:ext cx="2028886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桁架影響線不必重畫。先把桁架當成「同跨簡支梁」，畫出力矩中心處的彎矩影響線（給弦桿）或該節間的剪力影響線（給斜桿），再整條除以 h 或 sinθ。載重靠縱梁只能傳到節點，所以節點之間一定是直線。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靜定桁架：上弦、下弦與斜桿的影響線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靜定｜截面法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× 4 m = 16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 = 4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 = 45°，sinθ = 0.7071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= 1 沿下弦移動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U1U2、L1L2、U1L2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上弦 U1U2：力矩中心 L2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截面 a–a 切過 U1U2、U1L2、L1L2 三根桿。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L2（x = 8 m）取力矩 → 只剩上弦桿。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M(L2) 的 IL 峰值 = ab/L = 8×8/16 = 4 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 = −M/h → 峰值 −1（壓力）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下弦 L1L2：力矩中心 U1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 U1（x = 4 m）取力矩 → 只剩下弦桿。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M(U1) 的 IL 峰值 = 4×12/16 = 3 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 = +M/h = 3/4 → 峰值 0.75（拉力）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弦桿 IL 全跨同號：上弦恆壓、下弦恆拉。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 U1L2：取豎向平衡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該節間（L1–L2）的剪力 IL：L1 處 −0.25、L2 處 0.5。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 = V/sinθ → −0.354 與 +0.707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零點在 x = 5.333 m（節間內的直線與軸線相交）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 IL 有正有負 → 活載重要分區佈置。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兩個容易錯的地方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節間內一定是直線：載重經縱梁只傳到節點，不會直接作用在桿上。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斜桿長度是 4/cosθ，不是 4 —— 但 IL 只用 sinθ，不用桿長。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力矩中心要取「另外兩根桿的交點」，不是隨便一個節點。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上弦是壓力所以加負號，寫成正值會在組合時翻車。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IL_F(U1U2) 峰值 −1（壓，在 L2）；IL_F(L1L2) 峰值 0.75（拉，在 L1）；IL_F(U1L2) 在 L2 為 +0.7071、在 L1 為 −0.3536，零點 x = 5.333 m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EXAMPLE 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一刀三桿，三條影響線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8／11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8_truss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▍截面法一刀切過三根桿：兩根弦桿用力矩中心各自解掉，剩下的斜桿用豎向平衡解掉。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▍上弦 IL 全負（恆受壓），峰值 −1 出現在力矩中心 L2 的正下方。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▍下弦 IL 全正（恆受拉），峰值 0.75 出現在力矩中心 U1 的正下方。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▍斜桿 IL 跨越正負：L1 處 −0.3536、L2 處 +0.7071，中間是一條直線。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▍節點之間的直線是桁架影響線的招牌 —— 看到節間有曲線，多半是把桁架當成梁畫了。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F6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靜不定結構：柔度法的影響線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298448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柔度法通式</a:t>
            </a:r>
            <a:endParaRPr lang="en-US" sz="1300" dirty="0"/>
          </a:p>
        </p:txBody>
      </p:sp>
      <p:pic>
        <p:nvPicPr>
          <p:cNvPr id="7" name="Image 0" descr="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0478" y="1417320"/>
            <a:ext cx="1845339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340864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340864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2340864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 cantilever 的 R_B</a:t>
            </a:r>
            <a:endParaRPr lang="en-US" sz="1300" dirty="0"/>
          </a:p>
        </p:txBody>
      </p:sp>
      <p:pic>
        <p:nvPicPr>
          <p:cNvPr id="11" name="Image 1" descr="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852" y="2459736"/>
            <a:ext cx="3628591" cy="658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2920" y="3383280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3383280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722376" y="3383280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同一根梁的 M_A</a:t>
            </a:r>
            <a:endParaRPr lang="en-US" sz="1300" dirty="0"/>
          </a:p>
        </p:txBody>
      </p:sp>
      <p:pic>
        <p:nvPicPr>
          <p:cNvPr id="15" name="Image 2" descr="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139" y="3502152"/>
            <a:ext cx="3828018" cy="65836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" y="4425696"/>
            <a:ext cx="11185855" cy="896112"/>
          </a:xfrm>
          <a:prstGeom prst="roundRect">
            <a:avLst>
              <a:gd name="adj" fmla="val 6122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2920" y="4425696"/>
            <a:ext cx="50292" cy="89611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722376" y="4425696"/>
            <a:ext cx="2514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 → 全跨均佈的答案</a:t>
            </a:r>
            <a:endParaRPr lang="en-US" sz="1300" dirty="0"/>
          </a:p>
        </p:txBody>
      </p:sp>
      <p:pic>
        <p:nvPicPr>
          <p:cNvPr id="19" name="Image 3" descr="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039" y="4544568"/>
            <a:ext cx="3274216" cy="6583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5522976"/>
            <a:ext cx="11185855" cy="804672"/>
          </a:xfrm>
          <a:prstGeom prst="roundRect">
            <a:avLst>
              <a:gd name="adj" fmla="val 6818"/>
            </a:avLst>
          </a:prstGeom>
          <a:solidFill>
            <a:srgbClr val="FBF3DC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22376" y="5559552"/>
            <a:ext cx="107469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　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δ_{x,X} 就是「基本結構在 X 處施加單位力時，各點 x 的撓曲線方程式」。分子分母都帶 1/EI，EI 為常數時前後消掉 —— 所以靜不定影響線題不給 EI 是正常的。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Propped cantilever：三次曲線影響線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靜不定｜柔度法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固定 — B 滾支承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= 6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R_B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IL_R_B 與 IL_M_A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選多餘力 → 基本結構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拿掉 B 支承 → 基本結構是固定在 A 的懸臂。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B 施加單位力，寫出整條撓曲線：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δ(x) = x²(3L − x)/6EI（向上為正）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δ_BB = δ(L) = L³/3EI = 72/EI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相除 → 影響線方程式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IL_R_B(x) = δ(x)/δ_BB = x²(3L − x)/2L³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三次式 ⇒ 光滑曲線（靜定是一次式 ⇒ 折線）。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跨中：IL = 5/16 = 0.3125；B 端：1.000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 在分子分母一起消掉，所以題目不給 EI。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IL_M_A：峰值不在跨中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M_A(x) = x − L·IL_R_B = ab(L + b)/2L²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 = L/(3√3) = 1.1547 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 x = L(1 − 1/√3) = 2.5359 m（約 0.423L）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不是跨中、也不是端點 —— 這是本題最常被記錯的地方。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用面積驗算（必做）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∫IL_R_B dx = 2.2500 = 3L/8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∫IL_M_A dx = 4.5000 = L²/8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 = 24 kN/m 全跨均佈 → R_B = 54 kN、M_A = 108 kN·m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與最小功法／傾角變位法的標準答案完全一致。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IL_R_B(x) = x²(3L − x)/2L³（跨中 0.3125、B 端 1.000）；IL_M_A 峰值 L/(3√3) = 1.1547 m 發生在 x = 2.5359 m；面積分別為 3L/8 = 2.250 與 L²/8 = 4.500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EXAMPLE 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柔度法就是「撓曲線除以一個常數」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9／11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9_propped_cantilever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▍左圖就是 Müller-Breslau 的畫面：拿掉 B、把 B 頂高，得到的形狀直接就是影響線的形狀。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▍要「定量」只差一步：把整條撓曲線除以 B 點自己的撓度 δ_BB，讓 B 處剛好等於 1。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▍IL_R_B 是三次曲線，跨中值 5/16 = 0.3125 是個值得背的數字。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▍IL_M_A 的峰值 1.1547 m 出現在 x = 2.5359 m —— 記「約 0.42L」比記公式實用。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▍影響線面積是最好的自我驗算：3L/8 與 L²/8 正好是 propped cantilever 全跨均佈的兩個標準答案。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89912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兩跨連續梁 R_B 的影響線（沿用同一根梁）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9494215" y="530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靜不定｜柔度法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1185855" cy="603504"/>
          </a:xfrm>
          <a:prstGeom prst="roundRect">
            <a:avLst>
              <a:gd name="adj" fmla="val 10606"/>
            </a:avLst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A(0) — B(6) — C(14)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0091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1531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1531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m + 8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7262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8702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68702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 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14433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5873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多餘力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05873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R_B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51604" y="1225296"/>
            <a:ext cx="0" cy="384048"/>
          </a:xfrm>
          <a:prstGeom prst="line">
            <a:avLst/>
          </a:prstGeom>
          <a:noFill/>
          <a:ln w="12700">
            <a:solidFill>
              <a:srgbClr val="B9CA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3044" y="1179576"/>
            <a:ext cx="2054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43044" y="1389888"/>
            <a:ext cx="20542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IL_R_B 與全跨均佈的 R_B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基本結構＝簡支梁 AC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58952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拿掉 B 支承 → 一根 14 m 的簡支梁。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 B（a = 6、b = 8）施加單位力。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δ_BB = a²b²/3LEI = 54.857/EI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撓曲線分兩段寫（x ≤ a 與 x ≥ a）。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0148" y="1883664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0148" y="1883664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1316" y="2066544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9" name="Text 27"/>
          <p:cNvSpPr/>
          <p:nvPr/>
        </p:nvSpPr>
        <p:spPr>
          <a:xfrm>
            <a:off x="6411316" y="2066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31940" y="2048256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相除得到影響線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66180" y="2468880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IL_R_B(x) = δ(x, B)/δ_BB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3 m：0.6406　x = 6 m：1.000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10 m：0.7500　x = 0 與 14 m：0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Maxwell 互換定理保證這樣算出來就是影響線。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04088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峰值大於 1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8952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峰值 1.0143 出現在 x = 6.697 m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不在 B 的正上方，而是稍微偏向較長的右跨。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靜不定反力影響線的峰值可以超過 1，不要看到 &gt;1 就以為算錯。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 A、C 兩個支承處仍然嚴格為 0。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0148" y="3931920"/>
            <a:ext cx="5478628" cy="1847088"/>
          </a:xfrm>
          <a:prstGeom prst="roundRect">
            <a:avLst>
              <a:gd name="adj" fmla="val 3465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0148" y="3931920"/>
            <a:ext cx="5478628" cy="457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11316" y="411480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1" name="Text 39"/>
          <p:cNvSpPr/>
          <p:nvPr/>
        </p:nvSpPr>
        <p:spPr>
          <a:xfrm>
            <a:off x="6411316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31940" y="4096512"/>
            <a:ext cx="4673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面積驗算：三彎矩法對照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66180" y="4517136"/>
            <a:ext cx="496656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∫IL_R_B dx = 8.8958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三彎矩法：M_B = −6.5000w → R_B = 8.8958w ✓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全跨同號（全正）⇒ 兩跨都鋪滿才最不利。</a:t>
            </a:r>
            <a:endParaRPr lang="en-US" sz="115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 M_B 或跨中彎矩的 IL 有正有負，就要逐跨挑同號區。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02920" y="5907024"/>
            <a:ext cx="11185855" cy="603504"/>
          </a:xfrm>
          <a:prstGeom prst="roundRect">
            <a:avLst>
              <a:gd name="adj" fmla="val 12121"/>
            </a:avLst>
          </a:prstGeom>
          <a:solidFill>
            <a:srgbClr val="1B2A41"/>
          </a:solidFill>
          <a:ln/>
        </p:spPr>
      </p:sp>
      <p:sp>
        <p:nvSpPr>
          <p:cNvPr id="45" name="Text 43"/>
          <p:cNvSpPr/>
          <p:nvPr/>
        </p:nvSpPr>
        <p:spPr>
          <a:xfrm>
            <a:off x="722376" y="59070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417320" y="5907024"/>
            <a:ext cx="9997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IL_R_B 全跨為正，峰值 1.0143 在 x = 6.697 m（B 的右側）；面積 8.8958 與三彎矩法的 R_B = 8.8958w 完全一致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EXAMPLE 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曲線 vs 折線：同一根梁的兩種可能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10／11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0_continuous_beam_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▍虛線是「兩根各自簡支」的折線；實線是連續梁的光滑曲線。連續性把折角磨成了曲線。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▍峰值 1.0143 略大於 1，而且落在 x = 6.697 m（B 右側）—— 較長的跨把最低點拉了過去。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▍連續梁的反力影響線全跨同號，所以活載重要鋪滿兩跨才最不利，不必分區。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▍面積 8.8958 與三彎矩法算出的 R_B = 8.8958w 完全相同 —— 這是最有說服力的驗算。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▍把同一根梁在最小功法、傾角變位法、矩陣分析法、影響線四個單元對照，四種語言講的是同一件事。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EXAM SOP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考場五步驟：從「問什麼」到「取多少」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237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問的是什麼？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 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拿掉該支承，沿正向 Δ = 1。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273552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73552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 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8952" y="3694176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切開斷面，錯動 1 且平行。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389120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 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" y="4809744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插入鉸，相對轉角 1 rad。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18900000">
            <a:off x="2575499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94955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94955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20" name="Text 18"/>
          <p:cNvSpPr/>
          <p:nvPr/>
        </p:nvSpPr>
        <p:spPr>
          <a:xfrm>
            <a:off x="3014411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4411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結構還撐得住嗎？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2977835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2977835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變成機構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50987" y="2578608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 → 剛體旋轉 → 折線。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77835" y="3273552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26" name="Text 24"/>
          <p:cNvSpPr/>
          <p:nvPr/>
        </p:nvSpPr>
        <p:spPr>
          <a:xfrm>
            <a:off x="2977835" y="3273552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仍然穩定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50987" y="3694176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 → 彈性彎曲 → 曲線。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77835" y="4389120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29" name="Text 27"/>
          <p:cNvSpPr/>
          <p:nvPr/>
        </p:nvSpPr>
        <p:spPr>
          <a:xfrm>
            <a:off x="2977835" y="4389120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有內鉸？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50987" y="4809744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先分主段與從段。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 rot="18900000">
            <a:off x="4867534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32" name="Shape 30"/>
          <p:cNvSpPr/>
          <p:nvPr/>
        </p:nvSpPr>
        <p:spPr>
          <a:xfrm>
            <a:off x="508699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8699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4" name="Text 32"/>
          <p:cNvSpPr/>
          <p:nvPr/>
        </p:nvSpPr>
        <p:spPr>
          <a:xfrm>
            <a:off x="530644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30644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怎麼定量？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26987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37" name="Text 35"/>
          <p:cNvSpPr/>
          <p:nvPr/>
        </p:nvSpPr>
        <p:spPr>
          <a:xfrm>
            <a:off x="526987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3022" y="2578608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ab/L、−a/L、+b/L 直接套。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269870" y="3273552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40" name="Text 38"/>
          <p:cNvSpPr/>
          <p:nvPr/>
        </p:nvSpPr>
        <p:spPr>
          <a:xfrm>
            <a:off x="5269870" y="3273552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靜定桁架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3022" y="3694176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除以 h、V 除以 sinθ。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269870" y="4389120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43" name="Text 41"/>
          <p:cNvSpPr/>
          <p:nvPr/>
        </p:nvSpPr>
        <p:spPr>
          <a:xfrm>
            <a:off x="5269870" y="4389120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3022" y="4809744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柔度法：IL = δ 的比值。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 rot="18900000">
            <a:off x="7159569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46" name="Shape 44"/>
          <p:cNvSpPr/>
          <p:nvPr/>
        </p:nvSpPr>
        <p:spPr>
          <a:xfrm>
            <a:off x="7379025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379025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48" name="Text 46"/>
          <p:cNvSpPr/>
          <p:nvPr/>
        </p:nvSpPr>
        <p:spPr>
          <a:xfrm>
            <a:off x="7598481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598481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載重是哪一種？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7561905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51" name="Text 49"/>
          <p:cNvSpPr/>
          <p:nvPr/>
        </p:nvSpPr>
        <p:spPr>
          <a:xfrm>
            <a:off x="7561905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 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635057" y="2578608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擺在峰值：S = P × y_max。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561905" y="3273552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54" name="Text 52"/>
          <p:cNvSpPr/>
          <p:nvPr/>
        </p:nvSpPr>
        <p:spPr>
          <a:xfrm>
            <a:off x="7561905" y="3273552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均佈 w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635057" y="3694176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只鋪同號區：S = w × A⁺。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561905" y="4389120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57" name="Text 55"/>
          <p:cNvSpPr/>
          <p:nvPr/>
        </p:nvSpPr>
        <p:spPr>
          <a:xfrm>
            <a:off x="7561905" y="4389120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車隊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635057" y="4809744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把輪重擺到折點上試。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 rot="18900000">
            <a:off x="9451604" y="1572768"/>
            <a:ext cx="164592" cy="164592"/>
          </a:xfrm>
          <a:prstGeom prst="rtTriangle">
            <a:avLst/>
          </a:prstGeom>
          <a:solidFill>
            <a:srgbClr val="E8734A"/>
          </a:solidFill>
          <a:ln/>
        </p:spPr>
      </p:sp>
      <p:sp>
        <p:nvSpPr>
          <p:cNvPr id="60" name="Shape 58"/>
          <p:cNvSpPr/>
          <p:nvPr/>
        </p:nvSpPr>
        <p:spPr>
          <a:xfrm>
            <a:off x="9671060" y="1316736"/>
            <a:ext cx="2017715" cy="4224528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 w="15240">
            <a:solidFill>
              <a:srgbClr val="4C6B8A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671060" y="1316736"/>
            <a:ext cx="2017715" cy="658368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62" name="Text 60"/>
          <p:cNvSpPr/>
          <p:nvPr/>
        </p:nvSpPr>
        <p:spPr>
          <a:xfrm>
            <a:off x="9890516" y="1371600"/>
            <a:ext cx="15788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5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890516" y="1591056"/>
            <a:ext cx="15788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檢查過了嗎？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9853940" y="2157984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65" name="Text 63"/>
          <p:cNvSpPr/>
          <p:nvPr/>
        </p:nvSpPr>
        <p:spPr>
          <a:xfrm>
            <a:off x="9853940" y="2157984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支承點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927092" y="2578608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未移動的支承處必為 0。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9853940" y="3273552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DCE6F0"/>
          </a:solidFill>
          <a:ln/>
        </p:spPr>
      </p:sp>
      <p:sp>
        <p:nvSpPr>
          <p:cNvPr id="68" name="Text 66"/>
          <p:cNvSpPr/>
          <p:nvPr/>
        </p:nvSpPr>
        <p:spPr>
          <a:xfrm>
            <a:off x="9853940" y="3273552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剪力跳躍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927092" y="3694176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斷面左右之差 = 1。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9853940" y="4389120"/>
            <a:ext cx="1651955" cy="384048"/>
          </a:xfrm>
          <a:prstGeom prst="roundRect">
            <a:avLst>
              <a:gd name="adj" fmla="val 50000"/>
            </a:avLst>
          </a:prstGeom>
          <a:solidFill>
            <a:srgbClr val="FBE1DE"/>
          </a:solidFill>
          <a:ln/>
        </p:spPr>
      </p:sp>
      <p:sp>
        <p:nvSpPr>
          <p:cNvPr id="71" name="Text 69"/>
          <p:cNvSpPr/>
          <p:nvPr/>
        </p:nvSpPr>
        <p:spPr>
          <a:xfrm>
            <a:off x="9853940" y="4389120"/>
            <a:ext cx="16519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量綱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927092" y="4809744"/>
            <a:ext cx="150565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R、V 無因次；M 帶 m。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502920" y="5687568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1B2A41"/>
          </a:solidFill>
          <a:ln/>
        </p:spPr>
      </p:sp>
      <p:sp>
        <p:nvSpPr>
          <p:cNvPr id="74" name="Text 72"/>
          <p:cNvSpPr/>
          <p:nvPr/>
        </p:nvSpPr>
        <p:spPr>
          <a:xfrm>
            <a:off x="777240" y="568756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五個問題按順序問完，形狀、數值與取值就都定了 —— 影響線題目沒有需要靈感的地方。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一張圖收束整個單元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494215" y="548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圖解 11／11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6693408" cy="5047488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12700">
            <a:solidFill>
              <a:srgbClr val="DFE6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pic>
        <p:nvPicPr>
          <p:cNvPr id="6" name="Image 0" descr="diagram_imgs/d11_pano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431316"/>
            <a:ext cx="6583680" cy="4635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34072" y="1225296"/>
            <a:ext cx="4254703" cy="5047488"/>
          </a:xfrm>
          <a:prstGeom prst="roundRect">
            <a:avLst>
              <a:gd name="adj" fmla="val 128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34072" y="1225296"/>
            <a:ext cx="4254703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6"/>
          <p:cNvSpPr/>
          <p:nvPr/>
        </p:nvSpPr>
        <p:spPr>
          <a:xfrm>
            <a:off x="7671816" y="1408176"/>
            <a:ext cx="37975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看懂這張圖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71816" y="1792224"/>
            <a:ext cx="377921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▍左欄是考場五步驟，中欄是三種束制的特徵，右欄是本講義六題的定位。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▍四題靜定（①②③④）只用靜力平衡；兩題靜不定（⑤⑥）都走柔度法 IL = δ 比值。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▍「拆束制 → 給單位位移」負責形狀；「靜力平衡」負責數值；「同號區與折點」負責最大效應。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▍三種束制的單位檢查是最後一道防線：算出來的彎矩 IL 若沒有長度單位，一定哪裡搞混了。</a:t>
            </a: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endParaRPr lang="en-US" sz="122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2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▍把這張圖記住，考場上就不必回想公式，只要回想「我現在在第幾步」。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全公式速查（1／2）：定義、原理與靜定梁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IL 的橫軸</a:t>
            </a:r>
            <a:endParaRPr lang="en-US" sz="1100" dirty="0"/>
          </a:p>
        </p:txBody>
      </p:sp>
      <p:pic>
        <p:nvPicPr>
          <p:cNvPr id="7" name="Image 0" descr="formula_imgs/s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811923"/>
            <a:ext cx="2352980" cy="3355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BMD 的橫軸</a:t>
            </a:r>
            <a:endParaRPr lang="en-US" sz="1100" dirty="0"/>
          </a:p>
        </p:txBody>
      </p:sp>
      <p:pic>
        <p:nvPicPr>
          <p:cNvPr id="11" name="Image 1" descr="formula_imgs/s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80" y="1847466"/>
            <a:ext cx="2352980" cy="26441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 IL 量綱</a:t>
            </a:r>
            <a:endParaRPr lang="en-US" sz="1100" dirty="0"/>
          </a:p>
        </p:txBody>
      </p:sp>
      <p:pic>
        <p:nvPicPr>
          <p:cNvPr id="15" name="Image 2" descr="formula_imgs/s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047" y="1682496"/>
            <a:ext cx="1980357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反力／剪力 IL 量綱</a:t>
            </a:r>
            <a:endParaRPr lang="en-US" sz="1100" dirty="0"/>
          </a:p>
        </p:txBody>
      </p:sp>
      <p:pic>
        <p:nvPicPr>
          <p:cNvPr id="19" name="Image 3" descr="formula_imgs/s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7827" y="1682496"/>
            <a:ext cx="1976308" cy="5943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Müller-Breslau</a:t>
            </a:r>
            <a:endParaRPr lang="en-US" sz="1100" dirty="0"/>
          </a:p>
        </p:txBody>
      </p:sp>
      <p:pic>
        <p:nvPicPr>
          <p:cNvPr id="23" name="Image 4" descr="formula_imgs/s2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045967"/>
            <a:ext cx="2352980" cy="44602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單位廣義位移</a:t>
            </a:r>
            <a:endParaRPr lang="en-US" sz="1100" dirty="0"/>
          </a:p>
        </p:txBody>
      </p:sp>
      <p:pic>
        <p:nvPicPr>
          <p:cNvPr id="27" name="Image 5" descr="formula_imgs/s2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5980" y="3016557"/>
            <a:ext cx="2352980" cy="504845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Maxwell 互換</a:t>
            </a:r>
            <a:endParaRPr lang="en-US" sz="1100" dirty="0"/>
          </a:p>
        </p:txBody>
      </p:sp>
      <p:pic>
        <p:nvPicPr>
          <p:cNvPr id="31" name="Image 6" descr="formula_imgs/s2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1259" y="2971800"/>
            <a:ext cx="1455932" cy="5943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剪力跳躍</a:t>
            </a:r>
            <a:endParaRPr lang="en-US" sz="1100" dirty="0"/>
          </a:p>
        </p:txBody>
      </p:sp>
      <p:pic>
        <p:nvPicPr>
          <p:cNvPr id="35" name="Image 7" descr="formula_imgs/s2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9124" y="2971800"/>
            <a:ext cx="2073714" cy="59436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簡支梁反力</a:t>
            </a:r>
            <a:endParaRPr lang="en-US" sz="1100" dirty="0"/>
          </a:p>
        </p:txBody>
      </p:sp>
      <p:pic>
        <p:nvPicPr>
          <p:cNvPr id="39" name="Image 8" descr="formula_imgs/s3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340948"/>
            <a:ext cx="2352980" cy="434673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彎矩峰值</a:t>
            </a:r>
            <a:endParaRPr lang="en-US" sz="1100" dirty="0"/>
          </a:p>
        </p:txBody>
      </p:sp>
      <p:pic>
        <p:nvPicPr>
          <p:cNvPr id="43" name="Image 9" descr="formula_imgs/s3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5980" y="4307135"/>
            <a:ext cx="2352980" cy="502298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剪力左右</a:t>
            </a:r>
            <a:endParaRPr lang="en-US" sz="1100" dirty="0"/>
          </a:p>
        </p:txBody>
      </p:sp>
      <p:pic>
        <p:nvPicPr>
          <p:cNvPr id="47" name="Image 10" descr="formula_imgs/s3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2736" y="4367720"/>
            <a:ext cx="2352980" cy="381128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跨中最大</a:t>
            </a:r>
            <a:endParaRPr lang="en-US" sz="1100" dirty="0"/>
          </a:p>
        </p:txBody>
      </p:sp>
      <p:pic>
        <p:nvPicPr>
          <p:cNvPr id="51" name="Image 11" descr="formula_imgs/s3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7631" y="4261104"/>
            <a:ext cx="2276701" cy="59436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集中力效應</a:t>
            </a:r>
            <a:endParaRPr lang="en-US" sz="1100" dirty="0"/>
          </a:p>
        </p:txBody>
      </p:sp>
      <p:pic>
        <p:nvPicPr>
          <p:cNvPr id="55" name="Image 12" descr="formula_imgs/s4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238" y="5550408"/>
            <a:ext cx="2078951" cy="59436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均佈效應</a:t>
            </a:r>
            <a:endParaRPr lang="en-US" sz="1100" dirty="0"/>
          </a:p>
        </p:txBody>
      </p:sp>
      <p:pic>
        <p:nvPicPr>
          <p:cNvPr id="59" name="Image 13" descr="formula_imgs/s4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18090" y="5550408"/>
            <a:ext cx="1908760" cy="59436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M_C 的 IL 面積</a:t>
            </a:r>
            <a:endParaRPr lang="en-US" sz="1100" dirty="0"/>
          </a:p>
        </p:txBody>
      </p:sp>
      <p:pic>
        <p:nvPicPr>
          <p:cNvPr id="63" name="Image 14" descr="formula_imgs/s4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06757" y="5550408"/>
            <a:ext cx="1824936" cy="59436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V_C 的 IL 面積</a:t>
            </a:r>
            <a:endParaRPr lang="en-US" sz="1100" dirty="0"/>
          </a:p>
        </p:txBody>
      </p:sp>
      <p:pic>
        <p:nvPicPr>
          <p:cNvPr id="67" name="Image 15" descr="formula_imgs/s4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49335" y="5550408"/>
            <a:ext cx="2233293" cy="594360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全公式速查（2／2）：桁架與靜不定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桁架弦桿</a:t>
            </a:r>
            <a:endParaRPr lang="en-US" sz="1100" dirty="0"/>
          </a:p>
        </p:txBody>
      </p:sp>
      <p:pic>
        <p:nvPicPr>
          <p:cNvPr id="7" name="Image 0" descr="formula_imgs/s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32875"/>
            <a:ext cx="2352980" cy="49360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9676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9676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0" name="Text 7"/>
          <p:cNvSpPr/>
          <p:nvPr/>
        </p:nvSpPr>
        <p:spPr>
          <a:xfrm>
            <a:off x="3477692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桁架斜桿</a:t>
            </a:r>
            <a:endParaRPr lang="en-US" sz="1100" dirty="0"/>
          </a:p>
        </p:txBody>
      </p:sp>
      <p:pic>
        <p:nvPicPr>
          <p:cNvPr id="11" name="Image 1" descr="formula_imgs/s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80" y="1711546"/>
            <a:ext cx="2352980" cy="53626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96432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96432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4" name="Text 10"/>
          <p:cNvSpPr/>
          <p:nvPr/>
        </p:nvSpPr>
        <p:spPr>
          <a:xfrm>
            <a:off x="6324448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45° 斜桿</a:t>
            </a:r>
            <a:endParaRPr lang="en-US" sz="1100" dirty="0"/>
          </a:p>
        </p:txBody>
      </p:sp>
      <p:pic>
        <p:nvPicPr>
          <p:cNvPr id="15" name="Image 2" descr="formula_imgs/s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736" y="1760052"/>
            <a:ext cx="2352980" cy="43924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43187" y="1298448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043187" y="1298448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8" name="Text 13"/>
          <p:cNvSpPr/>
          <p:nvPr/>
        </p:nvSpPr>
        <p:spPr>
          <a:xfrm>
            <a:off x="9171203" y="1389888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節間為直線</a:t>
            </a:r>
            <a:endParaRPr lang="en-US" sz="1100" dirty="0"/>
          </a:p>
        </p:txBody>
      </p:sp>
      <p:pic>
        <p:nvPicPr>
          <p:cNvPr id="19" name="Image 3" descr="formula_imgs/s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491" y="1819085"/>
            <a:ext cx="2352980" cy="32118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02920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2" name="Text 16"/>
          <p:cNvSpPr/>
          <p:nvPr/>
        </p:nvSpPr>
        <p:spPr>
          <a:xfrm>
            <a:off x="630936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柔度法通式</a:t>
            </a:r>
            <a:endParaRPr lang="en-US" sz="1100" dirty="0"/>
          </a:p>
        </p:txBody>
      </p:sp>
      <p:pic>
        <p:nvPicPr>
          <p:cNvPr id="23" name="Image 4" descr="formula_imgs/s6_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026937"/>
            <a:ext cx="2352980" cy="484087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49676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49676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26" name="Text 19"/>
          <p:cNvSpPr/>
          <p:nvPr/>
        </p:nvSpPr>
        <p:spPr>
          <a:xfrm>
            <a:off x="3477692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懸臂端撓度</a:t>
            </a:r>
            <a:endParaRPr lang="en-US" sz="1100" dirty="0"/>
          </a:p>
        </p:txBody>
      </p:sp>
      <p:pic>
        <p:nvPicPr>
          <p:cNvPr id="27" name="Image 5" descr="formula_imgs/s6_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5980" y="2997815"/>
            <a:ext cx="2352980" cy="54233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96432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196432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0" name="Text 22"/>
          <p:cNvSpPr/>
          <p:nvPr/>
        </p:nvSpPr>
        <p:spPr>
          <a:xfrm>
            <a:off x="6324448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簡支梁跨內撓度</a:t>
            </a:r>
            <a:endParaRPr lang="en-US" sz="1100" dirty="0"/>
          </a:p>
        </p:txBody>
      </p:sp>
      <p:pic>
        <p:nvPicPr>
          <p:cNvPr id="31" name="Image 6" descr="formula_imgs/s6_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2736" y="3046784"/>
            <a:ext cx="2352980" cy="444393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43187" y="2587752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043187" y="2587752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4" name="Text 25"/>
          <p:cNvSpPr/>
          <p:nvPr/>
        </p:nvSpPr>
        <p:spPr>
          <a:xfrm>
            <a:off x="9171203" y="2679192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EI 會消掉</a:t>
            </a:r>
            <a:endParaRPr lang="en-US" sz="1100" dirty="0"/>
          </a:p>
        </p:txBody>
      </p:sp>
      <p:pic>
        <p:nvPicPr>
          <p:cNvPr id="35" name="Image 7" descr="formula_imgs/s6_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491" y="3026195"/>
            <a:ext cx="2352980" cy="485569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02920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02920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38" name="Text 28"/>
          <p:cNvSpPr/>
          <p:nvPr/>
        </p:nvSpPr>
        <p:spPr>
          <a:xfrm>
            <a:off x="630936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 R_B</a:t>
            </a:r>
            <a:endParaRPr lang="en-US" sz="1100" dirty="0"/>
          </a:p>
        </p:txBody>
      </p:sp>
      <p:pic>
        <p:nvPicPr>
          <p:cNvPr id="39" name="Image 8" descr="formula_imgs/s7_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485" y="4261104"/>
            <a:ext cx="1950457" cy="59436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49676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349676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2" name="Text 31"/>
          <p:cNvSpPr/>
          <p:nvPr/>
        </p:nvSpPr>
        <p:spPr>
          <a:xfrm>
            <a:off x="3477692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 M_A</a:t>
            </a:r>
            <a:endParaRPr lang="en-US" sz="1100" dirty="0"/>
          </a:p>
        </p:txBody>
      </p:sp>
      <p:pic>
        <p:nvPicPr>
          <p:cNvPr id="43" name="Image 9" descr="formula_imgs/s7_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6364" y="4261104"/>
            <a:ext cx="1912212" cy="59436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96432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6196432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46" name="Text 34"/>
          <p:cNvSpPr/>
          <p:nvPr/>
        </p:nvSpPr>
        <p:spPr>
          <a:xfrm>
            <a:off x="6324448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 峰值</a:t>
            </a:r>
            <a:endParaRPr lang="en-US" sz="1100" dirty="0"/>
          </a:p>
        </p:txBody>
      </p:sp>
      <p:pic>
        <p:nvPicPr>
          <p:cNvPr id="47" name="Image 10" descr="formula_imgs/s7_3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8439" y="4261104"/>
            <a:ext cx="1961572" cy="5943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43187" y="3877056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9043187" y="3877056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0" name="Text 37"/>
          <p:cNvSpPr/>
          <p:nvPr/>
        </p:nvSpPr>
        <p:spPr>
          <a:xfrm>
            <a:off x="9171203" y="3968496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 峰值位置</a:t>
            </a:r>
            <a:endParaRPr lang="en-US" sz="1100" dirty="0"/>
          </a:p>
        </p:txBody>
      </p:sp>
      <p:pic>
        <p:nvPicPr>
          <p:cNvPr id="51" name="Image 11" descr="formula_imgs/s7_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7555" y="4261104"/>
            <a:ext cx="2216852" cy="59436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502920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3" name="Shape 39"/>
          <p:cNvSpPr/>
          <p:nvPr/>
        </p:nvSpPr>
        <p:spPr>
          <a:xfrm>
            <a:off x="502920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4" name="Text 40"/>
          <p:cNvSpPr/>
          <p:nvPr/>
        </p:nvSpPr>
        <p:spPr>
          <a:xfrm>
            <a:off x="630936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R_B 面積</a:t>
            </a:r>
            <a:endParaRPr lang="en-US" sz="1100" dirty="0"/>
          </a:p>
        </p:txBody>
      </p:sp>
      <p:pic>
        <p:nvPicPr>
          <p:cNvPr id="55" name="Image 12" descr="formula_imgs/s8_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938" y="5550408"/>
            <a:ext cx="1407553" cy="59436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49676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57" name="Shape 42"/>
          <p:cNvSpPr/>
          <p:nvPr/>
        </p:nvSpPr>
        <p:spPr>
          <a:xfrm>
            <a:off x="3349676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58" name="Text 43"/>
          <p:cNvSpPr/>
          <p:nvPr/>
        </p:nvSpPr>
        <p:spPr>
          <a:xfrm>
            <a:off x="3477692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M_A 面積</a:t>
            </a:r>
            <a:endParaRPr lang="en-US" sz="1100" dirty="0"/>
          </a:p>
        </p:txBody>
      </p:sp>
      <p:pic>
        <p:nvPicPr>
          <p:cNvPr id="59" name="Image 13" descr="formula_imgs/s8_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49107" y="5550408"/>
            <a:ext cx="1446726" cy="59436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96432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6196432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2" name="Text 46"/>
          <p:cNvSpPr/>
          <p:nvPr/>
        </p:nvSpPr>
        <p:spPr>
          <a:xfrm>
            <a:off x="6324448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桁架靜不定度</a:t>
            </a:r>
            <a:endParaRPr lang="en-US" sz="1100" dirty="0"/>
          </a:p>
        </p:txBody>
      </p:sp>
      <p:pic>
        <p:nvPicPr>
          <p:cNvPr id="63" name="Image 14" descr="formula_imgs/s8_3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2736" y="5605024"/>
            <a:ext cx="2352980" cy="485128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43187" y="5166360"/>
            <a:ext cx="2645588" cy="1106424"/>
          </a:xfrm>
          <a:prstGeom prst="roundRect">
            <a:avLst>
              <a:gd name="adj" fmla="val 495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5" name="Shape 48"/>
          <p:cNvSpPr/>
          <p:nvPr/>
        </p:nvSpPr>
        <p:spPr>
          <a:xfrm>
            <a:off x="9043187" y="5166360"/>
            <a:ext cx="2645588" cy="41148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66" name="Text 49"/>
          <p:cNvSpPr/>
          <p:nvPr/>
        </p:nvSpPr>
        <p:spPr>
          <a:xfrm>
            <a:off x="9171203" y="5257800"/>
            <a:ext cx="23895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剛架靜不定度</a:t>
            </a:r>
            <a:endParaRPr lang="en-US" sz="1100" dirty="0"/>
          </a:p>
        </p:txBody>
      </p:sp>
      <p:pic>
        <p:nvPicPr>
          <p:cNvPr id="67" name="Image 15" descr="formula_imgs/s8_4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47452" y="5550408"/>
            <a:ext cx="2037058" cy="594360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高頻陷阱（一）：觀念與繪圖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IL 當成彎矩圖讀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影響線的橫軸是「載重位置」，不是斷面位置。算出彎矩 IL 的峰值帶著 kN 或 kN·m，就代表把 IL 與 BMD 混在一起了 —— 正確答案是 2.4 m。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剪力影響線的兩段畫成不平行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Müller-Breslau 的剪力拆法要求「相對錯動 1、但保持平行」。兩段斜率必須相同（都是 −1/L），跳躍量才會剛好等於 1。畫成一個 V 字形是最常見的錯誤。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彎矩影響線在斷面處畫成跳躍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插入鉸只釋放轉角，位移仍然連續，所以彎矩 IL 在斷面處是折點（尖角）而不是跳躍。只有剪力 IL 才會跳。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靜不定題硬要找 EI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 IL 是位移比值 δ(x,X)/δ_XX，EI 為常數時分子分母一起消掉。題目沒給 EI 不是漏給，是不需要 —— 除非各跨 EI 不同。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高頻陷阱（二）：取值與特殊結構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把可佈置的均佈載重鋪滿全長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活載重可以出現也可以不出現，求最大值時只鋪同號區。本講義例題中，鋪滿全長讓最大剪力從 36 kN 掉到 20 kN，低估 44.4 %，設計不保守。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23864" y="1298448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23864" y="1298448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388456" y="1408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9352" y="1389888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Gerber 梁沒先分主段與從段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61608" y="1737360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載重在從段會經內鉸傳回主段；載重在主段則完全不影響從段，所以從段反力的 IL 在主段區域恆為 0。沒分清楚就會在主段區域硬算出數值。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78408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 IL 在節間畫成曲線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載重靠縱梁只能傳到節點，所以節點之間必為直線。另外斜桿只用 sinθ（本例 0.7071），不要拿桿長去除。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877056"/>
            <a:ext cx="5464912" cy="2395728"/>
          </a:xfrm>
          <a:prstGeom prst="roundRect">
            <a:avLst>
              <a:gd name="adj" fmla="val 2290"/>
            </a:avLst>
          </a:prstGeom>
          <a:solidFill>
            <a:srgbClr val="FBE1DE"/>
          </a:solidFill>
          <a:ln w="12700">
            <a:solidFill>
              <a:srgbClr val="EFC4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23864" y="3877056"/>
            <a:ext cx="50292" cy="2395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388456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9352" y="3968496"/>
            <a:ext cx="480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看到靜不定峰值 &gt; 1 就以為算錯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61608" y="4315968"/>
            <a:ext cx="49894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連續梁的 R_B 影響線峰值可以超過 1（本例 1.0143），Gerber 梁的 R_B 在懸出端更可以到 1.375。只有「該支承自己被單位載重直接壓住」的那一點才必定等於 1。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五句話帶走這個單元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715414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171541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3619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影響線是視角切換：斷面固定、載重移動。橫軸是載重位置，縱座標是「單位載重站在那裡時的反應值」。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156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695651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" y="269565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51642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Müller-Breslau 負責形狀：拆掉束制、給單位廣義位移，畫出來的變形曲線就是影響線 —— 根源是貝蒂互換定理。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41802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3675888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496666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折線或曲線一秒判斷：拆掉束制後變成機構就是折線（靜定、與 EI 無關），仍然穩定就是曲線（靜不定、EI 會消掉）。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22038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" y="4656125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" y="465612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76902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定量只有三條路：靜定梁套 ab/L 與 ±a/L、±b/L；桁架除以 h 或 sinθ；靜不定用柔度法 IL = δ(x,X)/δ_XX。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402275"/>
            <a:ext cx="11185855" cy="833933"/>
          </a:xfrm>
          <a:prstGeom prst="roundRect">
            <a:avLst>
              <a:gd name="adj" fmla="val 6579"/>
            </a:avLst>
          </a:prstGeom>
          <a:solidFill>
            <a:srgbClr val="F4F6F9"/>
          </a:solidFill>
          <a:ln w="12700">
            <a:solidFill>
              <a:srgbClr val="DFE6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5636362"/>
            <a:ext cx="365760" cy="36576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56363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457139"/>
            <a:ext cx="10216591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2A3F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最大效應：集中力擺峰值、均佈只鋪同號區、車隊逐一試折點。最後用支承點、剪力跳躍、量綱三項花 10 秒檢查。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DF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SA-U1-3 靜定及靜不定結構影響線｜觀念講義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2026-09-17T07:53:15Z</dcterms:created>
  <dcterms:modified xsi:type="dcterms:W3CDTF">2026-09-17T07:53:15Z</dcterms:modified>
</cp:coreProperties>
</file>