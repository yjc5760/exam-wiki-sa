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95728"/>
            <a:ext cx="118872" cy="1828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　結構學｜靜不定結構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" y="2505456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靜不定結構最小功法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3584448"/>
            <a:ext cx="3840480" cy="0"/>
          </a:xfrm>
          <a:prstGeom prst="line">
            <a:avLst/>
          </a:prstGeom>
          <a:noFill/>
          <a:ln w="19050">
            <a:solidFill>
              <a:srgbClr val="93A9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3075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∂U/∂X = 0 看起來像能量原理，其實只是一句話：多餘力方向的位移為零。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本講義從這個缺口歸零的物理直覺出發，串起最小功法、單位力法與諧合變位法三張臉，走完五步驟 SOP，涵蓋梁、連續梁、桁架、混合結構與對稱剛架。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3200400" cy="402336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463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觀念講義｜31 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這個單元要建立的四件事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53312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1627632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71016" y="1600200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∂U/∂X = 0 的物理本質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2139696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拆掉一個支承，結構在該處會掉出一個位移缺口 Δ₀；多餘力 X 的唯一任務就是把缺口推回零。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把「缺口歸零」寫成能量語言就是 ∂U/∂X = 0 —— 諧合條件換個寫法而已，沒有新的物理。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353312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3008" y="1353312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89040" y="1627632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01104" y="1600200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為什麼叫「最小」功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25616" y="2139696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彎矩對多餘力是一次式 M = M₀ + Xm，代入 U = ∫M²/2EI 後 U(X) 是開口向上的拋物線。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二次項係數 ∫m²/2EI 恆為正，所以駐點必為最小值 —— 「最小」是數學副產品，不是物理前提。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803904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803904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4078224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71016" y="4050792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三張臉同源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5528" y="4590288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橋樑只有一條：∂M/∂X ≡ m。最小功法的偏微分、單位力法的圖形相乘、諧合變位法的柔度方程，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展開後是同一條 ∫Mm/EI dx = 0。認得這件事，三種題型的解法就只剩一種。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3008" y="3803904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3008" y="3803904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89040" y="4078224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5" name="Text 23"/>
          <p:cNvSpPr/>
          <p:nvPr/>
        </p:nvSpPr>
        <p:spPr>
          <a:xfrm>
            <a:off x="648904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01104" y="4050792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應變能盤點與五步驟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25616" y="4590288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有彎曲、軸向、剪力、扭轉四項；題目給了什麼常數就是在暗示留哪一項。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定下 U 之後照五步驟走：選多餘力 → 寫 M(x, X) → 偏微分 → 令 ∂U/∂X = 0 → 求位移與轉角。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一句話搞定最小功法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1／11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1_gap_z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▍∂U/∂X = 0 的意思是「多餘力 X 作用方向上的位移為零」—— 因為那個地方本來就不准動。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▍步驟只有三格：① 原結構解不出來 → ② 拆掉多餘的支承變靜定，量出位移缺口 Δ₀ → ③ 放上多餘力 X，把缺口推回去 δ。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▍缺口歸零 Δ₀ − δ = 0 就是諧合條件。以例題① 代入：wL⁴/8EI = XL³/3EI ⇒ X = 3wL/8 = 54 kN。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▍所以「多餘力」不神祕：它是結構為了維持那個約束，非生出來不可的那個力。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▍考卷上寫理由時，寫「B 點位移為零」比寫「能量要最小」精準得多。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F1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卡氏第二定理與最小功法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卡氏第二定理</a:t>
            </a:r>
            <a:endParaRPr lang="en-US" sz="1300" dirty="0"/>
          </a:p>
        </p:txBody>
      </p:sp>
      <p:pic>
        <p:nvPicPr>
          <p:cNvPr id="7" name="Image 0" descr="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6067" y="1417320"/>
            <a:ext cx="2994162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最小功法（Least Work）</a:t>
            </a:r>
            <a:endParaRPr lang="en-US" sz="1300" dirty="0"/>
          </a:p>
        </p:txBody>
      </p:sp>
      <p:pic>
        <p:nvPicPr>
          <p:cNvPr id="11" name="Image 1" descr="formula_imgs/f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340" y="2459736"/>
            <a:ext cx="3581615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應變能（彎曲）</a:t>
            </a:r>
            <a:endParaRPr lang="en-US" sz="1300" dirty="0"/>
          </a:p>
        </p:txBody>
      </p:sp>
      <p:pic>
        <p:nvPicPr>
          <p:cNvPr id="15" name="Image 2" descr="formula_imgs/f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520" y="3502152"/>
            <a:ext cx="1309255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展開後的實作式</a:t>
            </a:r>
            <a:endParaRPr lang="en-US" sz="1300" dirty="0"/>
          </a:p>
        </p:txBody>
      </p:sp>
      <p:pic>
        <p:nvPicPr>
          <p:cNvPr id="19" name="Image 3" descr="formula_imgs/f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625" y="4544568"/>
            <a:ext cx="1999045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卡氏第二定理說「應變能對某個力偏微分 ＝ 該力方向的位移」。多餘力 X 的方向上位移是零，所以 ∂U/∂X = 0。換句話說，最小功法是卡氏第二定理在「位移已知為零」這個特例下的直接套用。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MINIMUM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「最小」是數學副產品，不是物理前提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2／11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2_parabo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▍橫軸是多餘力 X，縱軸是把 X 當成參數時整根梁的應變能 U(X)。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▍因為 M 對 X 是一次式，U(X) 一定是二次式；二次項係數 a = ∫m²/2EI dx 恆為正，開口必向上。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▍開口向上的拋物線，駐點就是最小值 —— 這就是「最小功」三個字的全部來源。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▍左端 X = 0 代表拆掉支承的懸臂（能量最大）；右端 X 太大代表把梁頂過頭，能量又升回去。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▍加上 B 支承後，應變能只剩懸臂的 1/16 —— 靜不定結構之所以「省材料」，這張圖就是理由。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F2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為什麼駐點一定是最小值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彎矩對 X 是一次式</a:t>
            </a:r>
            <a:endParaRPr lang="en-US" sz="1300" dirty="0"/>
          </a:p>
        </p:txBody>
      </p:sp>
      <p:pic>
        <p:nvPicPr>
          <p:cNvPr id="7" name="Image 0" descr="formula_imgs/f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2422" y="1417320"/>
            <a:ext cx="5021451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代入後 U 是二次式</a:t>
            </a:r>
            <a:endParaRPr lang="en-US" sz="1300" dirty="0"/>
          </a:p>
        </p:txBody>
      </p:sp>
      <p:pic>
        <p:nvPicPr>
          <p:cNvPr id="11" name="Image 1" descr="formula_imgs/f2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895" y="2459736"/>
            <a:ext cx="4212506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二次項係數恆為正</a:t>
            </a:r>
            <a:endParaRPr lang="en-US" sz="1300" dirty="0"/>
          </a:p>
        </p:txBody>
      </p:sp>
      <p:pic>
        <p:nvPicPr>
          <p:cNvPr id="15" name="Image 2" descr="formula_imgs/f2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620" y="3502152"/>
            <a:ext cx="3205055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直接解出多餘力</a:t>
            </a:r>
            <a:endParaRPr lang="en-US" sz="1300" dirty="0"/>
          </a:p>
        </p:txBody>
      </p:sp>
      <p:pic>
        <p:nvPicPr>
          <p:cNvPr id="19" name="Image 3" descr="formula_imgs/f2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507" y="4544568"/>
            <a:ext cx="1703282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最後一式就是諧合變位法的 X = −δ₁₀/δ₁₁。也就是說「求拋物線頂點」與「解柔度方程」在代數上是同一件事 —— 你用哪個名字都可以，計算過程一字不差。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THREE FACES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最小功法 ＝ 單位力法 ＝ 諧合變位法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3／11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3_three_fa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▍唯一要記的橋樑：∂M/∂X ≡ m。真實彎矩對多餘力偏微分，結果就是「單位多餘力造成的彎矩 m」。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▍所以 ∂U/∂X = ∫(M/EI)(∂M/∂X)dx 與單位力法的 ∫Mm/EI dx 是同一個積分，只是一個用微分求 m、一個用畫圖求 m。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▍再把 M = M₀ + Xm 拆開，就得到 δ₁₀ + δ₁₁X = 0 —— 諧合變位法的柔度方程。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▍實務上的分工：多餘力只有 1 個時用最小功法最快（不必畫第二張圖）；多餘力 2 個以上時寫成柔度矩陣比較不會亂。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▍柔度矩陣一定對稱（Maxwell–Betti），這是列完方程式後最快的自我檢查。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F3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三張臉的逐項對照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關鍵橋樑</a:t>
            </a:r>
            <a:endParaRPr lang="en-US" sz="1300" dirty="0"/>
          </a:p>
        </p:txBody>
      </p:sp>
      <p:pic>
        <p:nvPicPr>
          <p:cNvPr id="7" name="Image 0" descr="formula_imgs/f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3842" y="1417320"/>
            <a:ext cx="1358611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單位力法</a:t>
            </a:r>
            <a:endParaRPr lang="en-US" sz="1300" dirty="0"/>
          </a:p>
        </p:txBody>
      </p:sp>
      <p:pic>
        <p:nvPicPr>
          <p:cNvPr id="11" name="Image 1" descr="formula_imgs/f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603" y="2459736"/>
            <a:ext cx="1981089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諧合變位法（柔度方程）</a:t>
            </a:r>
            <a:endParaRPr lang="en-US" sz="1300" dirty="0"/>
          </a:p>
        </p:txBody>
      </p:sp>
      <p:pic>
        <p:nvPicPr>
          <p:cNvPr id="15" name="Image 2" descr="formula_imgs/f3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39" y="3502152"/>
            <a:ext cx="3071417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柔度係數的定義</a:t>
            </a:r>
            <a:endParaRPr lang="en-US" sz="1300" dirty="0"/>
          </a:p>
        </p:txBody>
      </p:sp>
      <p:pic>
        <p:nvPicPr>
          <p:cNvPr id="19" name="Image 3" descr="formula_imgs/f3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738" y="4544568"/>
            <a:ext cx="3098818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多餘力有 n 個時，柔度方程變成 [δ]{X} = −{δ₀}，其中 δ_ij = ∫ m_i m_j /EI dx 必為對稱矩陣。最小功法的 n 條 ∂U/∂X_i = 0 展開之後，係數矩陣就是這個 [δ]，一模一樣。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STRAIN ENERGY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U 裡面該留哪幾項？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4／11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4_ener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▍完整的應變能有四項：彎曲、軸向、剪力、扭轉。四項全寫永遠是對的，但考場上只留該留的。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▍判讀訣竅：題目給了什麼常數，就是在暗示你留什麼。只給 EI ⇒ 只留彎曲；只給 EA ⇒ 只留軸向。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▍細長桿的剪力能佔比 = 0.78(h/L)²：h/L = 1/10 時只有 0.78%，所以「不計剪力變形」是合理的近似。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▍軸向能在細長梁裡也極小，但在梁＋桿的混合結構裡完全不是這回事 —— 例題⑤ 吊桿的軸向能佔總能量 36%，漏掉它 M_A 會少算 12%。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▍桁架是唯一只有軸向項的結構，而且因為桿內軸力是常數，積分退化成求和 Σ F²L/2EA。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F4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應變能的四項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彎曲（梁、剛架的主角）</a:t>
            </a:r>
            <a:endParaRPr lang="en-US" sz="1300" dirty="0"/>
          </a:p>
        </p:txBody>
      </p:sp>
      <p:pic>
        <p:nvPicPr>
          <p:cNvPr id="7" name="Image 0" descr="formula_imgs/f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4454" y="1417320"/>
            <a:ext cx="1457387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軸向（桁架、吊桿、拉桿）</a:t>
            </a:r>
            <a:endParaRPr lang="en-US" sz="1300" dirty="0"/>
          </a:p>
        </p:txBody>
      </p:sp>
      <p:pic>
        <p:nvPicPr>
          <p:cNvPr id="11" name="Image 1" descr="formula_imgs/f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974" y="2459736"/>
            <a:ext cx="2482347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剪力（深梁、短跨才留）</a:t>
            </a:r>
            <a:endParaRPr lang="en-US" sz="1300" dirty="0"/>
          </a:p>
        </p:txBody>
      </p:sp>
      <p:pic>
        <p:nvPicPr>
          <p:cNvPr id="15" name="Image 2" descr="formula_imgs/f4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205" y="3502152"/>
            <a:ext cx="3273885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扭轉（空間結構、曲梁）</a:t>
            </a:r>
            <a:endParaRPr lang="en-US" sz="1300" dirty="0"/>
          </a:p>
        </p:txBody>
      </p:sp>
      <p:pic>
        <p:nvPicPr>
          <p:cNvPr id="19" name="Image 3" descr="formula_imgs/f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906" y="4544568"/>
            <a:ext cx="1418484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剪力形狀係數 f_s：矩形 1.2、圓形 10/9、工字型可近似用腹板面積取 A_w。一般平面梁與剛架題目只要看到「不計軸向與剪力變形」，就只留第一項。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多餘力選對，算式短一半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5／11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5_cho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▍多餘力可以隨便選 —— 只要選完之後基本結構是穩定的靜定結構，答案一定相同。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▍但算式長度差很多。同一根 propped cantilever：選 R_B 的 M(s) 只有 2 項、∂M/∂X = s；選 M_A 的 M(x) 有 4 項、∂M/∂X = x/L − 1（帶分數）。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▍選法原則：切開後「自由體上看得到的外力最少」的那一端當原點。自由端、內鉸、多餘力作用點都是好起點。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▍分段規則：集中力、分布載重的起訖點、EI 改變處、桿件轉折處 —— 每一個都要切一刀。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▍剛架題另一個常用招數：切開內鉸（該處 M = 0，靜不定度直接降 1），或釋放靠近自由端的約束。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MINI EXAMPLE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一端固定、一端滾支承的梁（1 次靜不定）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SOP 五步驟樣板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跨度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 = 6 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24 kN/m（均布）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= 4 − 3 =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R_B（向上）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選多餘力，寫 M(s)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拆掉 B 的滾支承 → 基本結構＝從 A 伸出的懸臂。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原點設在自由端 B，s 由 B 往 A 量（外力最少）。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M(s) = X·s − w s² / 2　（0 ≤ s ≤ 6，一段搞定）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選這個原點，整根梁只需要一條式子。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 X 偏微分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∂M/∂X = s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這一項就是「單位多餘力造成的彎矩 m」。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 B 放一個向上的單位力，距離 s 處的彎矩正好 = s。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不必另外畫 m 圖，微分就得到。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令 ∂U/∂X = 0 解 X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∫₀⁶ (X s − 12 s²)(s) ds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X·(6³/3) − 24·(6⁴/8) = 72X − 3888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R_B = 54 kN = 3wL/8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δ₁₁ = L³/3EI、δ₁₀ = −wL⁴/8EI，比值即為答案。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回代求其餘內力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R_A = 24(6) − 54 = 90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 = 54(6) − 432 = −108 kN·m = −wL²/8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剪力歸零處 x = 3.75 m（距 A）→ M_max = +60.75 = 9wL²/128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反曲點：距 A 1.5 m（＝ L/4）。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R_B = 3wL/8 = 54 kN　｜　M_A = −wL²/8 = −108 kN·m　｜　M_max = 9wL²/128 = +60.75 kN·m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EXAMPLE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例題① 的完整內力與變形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6／11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6_e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▍三張圖一起看：受力圖 → 彎矩圖 → 變形形狀。彎矩圖一律畫在受拉側，所以 hogging 在上、sagging 在下。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▍固端彎矩 −108 的絕對值比跨中正彎矩 +60.75 大 78% —— propped cantilever 的設計控制斷面永遠在固端。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▍反曲點在距 A 1.5 m（= L/4）處：彎矩零點，也正好是變形曲線曲率變號的位置，兩張圖可以互相檢查。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▍最大正彎矩不在跨中，而在剪力歸零處 x = 3.75 m；最大下垂則在 x ≈ 3.45 m，兩者位置不同，不要混為一談。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▍拿這三個數字（3wL/8、wL²/8、9wL²/128）當背誦標準件，遇到同型題可以直接檢查答案合不合理。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F5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求位移與轉角：虛擬量與包絡定理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求位移：放虛擬力 Q</a:t>
            </a:r>
            <a:endParaRPr lang="en-US" sz="1300" dirty="0"/>
          </a:p>
        </p:txBody>
      </p:sp>
      <p:pic>
        <p:nvPicPr>
          <p:cNvPr id="7" name="Image 0" descr="formula_imgs/f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9604" y="1417320"/>
            <a:ext cx="2587087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求轉角：放虛擬彎矩 M₀</a:t>
            </a:r>
            <a:endParaRPr lang="en-US" sz="1300" dirty="0"/>
          </a:p>
        </p:txBody>
      </p:sp>
      <p:pic>
        <p:nvPicPr>
          <p:cNvPr id="11" name="Image 1" descr="formula_imgs/f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086" y="2459736"/>
            <a:ext cx="2774123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包絡定理（X 可當常數）</a:t>
            </a:r>
            <a:endParaRPr lang="en-US" sz="1300" dirty="0"/>
          </a:p>
        </p:txBody>
      </p:sp>
      <p:pic>
        <p:nvPicPr>
          <p:cNvPr id="15" name="Image 2" descr="formula_imgs/f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417" y="3502152"/>
            <a:ext cx="4127461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桁架的位移</a:t>
            </a:r>
            <a:endParaRPr lang="en-US" sz="1300" dirty="0"/>
          </a:p>
        </p:txBody>
      </p:sp>
      <p:pic>
        <p:nvPicPr>
          <p:cNvPr id="19" name="Image 3" descr="formula_imgs/f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56" y="4544568"/>
            <a:ext cx="2477183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包絡定理是這個單元最實用的省時工具：因為結構已經落在 ∂U/∂X = 0 的駐點上，對虛擬量微分時可以把多餘力 X 直接當成已知常數，不必追 dX/dQ 的連鎖律。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VIRTUAL QUANTITY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虛擬量：先寫進去、後歸零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7／11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7_vir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▍對什麼偏微分，就得到什麼：對「力」微分得位移，對「彎矩」微分得轉角。這是因為功 = 力 × 位移、功 = 彎矩 × 轉角。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▍所以求轉角一定要放虛擬「彎矩」M₀，放虛擬力只會給你位移。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▍順序絕對不能顛倒：① 虛擬量寫進 M → ② 偏微分 → ③ 這時候才令虛擬量 = 0 → ④ 積分。一開始就歸零，∂M/∂M₀ 直接變 0，整題白做。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▍包絡定理：dU/dQ = ∂U/∂Q + (∂U/∂X)(dX/dQ)，第二項的 ∂U/∂X 本來就是 0，所以整項消失。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▍實務上的意思是：解出 X 之後，把 X 當成一個普通的已知數字代進去就好。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MINI EXAMPLE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同一根梁求 B 端轉角與跨中位移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虛擬量 ＋ 包絡定理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同例題①（L = 6、w = 24）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R_B = 54 kN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θ_B（B 端轉角）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δ（跨中位移）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求轉角 → 放虛擬彎矩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 B 加一個虛擬彎矩 M₀，寫進內力函數：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M(s) = X s − w s²/2 + M₀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∂M/∂M₀ = 1（全跨都看得到這個彎矩）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虛擬彎矩是常數項，所以偏微分結果是 1。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微分完才令 M₀ = 0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θ_B = (1/EI)∫₀⁶ (54 s − 12 s²)(1) ds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(1/EI)(972 − 864) = 108 / EI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θ_B = wL³ / 48EI（逆時針）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與懸臂疊加驗算相符：RL²/2EI − wL³/6EI = 108/EI。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求位移 → 放虛擬力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在跨中（距 B 3 m）加向上的虛擬力 Q：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M(s) = X s − w s²/2 + Q(s − 3)，s ≥ 3 才有這一項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∂M/∂Q = s − 3（s &lt; 3 時為 0）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這就是基本結構上單位力造成的彎矩 m。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包絡定理讓 X 當常數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因為 ∂U/∂X = 0，微分時不必追 X 隨 Q 的變化。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 = (1/EI)∫₃⁶ (54 s − 12 s²)(s − 3) ds = −162 / EI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負號 ⇒ 與假設的向上方向相反 ⇒ 向下 162/EI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＝ wL⁴/192EI，與標準表完全相同。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θ_B = wL³/48EI = 108 / EI（逆時針）　｜　δ_跨中 = wL⁴/192EI = 162 / EI（向下）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MINI EXAMPLE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兩跨連續梁：兩個多餘力（2 次靜不定）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沿用 SA-U2-3／U2-4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 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 m，w = 24 kN/m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BC 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 m，中央 P = 40 kN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= 5 − 3 =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X₁ = R_B、X₂ = R_C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基本結構＝一根長懸臂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B、C 兩個滾支承都拆掉 → 由 A 伸出的 14 m 懸臂。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由 A 量起，每個斷面取「右側自由體」列式，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這樣就不必先求 A 的三個反力。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多餘力都放在原支承位置，方向取向上為正。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分三段寫 M(x, X₁, X₂)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0–6 m：X₁(6−x) + X₂(14−x) − 40(10−x) − 12(6−x)²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6–10 m：X₂(14−x) − 40(10−x)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10–14 m：X₂(14−x)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分段點就是 B 支承（x=6）與集中力（x=10）。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兩條方程式聯立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∂M/∂X₁ = (6−x)（只有第一段有值）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∂M/∂X₂ = (14−x)（全長都有值）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∫M(∂M/∂X₁)dx = 0、∫M(∂M/∂X₂)dx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係數矩陣必對稱 δ₁₂ = δ₂₁ —— 列完先檢查這一點。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解出並與另外兩法對照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X₁ = R_B = 98.12 kN、X₂ = R_C = 11.96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R_A = 73.92、M_A = −75.84、M_B = −64.32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 跨最大正彎矩 +38.00 @ x = 3.08 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 SA-U2-3 傾角變位法、SA-U2-4 矩陣法逐項相同。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(73.92, 98.12, 11.96) kN　｜　M_A = −75.84、M_B = −64.32 kN·m　｜　EIθ_B = 11.52（逆時針）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EXAMPLE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同一根梁，三種解法，同一組答案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8／11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8_e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▍這根梁在 SA-U2-3 用傾角變位法解過、在 SA-U2-4 用矩陣分析法解過，現在用最小功法再解一次。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▍三法的 M_A、M_B、R_B 一字不差 —— 這不是巧合，因為三者解的是同一組平衡＋諧合方程。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▍唯一的差異是 θ_B 的正負號：本單元取逆時針為正（+11.52），位移法慣例取順時針為正（−11.52）。數值相同，只是慣例不同。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▍彎矩圖的三個關鍵值：M_A = −75.84（固端，設計控制）、M_B = −64.32（中間支承）、+47.84（集中力下方）。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▍選擇建議：2 個多餘力還可以用最小功法硬解；3 個以上請直接寫成柔度矩陣，或改用位移法／矩陣法。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F6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桁架、混合結構與對稱降維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桁架（只有軸向項）</a:t>
            </a:r>
            <a:endParaRPr lang="en-US" sz="1300" dirty="0"/>
          </a:p>
        </p:txBody>
      </p:sp>
      <p:pic>
        <p:nvPicPr>
          <p:cNvPr id="7" name="Image 0" descr="formula_imgs/f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9789" y="1417320"/>
            <a:ext cx="1966717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梁＋桿混合結構</a:t>
            </a:r>
            <a:endParaRPr lang="en-US" sz="1300" dirty="0"/>
          </a:p>
        </p:txBody>
      </p:sp>
      <p:pic>
        <p:nvPicPr>
          <p:cNvPr id="11" name="Image 1" descr="formula_imgs/f6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137" y="2459736"/>
            <a:ext cx="2614020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三桿對稱桁架的閉合解</a:t>
            </a:r>
            <a:endParaRPr lang="en-US" sz="1300" dirty="0"/>
          </a:p>
        </p:txBody>
      </p:sp>
      <p:pic>
        <p:nvPicPr>
          <p:cNvPr id="15" name="Image 2" descr="formula_imgs/f6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598" y="3502152"/>
            <a:ext cx="2153099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對稱／反對稱切面條件</a:t>
            </a:r>
            <a:endParaRPr lang="en-US" sz="1300" dirty="0"/>
          </a:p>
        </p:txBody>
      </p:sp>
      <p:pic>
        <p:nvPicPr>
          <p:cNvPr id="19" name="Image 3" descr="formula_imgs/f6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4575590"/>
            <a:ext cx="8122615" cy="59632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桁架桿內軸力是常數，所以積分退化成求和；混合結構則是把兩種能量加進同一條 U，再一起對 X 偏微分。對稱性是剛架題唯一可行的降維手段：對稱載重時切面剪力為零，反對稱載重時切面軸力與彎矩為零。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MINI EXAMPLE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三桿對稱桁架（1 次靜不定）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只留軸向項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中央桿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垂直，L = 3 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與垂直夾 α = 30°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三桿同 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= 100 kN（向下）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只留軸向項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桿件只承受軸力，且軸力沿桿為常數。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= Σ F² L / 2EA —— 積分退化成求和，不要去積分。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斜桿長度 = 3 / cos30° = 3.4641 m（不是 3 m）。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這是桁架題最常見的失分點。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用節點平衡把內力寫成 X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 X = 中央桿軸力（拉為正）。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 D 垂直平衡：2 N_i cosα + X = P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N_i = (P − X) / (2cosα)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∂N_i/∂X = −1/(2cosα)、∂X/∂X = 1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代入 Σ(FL/EA)(∂F/∂X) = 0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X·L + 2·N_i·(L/cosα)·(−1/(2cosα))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X·L − (P − X)·L / (2cos³α)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P / (1 + 2cos³α)　（閉合解，值得記）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α → 0 時 X → P/3（三桿平分）；α → 90° 時 X → P。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數值與檢查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N_v = 43.50 kN（43.5% 的 P 走中央桿）、N_i = 32.62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垂直平衡：43.50 + 2(32.62)(0.8660) = 100.00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δ_D = N_v L / EA = 130.49 / EA（＝中央桿伸長量）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拿掉中央桿變靜定，斜桿要扛 57.74 kN → 多 77%。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N_v = P / (1 + 2cos³α) = 43.50 kN　｜　N_i = 32.62 kN　｜　δ_D = 130.49 / EA（向下）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MINI EXAMPLE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梁＋吊桿混合結構（1 次靜不定）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彎曲項＋軸向項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懸臂梁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 = 6 m，EI = 2×10⁵ kN·m²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24 kN/m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吊桿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 = 3 m，EA = 2×10⁵ kN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吊桿軸力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兩種能量寫進同一條 U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梁：M(s) = X s − w s²/2（s 由梁端往固定端）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吊桿：軸力就是 X，長度 h。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= ∫₀⁶ M²/2EI ds + X² h / 2EA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題目同時給 EI 與 EA，就是在提示兩項都要留。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一起對 X 偏微分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彎曲項：∫(M/EI)(∂M/∂X)ds = X L³/3EI − w L⁴/8EI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軸向項：X h / EA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兩項相加令為 0：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(L³/3EI + h/EA) = w L⁴ / 8EI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解出多餘力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(3wL/8) / (1 + 3EI h / EA L³)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柔度比 ρ = 3EIh/EAL³ = 1/24 = 0.04167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54 / (25/24) = 51.84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ρ → 0（吊桿極硬）時退化為剛性支承的 54 kN。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影響有多大？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多餘力只降 4%，但固端彎矩從 −108 變 −120.96（+12%）。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設計控制的那個數字被低估 12%，比多餘力的誤差嚴重得多。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諧合檢查：吊桿伸長 = Xh/EA = 0.778 mm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＝ 梁端下垂量 wL⁴/8EI − XL³/3EI = 0.778 mm ✓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51.84 kN（比剛性支承少 4%）　｜　M_A = −120.96 kN·m（比剛性支承多 12%）—— 軸向柔度不能省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TRUSS &amp; MIXED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桁架與混合結構：U 裡有什麼就對什麼偏微分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9／11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9_truss_mix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▍桁架只有軸向項，而且桿內軸力是常數 ⇒ Σ F²L/2EA，用表格逐桿列 F、∂F/∂X、L 最不容易錯。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▍三桿桁架的閉合解 N_v = P/(1+2cos³α) 值得記：cos³ 的來源是「投影兩次再乘上桿長比」。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▍混合結構的關鍵觀念：支承不是剛性的。吊桿一有柔度，多餘力就被「放掉」一點，梁的固端彎矩反而增加。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▍本題吊桿的軸向應變能佔總能量 36% —— 和彎曲項同量級，所以「細長桿軸向能可忽略」的習慣在混合結構完全不適用。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▍檢查法永遠一樣：算出 X 之後，比對「桿的伸長量」與「梁端的下垂量」是否相等（諧合條件）。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MINI EXAMPLE 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對稱門型剛架（3 次靜不定 → 2 個未知數）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沿用 SA-U2-3 例題②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 4 m、梁 6 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梁上 w = 30 kN/m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A、D 固定，EI 全同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= 6 − 3 = 3 → 對稱降為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先用對稱性降維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對稱結構 ＋ 對稱載重 ⇒ 梁中央切面的剪力必為零。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切面上原本有 N、V、M 三個內力，V = 0 之後只剩 2 個。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取左半 A—B—E 為懸臂（基本結構）。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X₁ = 切面水平力（軸力）、X₂ = 切面彎矩。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沿桿寫 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 BE（s 由 E 往 B，0→3）：M = X₂ − 15 s²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 AB（y 由 A 往上，0→4）：M = −(4−y)X₁ + X₂ − 135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−135 = 半跨載重 90 kN 對柱斷面的固定力矩。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水平力 X₁ 與梁共線 ⇒ 對梁不產生彎矩。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 ∂U/∂Xi = 0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∂U/∂X₁：(64/3)X₁ − 8(X₂ − 135)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∂U/∂X₂：3X₂ − 135 − 8X₁ + 4(X₂ − 135)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X₁ = 0.375(X₂ − 135)、7X₂ − 8X₁ = 675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解得 X₁ = −25.3125 kN、X₂ = +67.50 kN·m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回代桿端彎矩並對照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梁跨中 +67.50、梁端（柱頂）−67.50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柱底 M_A = −4(−25.3125) + 67.5 − 135 = +33.75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柱剪力 = |X₁| = 25.3125 kN；反曲點距柱底 1.3333 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四個數字與 SA-U2-3 傾角變位法完全相同。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梁跨中 +67.50　｜　柱頂 −67.50　｜　柱底 +33.75 kN·m　｜　柱剪力 25.3125 kN　（＝傾角變位法答案）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SYMMETRY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對稱降維：讓最小功法算得動剛架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10／11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10_ex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▍門型剛架天生 3 次靜不定，硬用最小功法要解 3×3 聯立 —— 考場上時間不夠。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▍對稱是唯一實用的降維手段：對稱載重時切面剪力 = 0，反對稱載重時切面軸力與彎矩 = 0。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▍切開之後取「半結構」當懸臂，基本結構立刻變靜定，M 只要沿兩根桿各寫一條式子。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▍算完一定要檢查：柱剪力 × 柱高 = 兩端彎矩的和（25.3125 × 4 = 67.5 + 33.75 = 101.25 ✓）。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▍一般載重（既不對稱也不反對稱）可以先拆成「對稱部分 + 反對稱部分」分別解，再疊加 —— 與 SA-U2-3 例題⑤ 的做法完全相同。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 SOP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考場五步驟決策流程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2376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幾次靜不定？選誰當 X？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梁／剛架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2578608"/>
            <a:ext cx="15056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= 未知反力 − 3 − 內部條件數。內鉸只降 1 次，不會直接變靜定。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785616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785616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" y="4206240"/>
            <a:ext cx="15056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= r + m − 2j。通常切一根多餘桿，X ＝ 該桿軸力。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rot="18900000">
            <a:off x="2575499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4955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94955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7" name="Text 15"/>
          <p:cNvSpPr/>
          <p:nvPr/>
        </p:nvSpPr>
        <p:spPr>
          <a:xfrm>
            <a:off x="3014411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4411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座標怎麼設？分幾段？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977835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20" name="Text 18"/>
          <p:cNvSpPr/>
          <p:nvPr/>
        </p:nvSpPr>
        <p:spPr>
          <a:xfrm>
            <a:off x="2977835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設原點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50987" y="2578608"/>
            <a:ext cx="15056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放在「看過去外力最少」的一端：自由端、內鉸、多餘力作用點。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77835" y="3785616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23" name="Text 21"/>
          <p:cNvSpPr/>
          <p:nvPr/>
        </p:nvSpPr>
        <p:spPr>
          <a:xfrm>
            <a:off x="2977835" y="3785616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50987" y="4206240"/>
            <a:ext cx="15056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集中力、載重起訖、EI 改變、桿件轉折處，各切一刀。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rot="18900000">
            <a:off x="4867534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26" name="Shape 24"/>
          <p:cNvSpPr/>
          <p:nvPr/>
        </p:nvSpPr>
        <p:spPr>
          <a:xfrm>
            <a:off x="5086990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86990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8" name="Text 26"/>
          <p:cNvSpPr/>
          <p:nvPr/>
        </p:nvSpPr>
        <p:spPr>
          <a:xfrm>
            <a:off x="5306446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6446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U 裡留哪幾項？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269870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31" name="Text 29"/>
          <p:cNvSpPr/>
          <p:nvPr/>
        </p:nvSpPr>
        <p:spPr>
          <a:xfrm>
            <a:off x="5269870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只給 EI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3022" y="2578608"/>
            <a:ext cx="15056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只留 ∫M²/2EI dx。細長桿的軸向與剪力能 &lt; 1%。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269870" y="3785616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34" name="Text 32"/>
          <p:cNvSpPr/>
          <p:nvPr/>
        </p:nvSpPr>
        <p:spPr>
          <a:xfrm>
            <a:off x="5269870" y="3785616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 EA／兩者都給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3022" y="4206240"/>
            <a:ext cx="15056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桁架只留 ΣF²L/2EA；混合結構兩項一起寫進同一條 U。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rot="18900000">
            <a:off x="7159569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7379025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79025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9" name="Text 37"/>
          <p:cNvSpPr/>
          <p:nvPr/>
        </p:nvSpPr>
        <p:spPr>
          <a:xfrm>
            <a:off x="7598481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598481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解出 X 之後檢查什麼？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7561905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42" name="Text 40"/>
          <p:cNvSpPr/>
          <p:nvPr/>
        </p:nvSpPr>
        <p:spPr>
          <a:xfrm>
            <a:off x="7561905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靜力檢查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35057" y="2578608"/>
            <a:ext cx="15056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ΣFy、ΣM 回代原結構；柱剪力 × 柱高 = 兩端彎矩和。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561905" y="3785616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45" name="Text 43"/>
          <p:cNvSpPr/>
          <p:nvPr/>
        </p:nvSpPr>
        <p:spPr>
          <a:xfrm>
            <a:off x="7561905" y="3785616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合理性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635057" y="4206240"/>
            <a:ext cx="15056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柔度矩陣必對稱；X 的方向要與位移缺口相反。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 rot="18900000">
            <a:off x="9451604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48" name="Shape 46"/>
          <p:cNvSpPr/>
          <p:nvPr/>
        </p:nvSpPr>
        <p:spPr>
          <a:xfrm>
            <a:off x="9671060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671060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50" name="Text 48"/>
          <p:cNvSpPr/>
          <p:nvPr/>
        </p:nvSpPr>
        <p:spPr>
          <a:xfrm>
            <a:off x="9890516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5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890516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還要求位移／轉角嗎？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9853940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53" name="Text 51"/>
          <p:cNvSpPr/>
          <p:nvPr/>
        </p:nvSpPr>
        <p:spPr>
          <a:xfrm>
            <a:off x="9853940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927092" y="2578608"/>
            <a:ext cx="15056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位移放虛擬力、轉角放虛擬彎矩。先微分、後歸零，X 當常數。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9853940" y="3785616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56" name="Text 54"/>
          <p:cNvSpPr/>
          <p:nvPr/>
        </p:nvSpPr>
        <p:spPr>
          <a:xfrm>
            <a:off x="9853940" y="3785616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927092" y="4206240"/>
            <a:ext cx="15056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畫 BMD 與變形形狀收尾，標出反曲點互相檢查。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02920" y="5687568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1B2A41"/>
          </a:solidFill>
          <a:ln/>
        </p:spPr>
      </p:sp>
      <p:sp>
        <p:nvSpPr>
          <p:cNvPr id="59" name="Text 57"/>
          <p:cNvSpPr/>
          <p:nvPr/>
        </p:nvSpPr>
        <p:spPr>
          <a:xfrm>
            <a:off x="777240" y="568756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整套流程的重心在第 ① 與第 ③ 步：多餘力選錯，算式長一倍；應變能項留錯，答案直接錯。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全景圖：五步驟 × 六題例題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11／11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1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▍六題例題走的是同一套 SOP，差別只在 U 裡留哪幾項、以及多餘力有幾個。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▍①③⑥ 是純彎曲題（1 個、2 個、2 個多餘力）；④ 是純軸向題；⑤ 是兩項都要的混合題。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▍② 示範的是「解完 X 之後」的工作：用虛擬量求位移與轉角，並用包絡定理把 X 當常數。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▍三張臉的方程式擺在一起看最清楚：換名字不換內容，橋樑永遠是 ∂M/∂X ≡ m。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▍複習時建議的順序：先把① 的三個標準答案背熟，再練④（桁架求和式），最後才碰⑥（對稱降維）。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全公式速查（1／2）：定理、三張臉與應變能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最小功法</a:t>
            </a:r>
            <a:endParaRPr lang="en-US" sz="1100" dirty="0"/>
          </a:p>
        </p:txBody>
      </p:sp>
      <p:pic>
        <p:nvPicPr>
          <p:cNvPr id="7" name="Image 0" descr="formula_imgs/s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370" y="1682496"/>
            <a:ext cx="1052687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49676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49676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3477692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卡氏二（位移）</a:t>
            </a:r>
            <a:endParaRPr lang="en-US" sz="1100" dirty="0"/>
          </a:p>
        </p:txBody>
      </p:sp>
      <p:pic>
        <p:nvPicPr>
          <p:cNvPr id="11" name="Image 1" descr="formula_imgs/s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919" y="1682496"/>
            <a:ext cx="1067102" cy="5943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96432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96432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6324448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卡氏二（轉角）</a:t>
            </a:r>
            <a:endParaRPr lang="en-US" sz="1100" dirty="0"/>
          </a:p>
        </p:txBody>
      </p:sp>
      <p:pic>
        <p:nvPicPr>
          <p:cNvPr id="15" name="Image 2" descr="formula_imgs/s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481" y="1682496"/>
            <a:ext cx="1149488" cy="5943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43187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043187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9171203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彎矩的一次式</a:t>
            </a:r>
            <a:endParaRPr lang="en-US" sz="1100" dirty="0"/>
          </a:p>
        </p:txBody>
      </p:sp>
      <p:pic>
        <p:nvPicPr>
          <p:cNvPr id="19" name="Image 3" descr="formula_imgs/s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491" y="1739942"/>
            <a:ext cx="2352980" cy="47946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2920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16"/>
          <p:cNvSpPr/>
          <p:nvPr/>
        </p:nvSpPr>
        <p:spPr>
          <a:xfrm>
            <a:off x="630936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實作式</a:t>
            </a:r>
            <a:endParaRPr lang="en-US" sz="1100" dirty="0"/>
          </a:p>
        </p:txBody>
      </p:sp>
      <p:pic>
        <p:nvPicPr>
          <p:cNvPr id="23" name="Image 4" descr="formula_imgs/s2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724" y="2971800"/>
            <a:ext cx="1285979" cy="5943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49676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49676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6" name="Text 19"/>
          <p:cNvSpPr/>
          <p:nvPr/>
        </p:nvSpPr>
        <p:spPr>
          <a:xfrm>
            <a:off x="3477692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關鍵橋樑</a:t>
            </a:r>
            <a:endParaRPr lang="en-US" sz="1100" dirty="0"/>
          </a:p>
        </p:txBody>
      </p:sp>
      <p:pic>
        <p:nvPicPr>
          <p:cNvPr id="27" name="Image 5" descr="formula_imgs/s2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9208" y="2971800"/>
            <a:ext cx="1226524" cy="59436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96432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196432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0" name="Text 22"/>
          <p:cNvSpPr/>
          <p:nvPr/>
        </p:nvSpPr>
        <p:spPr>
          <a:xfrm>
            <a:off x="6324448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柔度方程</a:t>
            </a:r>
            <a:endParaRPr lang="en-US" sz="1100" dirty="0"/>
          </a:p>
        </p:txBody>
      </p:sp>
      <p:pic>
        <p:nvPicPr>
          <p:cNvPr id="31" name="Image 6" descr="formula_imgs/s2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736" y="3016796"/>
            <a:ext cx="2352980" cy="504369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43187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043187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4" name="Text 25"/>
          <p:cNvSpPr/>
          <p:nvPr/>
        </p:nvSpPr>
        <p:spPr>
          <a:xfrm>
            <a:off x="9171203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是二次式</a:t>
            </a:r>
            <a:endParaRPr lang="en-US" sz="1100" dirty="0"/>
          </a:p>
        </p:txBody>
      </p:sp>
      <p:pic>
        <p:nvPicPr>
          <p:cNvPr id="35" name="Image 7" descr="formula_imgs/s2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491" y="3112763"/>
            <a:ext cx="2352980" cy="312434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2920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02920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8" name="Text 28"/>
          <p:cNvSpPr/>
          <p:nvPr/>
        </p:nvSpPr>
        <p:spPr>
          <a:xfrm>
            <a:off x="630936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彎曲能</a:t>
            </a:r>
            <a:endParaRPr lang="en-US" sz="1100" dirty="0"/>
          </a:p>
        </p:txBody>
      </p:sp>
      <p:pic>
        <p:nvPicPr>
          <p:cNvPr id="39" name="Image 8" descr="formula_imgs/s3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7865" y="4261104"/>
            <a:ext cx="1315697" cy="59436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49676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349676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2" name="Text 31"/>
          <p:cNvSpPr/>
          <p:nvPr/>
        </p:nvSpPr>
        <p:spPr>
          <a:xfrm>
            <a:off x="3477692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軸向能（桁架）</a:t>
            </a:r>
            <a:endParaRPr lang="en-US" sz="1100" dirty="0"/>
          </a:p>
        </p:txBody>
      </p:sp>
      <p:pic>
        <p:nvPicPr>
          <p:cNvPr id="43" name="Image 9" descr="formula_imgs/s3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37" y="4261104"/>
            <a:ext cx="1786866" cy="59436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96432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6196432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6" name="Text 34"/>
          <p:cNvSpPr/>
          <p:nvPr/>
        </p:nvSpPr>
        <p:spPr>
          <a:xfrm>
            <a:off x="6324448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剪力能</a:t>
            </a:r>
            <a:endParaRPr lang="en-US" sz="1100" dirty="0"/>
          </a:p>
        </p:txBody>
      </p:sp>
      <p:pic>
        <p:nvPicPr>
          <p:cNvPr id="47" name="Image 10" descr="formula_imgs/s3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63403" y="4261104"/>
            <a:ext cx="1311644" cy="59436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43187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9043187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0" name="Text 37"/>
          <p:cNvSpPr/>
          <p:nvPr/>
        </p:nvSpPr>
        <p:spPr>
          <a:xfrm>
            <a:off x="9171203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扭轉能</a:t>
            </a:r>
            <a:endParaRPr lang="en-US" sz="1100" dirty="0"/>
          </a:p>
        </p:txBody>
      </p:sp>
      <p:pic>
        <p:nvPicPr>
          <p:cNvPr id="51" name="Image 11" descr="formula_imgs/s3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25693" y="4261104"/>
            <a:ext cx="1280576" cy="59436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02920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502920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4" name="Text 40"/>
          <p:cNvSpPr/>
          <p:nvPr/>
        </p:nvSpPr>
        <p:spPr>
          <a:xfrm>
            <a:off x="630936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桁架的諧合條件</a:t>
            </a:r>
            <a:endParaRPr lang="en-US" sz="1100" dirty="0"/>
          </a:p>
        </p:txBody>
      </p:sp>
      <p:pic>
        <p:nvPicPr>
          <p:cNvPr id="55" name="Image 12" descr="formula_imgs/s4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7960" y="5550408"/>
            <a:ext cx="1775509" cy="594360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49676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3349676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8" name="Text 43"/>
          <p:cNvSpPr/>
          <p:nvPr/>
        </p:nvSpPr>
        <p:spPr>
          <a:xfrm>
            <a:off x="3477692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剪力／彎曲能比</a:t>
            </a:r>
            <a:endParaRPr lang="en-US" sz="1100" dirty="0"/>
          </a:p>
        </p:txBody>
      </p:sp>
      <p:pic>
        <p:nvPicPr>
          <p:cNvPr id="59" name="Image 13" descr="formula_imgs/s4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1128" y="5550408"/>
            <a:ext cx="1962684" cy="59436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96432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1" name="Shape 45"/>
          <p:cNvSpPr/>
          <p:nvPr/>
        </p:nvSpPr>
        <p:spPr>
          <a:xfrm>
            <a:off x="6196432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2" name="Text 46"/>
          <p:cNvSpPr/>
          <p:nvPr/>
        </p:nvSpPr>
        <p:spPr>
          <a:xfrm>
            <a:off x="6324448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桁架靜不定度</a:t>
            </a:r>
            <a:endParaRPr lang="en-US" sz="1100" dirty="0"/>
          </a:p>
        </p:txBody>
      </p:sp>
      <p:pic>
        <p:nvPicPr>
          <p:cNvPr id="63" name="Image 14" descr="formula_imgs/s4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2736" y="5676092"/>
            <a:ext cx="2352980" cy="342991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43187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9043187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6" name="Text 49"/>
          <p:cNvSpPr/>
          <p:nvPr/>
        </p:nvSpPr>
        <p:spPr>
          <a:xfrm>
            <a:off x="9171203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剛架靜不定度</a:t>
            </a:r>
            <a:endParaRPr lang="en-US" sz="1100" dirty="0"/>
          </a:p>
        </p:txBody>
      </p:sp>
      <p:pic>
        <p:nvPicPr>
          <p:cNvPr id="67" name="Image 15" descr="formula_imgs/s4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9491" y="5642224"/>
            <a:ext cx="2352980" cy="410727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全公式速查（2／2）：標準結果與解題規則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propped：多餘力</a:t>
            </a:r>
            <a:endParaRPr lang="en-US" sz="1100" dirty="0"/>
          </a:p>
        </p:txBody>
      </p:sp>
      <p:pic>
        <p:nvPicPr>
          <p:cNvPr id="7" name="Image 0" descr="formula_imgs/s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640" y="1682496"/>
            <a:ext cx="1470148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49676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49676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3477692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propped：固端彎矩</a:t>
            </a:r>
            <a:endParaRPr lang="en-US" sz="1100" dirty="0"/>
          </a:p>
        </p:txBody>
      </p:sp>
      <p:pic>
        <p:nvPicPr>
          <p:cNvPr id="11" name="Image 1" descr="formula_imgs/s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307" y="1682496"/>
            <a:ext cx="1706325" cy="5943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96432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96432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6324448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propped：最大正彎矩</a:t>
            </a:r>
            <a:endParaRPr lang="en-US" sz="1100" dirty="0"/>
          </a:p>
        </p:txBody>
      </p:sp>
      <p:pic>
        <p:nvPicPr>
          <p:cNvPr id="15" name="Image 2" descr="formula_imgs/s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291" y="1682496"/>
            <a:ext cx="1835869" cy="5943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43187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043187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9171203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propped：反曲點</a:t>
            </a:r>
            <a:endParaRPr lang="en-US" sz="1100" dirty="0"/>
          </a:p>
        </p:txBody>
      </p:sp>
      <p:pic>
        <p:nvPicPr>
          <p:cNvPr id="19" name="Image 3" descr="formula_imgs/s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491" y="1713068"/>
            <a:ext cx="2352980" cy="5332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2920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16"/>
          <p:cNvSpPr/>
          <p:nvPr/>
        </p:nvSpPr>
        <p:spPr>
          <a:xfrm>
            <a:off x="630936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propped：端點轉角</a:t>
            </a:r>
            <a:endParaRPr lang="en-US" sz="1100" dirty="0"/>
          </a:p>
        </p:txBody>
      </p:sp>
      <p:pic>
        <p:nvPicPr>
          <p:cNvPr id="23" name="Image 4" descr="formula_imgs/s6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238" y="2971800"/>
            <a:ext cx="1352951" cy="5943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49676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49676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6" name="Text 19"/>
          <p:cNvSpPr/>
          <p:nvPr/>
        </p:nvSpPr>
        <p:spPr>
          <a:xfrm>
            <a:off x="3477692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propped：跨中下垂</a:t>
            </a:r>
            <a:endParaRPr lang="en-US" sz="1100" dirty="0"/>
          </a:p>
        </p:txBody>
      </p:sp>
      <p:pic>
        <p:nvPicPr>
          <p:cNvPr id="27" name="Image 5" descr="formula_imgs/s6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786" y="2971800"/>
            <a:ext cx="1683368" cy="59436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96432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196432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0" name="Text 22"/>
          <p:cNvSpPr/>
          <p:nvPr/>
        </p:nvSpPr>
        <p:spPr>
          <a:xfrm>
            <a:off x="6324448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懸臂端點下垂</a:t>
            </a:r>
            <a:endParaRPr lang="en-US" sz="1100" dirty="0"/>
          </a:p>
        </p:txBody>
      </p:sp>
      <p:pic>
        <p:nvPicPr>
          <p:cNvPr id="31" name="Image 6" descr="formula_imgs/s6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1772" y="2971800"/>
            <a:ext cx="1354906" cy="5943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43187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043187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4" name="Text 25"/>
          <p:cNvSpPr/>
          <p:nvPr/>
        </p:nvSpPr>
        <p:spPr>
          <a:xfrm>
            <a:off x="9171203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懸臂端點上頂</a:t>
            </a:r>
            <a:endParaRPr lang="en-US" sz="1100" dirty="0"/>
          </a:p>
        </p:txBody>
      </p:sp>
      <p:pic>
        <p:nvPicPr>
          <p:cNvPr id="35" name="Image 7" descr="formula_imgs/s6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1834" y="2971800"/>
            <a:ext cx="1108295" cy="59436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2920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02920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8" name="Text 28"/>
          <p:cNvSpPr/>
          <p:nvPr/>
        </p:nvSpPr>
        <p:spPr>
          <a:xfrm>
            <a:off x="630936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虛擬力求位移</a:t>
            </a:r>
            <a:endParaRPr lang="en-US" sz="1100" dirty="0"/>
          </a:p>
        </p:txBody>
      </p:sp>
      <p:pic>
        <p:nvPicPr>
          <p:cNvPr id="39" name="Image 8" descr="formula_imgs/s7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6252" y="4261104"/>
            <a:ext cx="1358923" cy="59436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49676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349676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2" name="Text 31"/>
          <p:cNvSpPr/>
          <p:nvPr/>
        </p:nvSpPr>
        <p:spPr>
          <a:xfrm>
            <a:off x="3477692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虛擬彎矩求轉角</a:t>
            </a:r>
            <a:endParaRPr lang="en-US" sz="1100" dirty="0"/>
          </a:p>
        </p:txBody>
      </p:sp>
      <p:pic>
        <p:nvPicPr>
          <p:cNvPr id="43" name="Image 9" descr="formula_imgs/s7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1113" y="4261104"/>
            <a:ext cx="1342713" cy="59436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96432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6196432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6" name="Text 34"/>
          <p:cNvSpPr/>
          <p:nvPr/>
        </p:nvSpPr>
        <p:spPr>
          <a:xfrm>
            <a:off x="6324448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微分完才歸零</a:t>
            </a:r>
            <a:endParaRPr lang="en-US" sz="1100" dirty="0"/>
          </a:p>
        </p:txBody>
      </p:sp>
      <p:pic>
        <p:nvPicPr>
          <p:cNvPr id="47" name="Image 10" descr="formula_imgs/s7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2736" y="4409655"/>
            <a:ext cx="2352980" cy="297258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43187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9043187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0" name="Text 37"/>
          <p:cNvSpPr/>
          <p:nvPr/>
        </p:nvSpPr>
        <p:spPr>
          <a:xfrm>
            <a:off x="9171203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包絡定理</a:t>
            </a:r>
            <a:endParaRPr lang="en-US" sz="1100" dirty="0"/>
          </a:p>
        </p:txBody>
      </p:sp>
      <p:pic>
        <p:nvPicPr>
          <p:cNvPr id="51" name="Image 11" descr="formula_imgs/s7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9491" y="4324795"/>
            <a:ext cx="2352980" cy="466979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02920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502920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4" name="Text 40"/>
          <p:cNvSpPr/>
          <p:nvPr/>
        </p:nvSpPr>
        <p:spPr>
          <a:xfrm>
            <a:off x="630936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三桿桁架閉合解</a:t>
            </a:r>
            <a:endParaRPr lang="en-US" sz="1100" dirty="0"/>
          </a:p>
        </p:txBody>
      </p:sp>
      <p:pic>
        <p:nvPicPr>
          <p:cNvPr id="55" name="Image 12" descr="formula_imgs/s8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829" y="5550408"/>
            <a:ext cx="1943770" cy="594360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49676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3349676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8" name="Text 43"/>
          <p:cNvSpPr/>
          <p:nvPr/>
        </p:nvSpPr>
        <p:spPr>
          <a:xfrm>
            <a:off x="3477692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梁＋桿混合結構</a:t>
            </a:r>
            <a:endParaRPr lang="en-US" sz="1100" dirty="0"/>
          </a:p>
        </p:txBody>
      </p:sp>
      <p:pic>
        <p:nvPicPr>
          <p:cNvPr id="59" name="Image 13" descr="formula_imgs/s8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81598" y="5550408"/>
            <a:ext cx="1981743" cy="59436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96432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1" name="Shape 45"/>
          <p:cNvSpPr/>
          <p:nvPr/>
        </p:nvSpPr>
        <p:spPr>
          <a:xfrm>
            <a:off x="6196432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2" name="Text 46"/>
          <p:cNvSpPr/>
          <p:nvPr/>
        </p:nvSpPr>
        <p:spPr>
          <a:xfrm>
            <a:off x="6324448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對稱切面</a:t>
            </a:r>
            <a:endParaRPr lang="en-US" sz="1100" dirty="0"/>
          </a:p>
        </p:txBody>
      </p:sp>
      <p:pic>
        <p:nvPicPr>
          <p:cNvPr id="63" name="Image 14" descr="formula_imgs/s8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2736" y="5665043"/>
            <a:ext cx="2352980" cy="365091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43187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9043187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6" name="Text 49"/>
          <p:cNvSpPr/>
          <p:nvPr/>
        </p:nvSpPr>
        <p:spPr>
          <a:xfrm>
            <a:off x="9171203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反對稱切面</a:t>
            </a:r>
            <a:endParaRPr lang="en-US" sz="1100" dirty="0"/>
          </a:p>
        </p:txBody>
      </p:sp>
      <p:pic>
        <p:nvPicPr>
          <p:cNvPr id="67" name="Image 15" descr="formula_imgs/s8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9491" y="5701532"/>
            <a:ext cx="2352980" cy="292111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COMMON TRAPS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高頻陷阱（一）：觀念與列式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把「能量最小」當成物理前提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真正的條件是位移相容，能量最小只是二次式的副產品。答案卷上寫「因為 B 點位移為零」才是理由；寫「因為能量要最小」拿不到觀念分，遇到非線性彈性題還會直接錯。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23864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23864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388456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9352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內鉸不代表靜定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1608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一個內鉸只提供一條 M = 0 的條件式，把靜不定度降 1。門型剛架（3 次）加一個內鉸還是 2 次靜不定。數靜不定度時請老實用 n = 未知力 − 平衡式 − 內部條件式。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多餘力選錯，算式暴增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同一根 propped cantilever：選 R_B 的 M(s) 只有 2 項、∂M/∂X = s；改選 M_A 就變 4 項還帶 x/L。原則是「自由體上看得到的外力最少」的那一端當原點。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3864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3864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388456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9352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分段點漏掉一個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1608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集中力、分布載重的起訖點、EI 改變處、桿件轉折處都要分段。少切一刀，整條積分的值就錯，而且錯得不明顯 —— 這是連續梁題最常見的失分原因。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COMMON TRAPS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高頻陷阱（二）：微分與能量項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求轉角卻放虛擬「力」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 = 彎矩 × 轉角，所以要放虛擬彎矩 M₀，對 M₀ 偏微分才會得到轉角。放虛擬力只會得到位移。反過來，求位移就放虛擬力 Q —— 對什麼偏微分，就得到什麼。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23864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23864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388456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9352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虛擬量太早歸零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1608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若一開始就令 M₀ = 0，∂M/∂M₀ 直接變成 0，整條積分歸零，整題白做。順序永遠是：① 寫進 M → ② 偏微分 → ③ 令虛擬量 = 0 → ④ 積分。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混合結構漏掉軸向項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題目同時給 EI 與 EA，就是在提示兩項都要寫進同一條 U。例題⑤ 漏掉吊桿的軸向能，多餘力只差 4%，但設計控制的固端彎矩少算 12% —— 錯在最要命的地方。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3864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3864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388456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9352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桁架去積分、斜桿長度用錯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1608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桿內軸力是常數，U = Σ F²L/2EA 是求和不是積分。另外斜桿長度要用真正的桿長（L/cosα），不是水平或垂直投影長；這兩個錯誤幾乎每次桁架題都會出現。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WRAP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五句話帶走這個單元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715414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71541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536192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∂U/∂X = 0 的意思是「多餘力方向的位移為零」—— 缺口歸零的諧合條件，換成能量語言而已。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1565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2695651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269565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16429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「最小」是數學副產品：M 對 X 是一次式 ⇒ U(X) 是開口向上的拋物線 ⇒ 駐點必為最小。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41802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" y="367588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496666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三張臉同源，橋樑是 ∂M/∂X ≡ m：最小功法用微分求 m、單位力法用畫圖求 m、諧合變位法把它排成柔度矩陣。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422038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4656125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465612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476902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裡留什麼看題目給什麼常數：只給 EI 留彎曲、只給 EA 留軸向、兩個都給就兩項一起寫、一起微分。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5402275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5636362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56363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457139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求位移用虛擬力、求轉角用虛擬彎矩；先寫進去、微分完才歸零；依包絡定理，多餘力 X 這時是已知常數。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SA-U2-1 靜不定結構最小功法｜觀念講義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2026-09-17T06:20:34Z</dcterms:created>
  <dcterms:modified xsi:type="dcterms:W3CDTF">2026-09-17T06:20:34Z</dcterms:modified>
</cp:coreProperties>
</file>