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這一支影片處理結構學 U2-4，靜不定結構的矩陣分析法。這個單元有一個非常明顯的特徵：九十三年、九十七年、九十九年、一百年、一百零一年、一百零二年、一百零四年、一百零八年、一百一十一年、一百一十四年，全部排在最後一題。也就是說，元素勁度矩陣必須背到不用想，因為你只剩二十五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必背十三條，橘色三條，綠色一條。橘色三條是五個單元裡最多的，但三條都屬於露過一次就別再指望。另外提醒：這個單元是時間戰，對答案的時候請計時，看看自己默寫一個元素勁度矩陣要花幾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如果這支影片你只帶走一句話：考卷會給符號怎麼排，不會給矩陣怎麼組。一百零一年、一百零四年、一百零八年三年印了 P 等於 K D 的形式，一百零八年甚至定義了四個自由度的順序。但二十四年來，沒有印過任何一個元素勁度矩陣。所以看到題目印了矩陣關係式不要鬆懈，那只是在統一符號。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分四個家族。第一是勁度方程與求解流程，第二是元素勁度矩陣，第三是載重向量，第四是側移勁度與特殊約束。其中第三個家族——載重向量——是最容易被整塊漏掉的，尤其是製造誤差跟溫度造成的等效節點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這是矩陣分析法的骨幹。第一步是定自由度編號，把支承束制跟剛性約束扣掉。第二步依元素類型寫出元素勁度矩陣，桁架用 EA 除以 L，梁跟剛架用十二、六、四、二那四個係數。第三步做座標轉換，把局部座標轉成整體。第四步對號入座組出整體 K，重疊處相加。第五步檢查有沒有跨間載重、製造誤差或彈簧，有的話要補等效節點載重。最後解位移、回代求桿端內力。回代的時候千萬別忘了加固端力。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這是本單元的第一條橘色，也是二十四年裡唯一反覆被印出來的東西。一百零一年印了 R 等於 K r，一百零四年印了同樣的形式並註明 r 是位移矩陣，一百零八年印了 K D 等於 P 並定義四個自由度的順序。但另外八年一個字都沒有，十二題裡只有三題露過。而且就算印了，K 怎麼組還是你自己的事。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回想卡第一張。一個平面剛架，自由度要怎麼數？而且哪些東西會讓自由度變少？提示：平面上每個節點原本有三個自由度，兩個平移一個轉角。會讓它變少的有兩類，一類在支承，一類在桿件本身。按暫停。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答案。自由度等於節點自由度總數，減掉支承束制，再減掉剛性跟軸向不變形的約束。平面上每個節點三個自由度：x 平移、y 平移、轉角。支承方面，固定端扣三個、鉸支承扣兩個、滾支承扣一個。軸向不變形方面，梁不伸縮的話兩端節點的水平位移相同，兩個併成一個。再加上剛性桿件跟剛性樓板的約束。一百零七年第二題明寫請畫結構圖並定義自由度編號，一百零八年第四題直接指定四個自由度的順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回想卡第二張。桁架元素在局部座標跟整體座標的勁度矩陣各長什麼樣？還有，theta 要從哪裡量到哪裡？提示：局部座標只有一跟負一，整體座標換成 c 平方、c s、s 平方。theta 的量法弄反，交叉項的符號就錯。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答案。桁架桿只有軸向勁度 EA 除以 L，兩端一拉一壓，所以局部矩陣是括號一、負一、負一、一。轉到整體座標就是把單位向量 c、s 做外積：對角是 c 平方跟 s 平方，交叉是 c s。一般的轉換式是整體矩陣等於 T 轉置乘局部矩陣乘 T。特別注意 theta 的量法：從整體 x 軸逆時針量到桿件從 i 到 j 的方向。量反了 s 會變號，交叉項就錯。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回想卡第三張。梁元素勁度矩陣的四個係數各是多少？而且每一個係數的物理意義是什麼？提示：分母的次方是三、二、一、一。物理意義都是施加單位位移或單位轉角，然後量某一端的力或彎矩。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答案。四個係數是十二 E I 除以 L 三次方、六 E I 除以 L 平方、四 E I 除以 L、二 E I 除以 L。驗算訣竅：位移對應的係數次方高，因為是力除以位移；轉角對應的次方低，因為是彎矩除以轉角；交叉項介於中間。量綱一定要對得上。一百一十四年第一題的正解，三個對角元是八 E I 除以 L、八 E I 除以 L、二十四 E I 除以 L 三次方，就是這四個係數疊出來的。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這張圖說明四個係數的物理意義。k 一一：近端施加單位平移，量近端的力，得到十二 E I 除以 L 三次方。k 一二：同樣的單位平移，量近端的彎矩，得到六 E I 除以 L 平方。k 二二：近端施加單位轉角，量近端的彎矩，得到四 E I 除以 L，這就是傾角變位法的近端勁度。k 二四：同樣的單位轉角，量遠端的彎矩，得到二 E I 除以 L，這就是傳遞係數二分之一的來源。所以矩陣法跟傾角變位法其實是同一組東西，兩個單元一起背，成本只有一份。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回想卡第四張。元素勁度矩陣怎麼組成整體 K？還有，解出位移之後，回代求桿端內力最容易漏掉什麼？提示：組裝是對號入座，而回代漏掉的那一項，跟跨間有沒有載重有關。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答案。組裝就是對號入座：每個元素的勁度矩陣按照它連到哪兩個自由度放進去，同一格有兩個元素貢獻就相加。求解是位移等於 K 的反矩陣乘以載重向量。回代求桿端內力是 f 等於 k 乘 d，再加固端力。那第二項代表節點不動的時候，跨間載重造成的桿端內力。忘了加，跨間載重的效應就整個不見。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這張圖說明組裝。每個元素只影響它自己連到的那幾個自由度，其餘位置填零。兩個元素共用同一個自由度的時候，那一格就是兩者的貢獻相加，圖上用橘色框標出來。兩個快速的自我驗算：整體 K 一定是對稱矩陣，而且對角元一定為正。出現負的對角元就是組錯了。考場策略是先把自由度編號寫在矩陣的行列標題上，再一個元素一個元素往裡疊。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回想卡第五張。跨間有均布載重的時候，載重向量要怎麼寫？而且那個負號是怎麼來的？提示：矩陣法只認節點上的力，跨間的載重進不了矩陣。想想固端彎矩在這裡扮演什麼角色。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等效節點載重等於固端力取負號。怎麼來的？兩步驟疊加：第一步先把所有節點鎖住，這時候跨間載重會產生固端力；第二步為了讓節點回復自由，必須在節點上施加固端力的反向把它放掉。所以等效節點載重等於負的固端力。負號漏掉，位移全部反向。一百零七年第二題的解第一步就寫這條。另外提醒，固端彎矩表本身也要自己背，那是 U2-3 那一支的內容。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回想卡第六張。桁架桿件組裝前短了一段，這個效應要怎麼進到矩陣裡？它會出現在方程的哪一邊？提示：它不是節點上的力，所以要先換算，而換算的係數跟這根桿的軸向勁度有關。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答案。等效節點力等於 EA 除以 L 乘上 Delta L 零，再乘上方向餘弦 c 跟 s，加在載重向量那一邊。怎麼想？桿子短了一段，要把它拉回原長需要一個軸力，大小是 EA 除以 L 乘上短少的長度。這個軸力沿桿件方向作用，投影到整體座標就乘上 c 跟 s。溫度變化同理，只要把 Delta L 零換成 alpha 乘 Delta T 乘 L。一百年第四題整題就是這個，而題目只寫因製造瑕疵短了零點零二公尺。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七張。結構上掛了一個彈簧，不管是線性彈簧還是旋轉彈簧，要怎麼併進整體勁度矩陣？另外，支承有已知位移的時候，載重向量要怎麼修？提示：彈簧就當成一個額外的元素。而支承位移是把已知的那一部分移項到右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彈簧就當成一個額外的元素，它連接兩個自由度，矩陣形式跟桁架桿一模一樣，就是括號一、負一、負一、一乘上彈簧勁度。如果是接地的彈簧，那就只剩一個對角項，直接加到對應的整體矩陣對角元上。至於支承有已知位移的情況，把 K f s 乘 D s 從左邊移到右邊，變成載重向量的修正項。九十三年、一百零四年、一百零八年、一百一十一年都要處理這件事，而這一步沒有任何題目提示過。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回想卡第八張。題目寫梁斷面慣性矩為無限大，你要把它翻譯成什麼？而且每一層的側向勁度怎麼算？提示：EI 等於無限大代表梁不會彎，想想這樣一來柱子的變形形狀會變成什麼。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答案。要把它翻譯成剪力棟架模型。梁的慣性矩無限大代表梁不會彎，所以柱的兩端等於被固接住不能轉，柱的側移變形是標準的雙曲率形狀，勁度就是十二 E I 除以 L 三次方。整層柱加起來就是該層的側向勁度。這樣一來，一個三層樓構架的自由度就從十幾個降到三個。一百一十一年第四題的解第一行就是柱側移剛度等於十二 E I 除以 L 三次方。題目只會寫一句梁桿件斷面慣性矩為無限大，剩下的翻譯完全靠自己。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這張圖說明剛性約束的翻譯。梁的慣性矩無限大，節點就不轉，柱變成雙曲率變形，每根柱的側移勁度是十二 E I 除以 L 三次方。同一層的柱是並聯，所以層勁度是各柱勁度直接相加。剛性樓板的效果一樣，同層所有節點的水平位移綁成一個自由度。翻譯完之後，一個 n 層樓構架就只剩 n 個自由度，可以手算。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回想卡第九張。題目只問對應側向力的側向勁度，那些轉角自由度要怎麼處理？提示：不受載的自由度可以先消掉，消的方式是一個含反矩陣的公式。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答案。靜態凝縮：把自由度分成 a 跟 b，a 是有載重要保留的，b 是不受載可以消掉的。b 那一列的方程右邊是零，可以解出 D b 等於負的 K b b 反矩陣乘 K b a 乘 D a，代回 a 那一列就得到凝縮後的矩陣。K 星等於 K a a 減去 K a b 乘 K b b 反矩陣乘 K b a。減號那一項就是 b 自由度的柔性讓 a 變軟的量。一百一十四年第一題的正解，側向勁度等於八十四 E I 除以五 L 三次方，就是把兩個轉角自由度凝縮掉。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說明凝縮的做法。先把整體勁度矩陣依有載重跟不受載分成四塊。不受載那一列可以直接解出對應的位移，因為它的方程右邊是零。代回去之後，保留的部分就變成凝縮後的矩陣。減掉的那一項一定讓結構變軟，這是物理上的檢查點。考場策略：只要題目問的是某一個方向的勁度而不是全部位移，就先想能不能凝縮，把四乘四縮成一乘一，手算立刻變可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回想卡第十張，也是最後一張。x y 平面的格床結構，元素勁度要多加什麼自由度？還有，實心圓桿的扭轉常數 J 是多少？提示：載重沿負 z 方向，所以桿件除了彎曲還會被扭。J 的分母是三十二。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答案。格床的每個節點有三個自由度：z 向平移、繞 x 軸轉、繞 y 軸轉。所以元素矩陣除了十二 E I 除以 L 三次方那組彎曲項，還要多一組扭轉項 G J 除以 L。實心圓桿的 J 等於 pi d 四次方除以三十二，等於兩倍的 I，因為圓形的極慣性矩就是兩個方向慣性矩之和。一百一十四年第四題是二十四年來第一次出現格床，題目給了 E、G、I，但 J 的算法跟格床元素要含扭轉自由度完全沒提。這種第一次出現的題型，沒有任何前例可以指望考卷會補提示。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複習六個真的會讓你掉分的地方。第一，自由度數判錯。第二，四個係數的次方記混。第三，回代時漏掉固端力。第四，等效節點載重漏負號。第五，製造誤差或溫度整塊沒處理。第六，座標轉換的角度量反。這個單元因為時間永遠不夠，任何一個錯都很難有時間回頭發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另外兩條橘色。第一是柱側移勁度十二 E I 除以 L 三次方，二十四年唯一一次被印出來就在本單元的九十三年第四題，把柱直接簡化成彈簧給你。但九十七年、一百零一年、一百零七年、一百零八年、一百一十一年、一百一十四年需要同一條的時候全部沒給。一次對六次，這就是別賭的定義。第二是旋轉彈簧，一百零八年是唯一給了數值的年份，明寫旋轉彈簧勁度假設為十 E I 除以 L，還特別指示旋轉彈簧視為一個元素。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這是本單元唯一的綠色。材料與斷面數值，要算數字就一定有給。九十三年給 EI 跟 k、九十八年給 AE、九十九年給 EA、一百年給 EA、一百零二年給 E 跟 A、一百零八年給旋轉彈簧勁度、一百一十一年給 EI。其餘年份是符號解。這一類完全不必背，把二十五分鐘全部留給組矩陣。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速查表第一頁：元素矩陣跟求解流程。打星號那格是梁元素的四個係數，十二、六、四、二，次方是三、二、一、一，這是唯一必須零錯誤的東西。建議把這兩頁截圖存進手機。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速查表第二頁：載重向量、凝縮跟特殊約束。這一頁的每一條都是最容易被整塊漏掉的東西，特別是製造誤差跟溫度的等效節點力。考前一定要再看一次。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四句話帶走。第一，考卷給符號怎麼排，不給矩陣怎麼組。第二，四個係數十二、六、四、二必須零錯誤，而且它們跟傾角變位法的四 E I 除以 L、二 E I 除以 L 是同一組東西，兩個單元一起背。第三，載重向量最容易整塊漏，負的固端力、製造誤差、彈簧、支承沉陷，四樣都要檢查。第四，本單元幾乎固定在第四題，只剩二十五分鐘，先定自由度、能凝縮就凝縮，這是唯一能在時限內做完的路。五個單元到這裡就全部完成了，祝你上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　結構學｜公式記憶片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靜不定結構之矩陣分析法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份考卷原文為證據 —— 幾乎固定在第四題，你只剩 25 分鐘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結構技師｜結構學 SA-U2-4 靜不定結構之矩陣分析法｜公式「給／背」分界記憶片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本單元橘色有 3 條 —— 是五個單元裡最多的，但三條都屬於「露過一次就別再指望」。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13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自由度判定、元素勁度矩陣、座標轉換、載重向量、剛性約束，全部要自己寫得出來。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{P}=[K]{D} 的形式、柱側移勁度 12EI/L³、旋轉彈簧元素化。都只在少數年份露過。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材料與斷面數值。要算數字就一定有給，這一類完全不必背。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這個單元是「時間戰」—— 對答案時請計時，看自己默寫一個元素勁度矩陣要幾秒。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 —— 考前十分鐘只看那兩頁。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考卷會給「符號怎麼排」，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不會給「矩陣怎麼組」。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101、104、108 三年印了 {P}=[K]{D} 的形式，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但 24 年沒有印過任何一個元素勁度矩陣。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看到題目印了矩陣關係式不要鬆懈 —— 那只是在統一符號，[K] 怎麼組還是你自己的事。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SA-U2-4 的四個公式家族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勁度方程與求解流程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{P}=[K]{D}、自由度編號與束制判定、求解與回代、靜態凝縮。矩陣尺寸錯了後面全部作廢。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元素勁度矩陣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桁架（局部／整體）、梁與剛架四個係數、座標轉換、扭轉元素。24 年一個都沒印過。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載重向量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等效節點載重 −{FEM}、製造誤差／溫度、彈簧與支承沉陷。最容易被整塊漏掉。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側移勁度與特殊約束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剪力棟架層勁度、半剛性接頭、剛性桿件與剛性樓板。降自由度的關鍵判斷。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矩陣分析法骨幹：定自由度 → 組 [K] → 解 → 回代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本單元幾乎固定在第四題，你只剩 25 分鐘 —— 元素勁度矩陣必須背到不用想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定自由度編號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（扣支承與剛性約束）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元素類型？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　EA/L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　12、6、4、2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局部 → 整體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[T]ᵀ[k][T]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對號入座組出 [K]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（重疊相加）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有跨間載重／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製造誤差／彈簧？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5" name="Text 23"/>
          <p:cNvSpPr/>
          <p:nvPr/>
        </p:nvSpPr>
        <p:spPr>
          <a:xfrm>
            <a:off x="5188306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　補等效節點載重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7" name="Text 25"/>
          <p:cNvSpPr/>
          <p:nvPr/>
        </p:nvSpPr>
        <p:spPr>
          <a:xfrm>
            <a:off x="5188306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　直接用 {P}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 {D}=[K]⁻¹{P}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 {f}=[k]{d}+{f_F}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85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4" name="Text 42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節點位移 {D} ＋ 各桿端內力 {f} ＋ 支承反力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回代時忘了加固端力 {f_F}，跨間載重的效應就整個不見。97 年四、100 年四、107 年二 都有這個陷阱 —— 100 年四的正解 F_AB = −16.76 kN 就是靠回代求出來的。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動筆前三個必做檢核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自由度數對嗎？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數錯矩陣尺寸就錯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的量法一致嗎？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 x 軸逆時針到 i→j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載重向量補齊了嗎？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−{FEM}、製造誤差、彈簧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會給但別賭 · 24 年唯一反覆被印出的東西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{P} = [K]{D} 印過三次 —— 但那只是「符號怎麼排」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結構勁度方程</a:t>
            </a:r>
            <a:endParaRPr lang="en-US" sz="1300" dirty="0"/>
          </a:p>
        </p:txBody>
      </p:sp>
      <p:pic>
        <p:nvPicPr>
          <p:cNvPr id="7" name="Image 0" descr="formula_imgs/pk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832026"/>
            <a:ext cx="7772400" cy="192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證據：101 年四印 {R}=[K]{r}、104 年四印 [R]=[K][r] 並註明 [r] 為位移矩陣、108 年四印 [K]{D}={P} 並定義四個自由度的順序。但 93、97、99、100、102、107、111、114 這八年一個字都沒有 —— 12 題裡只有 3 題露過。而且就算印了，[K] 怎麼組還是你自己的事。看到題目印了矩陣關係式不要鬆懈。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自由度編號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一個兩層樓的平面剛架，自由度要怎麼數？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哪些東西會讓自由度「變少」？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提示：平面上每個節點原本有 3 個。會讓它變少的有兩類：一類在支承，一類在桿件本身。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　數錯就全盤皆錯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節點自由度 − 支承束制 − 剛性／軸向不變形約束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of_nu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79" y="1892808"/>
            <a:ext cx="6142042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平面每個節點 3 個自由度（x 平移、y 平移、轉角）。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支承扣掉：固定端扣 3、鉸支承扣 2、滾支承扣 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軸向不變形扣掉：梁不伸縮 → 兩端節點的水平位移相同，兩個併成一個。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剛性桿件（EI = ∞）與剛性樓板再扣：同層水平位移全部綁在一起。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 年二明寫「請畫結構圖並定義自由度編號」，108 年四指定四個自由度的順序，104 年四要「標示此結構之位移自由度」。判錯自由度數，[K] 的尺寸就錯，後面全部作廢 —— 這是流程規則，考卷從不給。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桁架元素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桁架元素在局部座標與整體座標的勁度矩陣各長什麼樣？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θ 要從哪裡量到哪裡？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提示：局部只有 1 與 −1，整體換成 c²、cs、s²。θ 的量法弄反，交叉項的符號就錯。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局部只有 ±1；整體是把方向餘弦「平方」進去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局部座標</a:t>
            </a:r>
            <a:endParaRPr lang="en-US" sz="1300" dirty="0"/>
          </a:p>
        </p:txBody>
      </p:sp>
      <p:pic>
        <p:nvPicPr>
          <p:cNvPr id="7" name="Image 0" descr="formula_imgs/k_truss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451" y="1847088"/>
            <a:ext cx="276381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整體座標</a:t>
            </a:r>
            <a:endParaRPr lang="en-US" sz="1300" dirty="0"/>
          </a:p>
        </p:txBody>
      </p:sp>
      <p:pic>
        <p:nvPicPr>
          <p:cNvPr id="11" name="Image 1" descr="formula_imgs/k_trus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321" y="3334512"/>
            <a:ext cx="282207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一般轉換式</a:t>
            </a:r>
            <a:endParaRPr lang="en-US" sz="1300" dirty="0"/>
          </a:p>
        </p:txBody>
      </p:sp>
      <p:pic>
        <p:nvPicPr>
          <p:cNvPr id="15" name="Image 2" descr="formula_imgs/trans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623" y="4821936"/>
            <a:ext cx="585547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怎麼記：桁架桿只有軸向勁度 EA/L，兩端一拉一壓，所以局部矩陣是 [[1,−1],[−1,1]]。轉到整體座標就是把單位向量 (c, s) 做外積 —— 對角是 c²、s²，交叉是 cs。θ 從整體 x 軸「逆時針」量到桿件 i→j 的方向，量反了 s 變號、交叉項 cs 就錯。99 年四的解直接以 c²、cs、s² 組裝；102 年四要組 3×3 的 [K]；100 年四、102 年四（斜桁架）、114 年四（xy 平面格床）都需要座標轉換。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梁／剛架元素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梁元素勁度矩陣的四個係數各是多少？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每一個係數的「物理意義」是什麼？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提示：分母的次方是 3、2、1、1。物理意義都是「施加單位位移／單位轉角，量某一端的力或彎矩」。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　★ 唯一必須零錯誤的東西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12/L³、6/L²、4/L、2/L —— 次方記錯，整個 [K] 的量綱就崩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四個係數</a:t>
            </a:r>
            <a:endParaRPr lang="en-US" sz="1300" dirty="0"/>
          </a:p>
        </p:txBody>
      </p:sp>
      <p:pic>
        <p:nvPicPr>
          <p:cNvPr id="7" name="Image 0" descr="formula_imgs/beam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17963"/>
            <a:ext cx="7772400" cy="72245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 4×4 元素矩陣</a:t>
            </a:r>
            <a:endParaRPr lang="en-US" sz="1300" dirty="0"/>
          </a:p>
        </p:txBody>
      </p:sp>
      <p:pic>
        <p:nvPicPr>
          <p:cNvPr id="11" name="Image 1" descr="formula_imgs/k_beam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305" y="4078224"/>
            <a:ext cx="4954110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驗算訣竅：位移對應的係數次方高（力／位移 → 12EI/L³）、轉角對應的次方低（彎矩／轉角 → 4EI/L）、交叉項介於中間（6EI/L²）。量綱一定要對得上。93 年四、97 年四、101 年四、104 年四、107 年二、108 年四、114 年一 全部要用。114 年一的正解 [K] 三個對角元 8EI/L、8EI/L、24EI/L³ 就是這四個係數疊出來的。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四個係數就是「施加單位變位，量出來的反力」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beam_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17849"/>
            <a:ext cx="6501384" cy="1736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k₁₁：近端施加單位「平移」，量近端的「力」→ 12EI/L³。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k₁₂：同樣的單位平移，量近端的「彎矩」→ 6EI/L²。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k₂₂：近端施加單位「轉角」，量近端的「彎矩」→ 4EI/L（＝傾角變位法的近端勁度）。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k₂₄：同樣的單位轉角，量「遠端」的彎矩 → 2EI/L（＝傳遞係數 1/2 的來源）。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這四個數字跟 U2-3 傾角變位法的 4EI/L、2EI/L、6EI/L 是同一組東西 —— 矩陣法只是把它們排成矩陣。兩個單元一起背，成本只有一份。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組裝與回代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元素勁度矩陣怎麼組成整體 [K]？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解出 {D} 之後，回代求桿端內力最容易漏掉什麼？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提示：組裝是「對號入座」。而回代那一項，跟「跨間有沒有載重」有關。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組裝＝對號入座相加；回代千萬別漏 {f_F}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求解位移</a:t>
            </a:r>
            <a:endParaRPr lang="en-US" sz="1300" dirty="0"/>
          </a:p>
        </p:txBody>
      </p:sp>
      <p:pic>
        <p:nvPicPr>
          <p:cNvPr id="7" name="Image 0" descr="formula_imgs/sol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1847088"/>
            <a:ext cx="7735824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回代求桿端內力</a:t>
            </a:r>
            <a:endParaRPr lang="en-US" sz="1300" dirty="0"/>
          </a:p>
        </p:txBody>
      </p:sp>
      <p:pic>
        <p:nvPicPr>
          <p:cNvPr id="11" name="Image 1" descr="formula_imgs/re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12346"/>
            <a:ext cx="7772400" cy="13959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怎麼記：每個元素的勁度矩陣按照它連到哪兩個自由度「對號入座」，同一格有兩個元素貢獻就相加。回代時 {f} = [k]{d} + {f_F} —— 第二項是固端力，代表「節點不動時跨間載重造成的桿端內力」。忘了加，跨間載重的效應就整個不見。97 年四、100 年四、107 年二 都有此陷阱；100 年四的正解 F_AB = −16.76 kN 就是靠回代求出來的。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組裝就是「對號入座、重疊相加」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assemb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7739"/>
            <a:ext cx="6501384" cy="33369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每個元素只影響它自己連到的那幾個自由度 —— 其餘位置填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兩個元素共用同一個自由度時，那一格是兩者的貢獻相加（橘框）。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 一定是對稱矩陣 —— 組完檢查對稱性，是最快的自我驗算。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對角元一定為正 —— 出現負的對角元就是組錯了。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考場策略：先把自由度編號寫在矩陣的行與列標題上，再一個元素一個元素往裡疊。這樣就算中途被打斷也不會亂。元素勁度矩陣考卷 24 年一個都沒印過。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等效節點載重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跨間有均布載重時，載重向量 {P} 要怎麼寫？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那個負號是怎麼來的？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提示：矩陣法只認「節點上的力」。想想固端彎矩在這裡扮演什麼角色。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等效節點載重 = 固端力「取負號」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等效節點載重</a:t>
            </a:r>
            <a:endParaRPr lang="en-US" sz="1300" dirty="0"/>
          </a:p>
        </p:txBody>
      </p:sp>
      <p:pic>
        <p:nvPicPr>
          <p:cNvPr id="7" name="Image 0" descr="formula_imgs/p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999920"/>
            <a:ext cx="7772400" cy="1589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怎麼記：兩步驟疊加。第一步先把所有節點鎖住，這時跨間載重產生固端力 {FEM}；第二步為了讓節點回復自由，必須在節點上施加 −{FEM} 把鎖住的力放掉。所以 {P_eq} = −{FEM}。負號漏掉，位移全部反向。97 年四、107 年二、114 年四 都有跨間均布載重；107 年二的解第一步就寫 {P} = −{FEM}。固端彎矩表本身也要自己背（見 U2-3）。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製造誤差／溫度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桁架桿件「組裝前短了 ΔL₀」，這個效應要怎麼進到矩陣裡？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它會出現在方程的哪一邊？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提示：它不是節點上的力，所以要先換算。換算的係數跟這根桿的軸向勁度有關。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　最容易被整塊漏掉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換成等效節點力，加在 {P} 這一邊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製造誤差／溫度的等效節點力</a:t>
            </a:r>
            <a:endParaRPr lang="en-US" sz="1300" dirty="0"/>
          </a:p>
        </p:txBody>
      </p:sp>
      <p:pic>
        <p:nvPicPr>
          <p:cNvPr id="7" name="Image 0" descr="formula_imgs/p_te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17331"/>
            <a:ext cx="7772400" cy="29548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怎麼記：桿子短了 ΔL₀，要把它「拉」回原長需要軸力 (EA/L)·ΔL₀。這個軸力沿桿件方向作用，投影到整體座標就乘上方向餘弦 (c, s)。溫度變化同理，只要把 ΔL₀ 換成 αΔT·L。100 年四整題就是「AC 桿件組裝前短了 0.02 m」，要換成等效節點力才進得了矩陣。這是矩陣法裡最容易被漏掉的一塊，而題目只寫「因製造瑕疵短了 0.02 m」。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彈簧與支承沉陷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結構上掛了一個彈簧（線性或旋轉），要怎麼併進 [K]？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支承有已知位移時，{P} 要怎麼修？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提示：彈簧就當成「一個額外的元素」。而支承位移是把已知的那一部分「移項」到右邊。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彈簧 = 一個額外元素；已知支承位移 = 移項到右邊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旋轉彈簧的元素矩陣</a:t>
            </a:r>
            <a:endParaRPr lang="en-US" sz="1300" dirty="0"/>
          </a:p>
        </p:txBody>
      </p:sp>
      <p:pic>
        <p:nvPicPr>
          <p:cNvPr id="7" name="Image 0" descr="formula_imgs/k_sp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442" y="1847088"/>
            <a:ext cx="2749836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彈簧併入整體矩陣</a:t>
            </a:r>
            <a:endParaRPr lang="en-US" sz="1300" dirty="0"/>
          </a:p>
        </p:txBody>
      </p:sp>
      <p:pic>
        <p:nvPicPr>
          <p:cNvPr id="11" name="Image 1" descr="formula_imgs/spring_a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36" y="3334512"/>
            <a:ext cx="636904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已知支承位移的修正</a:t>
            </a:r>
            <a:endParaRPr lang="en-US" sz="1300" dirty="0"/>
          </a:p>
        </p:txBody>
      </p:sp>
      <p:pic>
        <p:nvPicPr>
          <p:cNvPr id="15" name="Image 2" descr="formula_imgs/supp_mo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66" y="4821936"/>
            <a:ext cx="5906787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怎麼記：彈簧連接兩個自由度（或一個自由度與地），矩陣形式跟桁架桿一模一樣 —— [[1,−1],[−1,1]] 乘上 k。接地的彈簧就只剩一個對角項，直接加到對應的 [K] 對角元上。支承有已知位移 {D_s} 時，把 [K_fs]{D_s} 從左邊移到右邊，變成 {P} 的修正項。93 年四（彈簧支承）、104 年四（抗扭彈簧 kθ 與線性彈簧 ks）、108 年四（旋轉彈簧）、111 年四（剛性樓板）都要處理 —— 而這一步沒有任何題目提示過。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剛性約束與剪力棟架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題目寫「梁斷面慣性矩為無限大」，你要把它翻譯成什麼？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每一層的側向勁度怎麼算？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提示：EI = ∞ 代表梁不會彎。想想這樣一來柱子的變形形狀會變成什麼。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944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4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翻譯成「剪力棟架」：每層縮成一個層勁度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剛性桿件約束</a:t>
            </a:r>
            <a:endParaRPr lang="en-US" sz="1300" dirty="0"/>
          </a:p>
        </p:txBody>
      </p:sp>
      <p:pic>
        <p:nvPicPr>
          <p:cNvPr id="7" name="Image 0" descr="formula_imgs/rig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22252"/>
            <a:ext cx="7772400" cy="13138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剪力棟架層勁度</a:t>
            </a:r>
            <a:endParaRPr lang="en-US" sz="1300" dirty="0"/>
          </a:p>
        </p:txBody>
      </p:sp>
      <p:pic>
        <p:nvPicPr>
          <p:cNvPr id="11" name="Image 1" descr="formula_imgs/story_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25977"/>
            <a:ext cx="7772400" cy="11687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怎麼記：梁 I = ∞ → 梁不彎 → 柱的兩端等於被「固接」住不能轉，柱的側移變形是標準的雙曲率形狀，勁度就是 12EI/L³。整層柱加起來就是該層的側向勁度。這樣一來，一個三層樓構架的自由度從十幾個降到 3 個。111 年四（三層樓構架、梁 I = ∞）、114 年一 的骨幹；111 年四的解第一行就是「柱側移剛度 k = 12EI/L³」。題目只會寫「構架之梁桿件斷面慣性矩為無限大」，剩下的翻譯完全靠自己。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一句「I = ∞」，把十幾個自由度降到 3 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rigid_fl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05860"/>
            <a:ext cx="6501384" cy="37606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 I = ∞ → 節點不轉 → 柱是雙曲率變形 → 每根柱的側移勁度 12EI/L³。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同一層的柱是「並聯」，所以層勁度是各柱勁度直接相加。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剛性樓板的效果一樣：同層所有節點的水平位移綁成一個自由度。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翻譯完之後，一個 n 層樓構架就只有 n 個自由度，可以手算。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 年四（cd 桿件 EI 值為無限大）也是同一類判斷。判斷「哪些自由度被綁在一起」是矩陣尺寸正確與否的關鍵，而考卷只給一句 I = ∞。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靜態凝縮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題目只問「對應側向力 P 的側向勁度」，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那些轉角自由度要怎麼處理？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提示：不受載的自由度可以先消掉。消的方式是一個含反矩陣的公式。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靜態凝縮：把不受載的自由度「吃掉」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凝縮公式</a:t>
            </a:r>
            <a:endParaRPr lang="en-US" sz="1300" dirty="0"/>
          </a:p>
        </p:txBody>
      </p:sp>
      <p:pic>
        <p:nvPicPr>
          <p:cNvPr id="7" name="Image 0" descr="formula_imgs/cond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59782"/>
            <a:ext cx="7772400" cy="8388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114 年一的正解</a:t>
            </a:r>
            <a:endParaRPr lang="en-US" sz="1300" dirty="0"/>
          </a:p>
        </p:txBody>
      </p:sp>
      <p:pic>
        <p:nvPicPr>
          <p:cNvPr id="11" name="Image 1" descr="formula_imgs/lat_20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268" y="4078224"/>
            <a:ext cx="5298184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怎麼記：把自由度分成 a（有載重、要保留）與 b（不受載、可消掉）。b 那一列的方程右邊是 0，可以解出 {D_b} = −[K_bb]⁻¹[K_ba]{D_a}，代回 a 那一列就得到 [K*]。減號那一項就是「b 自由度的柔性讓 a 變軟」的量。114 年一要求「推導對應側向作用力 P 之側向勁度」，正解 k_lateral = 84EI/5L³ 就是把兩個轉角自由度凝縮掉；101 年四、104 年四 也在做同一件事，只是題目說「求勁度矩陣」。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分塊 → 消去 → 只留下你要的那幾個自由度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ondense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04731"/>
            <a:ext cx="6501384" cy="29629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 [K] 依「有載重／不受載」分成四塊。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不受載那一列可以直接解出 {D_b}，因為它的方程右邊是 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代回去之後，保留的部分變成 [K*] = [K_aa] − [K_ab][K_bb]⁻¹[K_ba]。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減掉的那一項一定讓結構「變軟」—— 這是物理上的檢查點。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考場策略：只要題目問的是「某一個方向的勁度」而不是「全部位移」，就先想能不能凝縮。把 4×4 縮成 1×1，手算立刻變可行。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格床與扭轉元素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xy 平面的格床（grid）結構，元素勁度要多加什麼自由度？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實心圓桿的 J 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提示：載重沿 −z，所以桿件除了彎曲還會被「扭」。J 的分母是 32。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　114 年首次出現的題型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格床元素要含扭轉自由度 GJ/L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扭轉勁度</a:t>
            </a:r>
            <a:endParaRPr lang="en-US" sz="1300" dirty="0"/>
          </a:p>
        </p:txBody>
      </p:sp>
      <p:pic>
        <p:nvPicPr>
          <p:cNvPr id="7" name="Image 0" descr="formula_imgs/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60759"/>
            <a:ext cx="7772400" cy="16368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與座標轉換一起用</a:t>
            </a:r>
            <a:endParaRPr lang="en-US" sz="1300" dirty="0"/>
          </a:p>
        </p:txBody>
      </p:sp>
      <p:pic>
        <p:nvPicPr>
          <p:cNvPr id="11" name="Image 1" descr="formula_imgs/trans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99407"/>
            <a:ext cx="7772400" cy="1221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怎麼記：格床的每個節點有 3 個自由度 —— z 向平移、繞 x 轉、繞 y 轉。所以元素矩陣除了 12EI/L³、6EI/L²、4EI/L 這組彎曲項，還要多一組扭轉項 GJ/L。實心圓桿 J = πd⁴/32（＝2×I，因為圓形的極慣性矩是兩個方向慣性矩之和）。114 年四是 24 年第一次出現格床：三根實心圓桿在 xy 平面、載重沿 −z。題目給了 E、G、I，但 J 的算法與「格床元素要含扭轉自由度」完全沒提 —— 這種「第一次出現」的題型，沒有任何前例可以指望考卷會補提示。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自由度數判錯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正確做法：3×節點數 − 支承束制 − 軸向不變形／剛性約束。矩陣尺寸錯了，後面全部作廢。107 年二、108 年四、104 年四 都要求先定義自由度。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四個係數的次方記混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正確做法：12/L³、6/L²、4/L、2/L。用量綱檢查：力／位移次方最高、彎矩／轉角次方最低、交叉項在中間。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回代時漏掉 {f_F}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正確做法：{f} = [k]{d} + {f_F}。漏了，跨間載重造成的桿端內力整個不見。97 年四、100 年四、107 年二 都有此陷阱。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等效節點載重漏負號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正確做法：{P_eq} = −{FEM}。先鎖節點算固端力，再取負號放到節點上。負號漏掉，位移全部反向。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製造誤差／溫度整塊沒處理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正確做法：換成等效節點力 (EA/L)·ΔL₀·(c, s) 加到 {P}。100 年四整題就是這個，題目只寫「因製造瑕疵短了 0.02 m」。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座標轉換的 θ 量反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正確做法：自整體 x 軸逆時針量到桿件 i→j 的方向。量反了 s 變號，交叉項 cs 的符號就錯，[K] 整個歪掉。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會給但別賭 · 另外兩條橘色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12EI/L³ 與旋轉彈簧：各露過一次，但別指望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柱側移勁度</a:t>
            </a:r>
            <a:endParaRPr lang="en-US" sz="1300" dirty="0"/>
          </a:p>
        </p:txBody>
      </p:sp>
      <p:pic>
        <p:nvPicPr>
          <p:cNvPr id="7" name="Image 0" descr="formula_imgs/k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5334"/>
            <a:ext cx="7772400" cy="16077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旋轉彈簧勁度定義</a:t>
            </a:r>
            <a:endParaRPr lang="en-US" sz="1300" dirty="0"/>
          </a:p>
        </p:txBody>
      </p:sp>
      <p:pic>
        <p:nvPicPr>
          <p:cNvPr id="11" name="Image 1" descr="formula_imgs/kth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381" y="4078224"/>
            <a:ext cx="3263957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12EI/L³：24 年唯一一次被印出來就在本單元 —— 93 年四內文寫「勁度 k = 12EI/L³」，把柱直接簡化成彈簧給你。但 97 年四、101 年四、107 年二、108 年四、111 年四、114 年一 需要同一條時全部沒給。一次 vs. 六次，這就是「別賭」的定義。旋轉彈簧：108 年四是唯一給了數值的年份，明寫「旋轉彈簧勁度假設為 10EI/L」，還特別指示「旋轉彈簧視為一個元素」；104 年四同樣有抗扭彈簧 kθ，但只給符號、不給任何提示。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通常會給 · 唯一可以不背的一類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材料與斷面數值：要算數字就一定有給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考卷一定給</a:t>
            </a:r>
            <a:endParaRPr lang="en-US" sz="1300" dirty="0"/>
          </a:p>
        </p:txBody>
      </p:sp>
      <p:pic>
        <p:nvPicPr>
          <p:cNvPr id="7" name="Image 0" descr="formula_imgs/gi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492372"/>
            <a:ext cx="7772400" cy="604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證據：93 年四給 EI 與 k = 12EI/L³；98 年四給 AE = 1000 kN；99 年四給 EA = 10000 kN；100 年四給 EA = 10⁴ kN；102 年四給 E = 200 GPa、A = 10×10³ mm²；108 年四給旋轉彈簧 10EI/L；111 年四給 EI = 97200 kN-m²。其餘（96、97、101、104、107、114）是符號解。這一類完全不必背 —— 把 25 分鐘全部留給組矩陣。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元素矩陣 · 求解流程｜一頁速查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桁架元素（局部）</a:t>
            </a:r>
            <a:endParaRPr lang="en-US" sz="1050" dirty="0"/>
          </a:p>
        </p:txBody>
      </p:sp>
      <p:pic>
        <p:nvPicPr>
          <p:cNvPr id="7" name="Image 0" descr="formula_imgs/k_truss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028" y="1938528"/>
            <a:ext cx="1956179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桁架元素（整體）</a:t>
            </a:r>
            <a:endParaRPr lang="en-US" sz="1050" dirty="0"/>
          </a:p>
        </p:txBody>
      </p:sp>
      <p:pic>
        <p:nvPicPr>
          <p:cNvPr id="11" name="Image 1" descr="formula_imgs/k_truss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127" y="1938528"/>
            <a:ext cx="1997414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梁元素四個係數 ★</a:t>
            </a:r>
            <a:endParaRPr lang="en-US" sz="1050" dirty="0"/>
          </a:p>
        </p:txBody>
      </p:sp>
      <p:pic>
        <p:nvPicPr>
          <p:cNvPr id="15" name="Image 2" descr="formula_imgs/beam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08325"/>
            <a:ext cx="5326380" cy="49509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座標轉換</a:t>
            </a:r>
            <a:endParaRPr lang="en-US" sz="1050" dirty="0"/>
          </a:p>
        </p:txBody>
      </p:sp>
      <p:pic>
        <p:nvPicPr>
          <p:cNvPr id="19" name="Image 3" descr="formula_imgs/transfo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636" y="3230118"/>
            <a:ext cx="4144396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結構勁度方程</a:t>
            </a:r>
            <a:endParaRPr lang="en-US" sz="1050" dirty="0"/>
          </a:p>
        </p:txBody>
      </p:sp>
      <p:pic>
        <p:nvPicPr>
          <p:cNvPr id="23" name="Image 4" descr="formula_imgs/pk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166" y="4521708"/>
            <a:ext cx="2629905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求解位移</a:t>
            </a:r>
            <a:endParaRPr lang="en-US" sz="1050" dirty="0"/>
          </a:p>
        </p:txBody>
      </p:sp>
      <p:pic>
        <p:nvPicPr>
          <p:cNvPr id="27" name="Image 5" descr="formula_imgs/sol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610" y="4521708"/>
            <a:ext cx="3028448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回代（別漏 f_F）</a:t>
            </a:r>
            <a:endParaRPr lang="en-US" sz="1050" dirty="0"/>
          </a:p>
        </p:txBody>
      </p:sp>
      <p:pic>
        <p:nvPicPr>
          <p:cNvPr id="31" name="Image 6" descr="formula_imgs/reco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6391" y="5813298"/>
            <a:ext cx="3627455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自由度計數</a:t>
            </a:r>
            <a:endParaRPr lang="en-US" sz="1050" dirty="0"/>
          </a:p>
        </p:txBody>
      </p:sp>
      <p:pic>
        <p:nvPicPr>
          <p:cNvPr id="35" name="Image 7" descr="formula_imgs/dof_cou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924580"/>
            <a:ext cx="5326380" cy="42894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載重向量 · 凝縮 · 特殊約束｜一頁速查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等效節點載重</a:t>
            </a:r>
            <a:endParaRPr lang="en-US" sz="1050" dirty="0"/>
          </a:p>
        </p:txBody>
      </p:sp>
      <p:pic>
        <p:nvPicPr>
          <p:cNvPr id="7" name="Image 0" descr="formula_imgs/p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409" y="1938528"/>
            <a:ext cx="3185419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製造誤差／溫度</a:t>
            </a:r>
            <a:endParaRPr lang="en-US" sz="1050" dirty="0"/>
          </a:p>
        </p:txBody>
      </p:sp>
      <p:pic>
        <p:nvPicPr>
          <p:cNvPr id="11" name="Image 1" descr="formula_imgs/p_te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975" y="1938528"/>
            <a:ext cx="1713719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旋轉彈簧元素</a:t>
            </a:r>
            <a:endParaRPr lang="en-US" sz="1050" dirty="0"/>
          </a:p>
        </p:txBody>
      </p:sp>
      <p:pic>
        <p:nvPicPr>
          <p:cNvPr id="15" name="Image 2" descr="formula_imgs/k_sp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976" y="3230118"/>
            <a:ext cx="1946283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已知支承位移</a:t>
            </a:r>
            <a:endParaRPr lang="en-US" sz="1050" dirty="0"/>
          </a:p>
        </p:txBody>
      </p:sp>
      <p:pic>
        <p:nvPicPr>
          <p:cNvPr id="19" name="Image 3" descr="formula_imgs/supp_mo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77" y="3230118"/>
            <a:ext cx="4180714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靜態凝縮</a:t>
            </a:r>
            <a:endParaRPr lang="en-US" sz="1050" dirty="0"/>
          </a:p>
        </p:txBody>
      </p:sp>
      <p:pic>
        <p:nvPicPr>
          <p:cNvPr id="23" name="Image 4" descr="formula_imgs/cond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60044"/>
            <a:ext cx="5326380" cy="57483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剪力棟架層勁度</a:t>
            </a:r>
            <a:endParaRPr lang="en-US" sz="1050" dirty="0"/>
          </a:p>
        </p:txBody>
      </p:sp>
      <p:pic>
        <p:nvPicPr>
          <p:cNvPr id="27" name="Image 5" descr="formula_imgs/story_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415" y="4521708"/>
            <a:ext cx="4332839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剛性桿件約束</a:t>
            </a:r>
            <a:endParaRPr lang="en-US" sz="1050" dirty="0"/>
          </a:p>
        </p:txBody>
      </p:sp>
      <p:pic>
        <p:nvPicPr>
          <p:cNvPr id="31" name="Image 6" descr="formula_imgs/rig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78" y="5813298"/>
            <a:ext cx="3854080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扭轉元素（格床）</a:t>
            </a:r>
            <a:endParaRPr lang="en-US" sz="1050" dirty="0"/>
          </a:p>
        </p:txBody>
      </p:sp>
      <p:pic>
        <p:nvPicPr>
          <p:cNvPr id="35" name="Image 7" descr="formula_imgs/to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2037" y="5813298"/>
            <a:ext cx="3093594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SA-U2-4｜四句話帶走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考卷給「符號怎麼排」，不給「矩陣怎麼組」：101、104、108 印過 {P}=[K]{D}，但 24 年零個元素勁度矩陣。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四個係數 12/L³、6/L²、4/L、2/L 必須零錯誤 —— 它們跟 U2-3 傾角變位法的 4EI/L、2EI/L 是同一組東西。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載重向量最容易整塊漏：−{FEM}、製造誤差 (EA/L)ΔL₀(c,s)、彈簧、支承沉陷，四樣都要檢查。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本單元幾乎固定在第四題、只剩 25 分鐘 —— 先定自由度、能凝縮就凝縮，這是唯一能在時限內做完的路。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exam-wiki-SA</dc:creator>
  <cp:lastModifiedBy>exam-wiki-SA</cp:lastModifiedBy>
  <cp:revision>1</cp:revision>
  <dcterms:created xsi:type="dcterms:W3CDTF">2026-08-16T03:01:06Z</dcterms:created>
  <dcterms:modified xsi:type="dcterms:W3CDTF">2026-08-16T03:01:06Z</dcterms:modified>
</cp:coreProperties>
</file>