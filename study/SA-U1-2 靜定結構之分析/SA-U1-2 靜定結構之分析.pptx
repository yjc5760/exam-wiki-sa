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95728"/>
            <a:ext cx="118872" cy="1828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　結構學｜觀念講義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" y="2505456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靜定結構之分析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3584448"/>
            <a:ext cx="3840480" cy="0"/>
          </a:xfrm>
          <a:prstGeom prst="line">
            <a:avLst/>
          </a:prstGeom>
          <a:noFill/>
          <a:ln w="19050">
            <a:solidFill>
              <a:srgbClr val="93A9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3075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本單元的核心不是背公式，而是一套解題決策流程：先判靜定，再分「內力／位移」兩條路，最後看變形成因是外力還是沉陷、溫差、製造誤差。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3200400" cy="402336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463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理解導向 ‧ 六題微型例題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本單元四大主題 —— 全部掛在同一條決策鏈上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53312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1627632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71016" y="1600200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靜定判定：算 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2139696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桁架用 d = m + r − 2j；有閉合環的剛架用 d = 3m + r − 3j − c；樹狀梁與剛架用最快的 d = r − 3 − c。算出 d &lt; 0 一定是漏看了隱藏條件，不是題目出錯。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353312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3008" y="1353312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89040" y="1627632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01104" y="1600200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梁與剛架的內力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25616" y="2139696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內鉸是一把刀：切開後分主結構與附屬結構，先解附屬、再把傳遞力反向施加。內力圖靠 dV/dx = −w、dM/dx = V 推形狀，BMD 畫在受拉側，穿越零線處是反曲點。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803904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803904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4078224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71016" y="4050792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桁架的內力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5528" y="4590288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順序永遠是「整體反力 → 掃零力桿 → 截面法 → 節點法」。截面法的關鍵在矩心選在其餘兩根未知桿的交點，一式解一桿，不必從支承一路推過來。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3008" y="3803904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3008" y="3803904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89040" y="4078224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5" name="Text 23"/>
          <p:cNvSpPr/>
          <p:nvPr/>
        </p:nvSpPr>
        <p:spPr>
          <a:xfrm>
            <a:off x="648904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01104" y="4050792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位移與非外力成因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25616" y="4590288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單一直梁用共軛梁法（θ = V*、y = M*）；桁架、剛架、或含沉陷／溫差／製造誤差一律用單位力法。靜定結構對非外力成因免疫 —— 只變形，不生內力。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為什麼靜定結構「不需要 EI 就能算內力」？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5" name="Image 0" descr="diagram_imgs/d1 兩條分離的資訊鏈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▍內力側：未知力數恰好等於可用平衡方程式數，所以只靠 ΣFx = ΣFy = ΣM = 0（加上內鉸的 M = 0）就解得完，完全不碰 E、I、A。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▍位移側：拿已解出的 N、M，換成桿件伸長 e = NL/EA 與曲率 φ = M/EI，再沿桿件累加 —— 剛度只在這裡登場，而且只影響位移大小，不影響內力。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▍關鍵推論：支承沉陷、溫差、製造誤差都不經由內力產生變形，在靜定結構中內力恆為零，只造成純幾何的剛體位移。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▍所以題目給了 E、A 卻只問靜定結構在沉陷或溫差下的內力，那些數字純粹是誘餌，答案是 0。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F1 靜不定度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三條判別式 —— 核心永遠是「未知力數 − 可用方程式數」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平面桁架</a:t>
            </a:r>
            <a:endParaRPr lang="en-US" sz="1300" dirty="0"/>
          </a:p>
        </p:txBody>
      </p:sp>
      <p:pic>
        <p:nvPicPr>
          <p:cNvPr id="7" name="Image 0" descr="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4526" y="1417320"/>
            <a:ext cx="6377243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平面剛架（完整式）</a:t>
            </a:r>
            <a:endParaRPr lang="en-US" sz="1300" dirty="0"/>
          </a:p>
        </p:txBody>
      </p:sp>
      <p:pic>
        <p:nvPicPr>
          <p:cNvPr id="11" name="Image 1" descr="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474462"/>
            <a:ext cx="8122615" cy="62891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樹狀梁／剛架（考場首選）</a:t>
            </a:r>
            <a:endParaRPr lang="en-US" sz="1300" dirty="0"/>
          </a:p>
        </p:txBody>
      </p:sp>
      <p:pic>
        <p:nvPicPr>
          <p:cNvPr id="15" name="Image 2" descr="formula_imgs/f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512378"/>
            <a:ext cx="8122615" cy="63791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內部釋放數與判定</a:t>
            </a:r>
            <a:endParaRPr lang="en-US" sz="1300" dirty="0"/>
          </a:p>
        </p:txBody>
      </p:sp>
      <p:pic>
        <p:nvPicPr>
          <p:cNvPr id="19" name="Image 3" descr="formula_imgs/f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801" y="4544568"/>
            <a:ext cx="6118694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是內部釋放數：連接 n 根桿的內鉸釋放 n − 1 個彎矩。無閉合環時一律用 d = r − 3 − c，十秒判完；有閉合環（例如箱型剛架）才需要回到完整式。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三條式子怎麼選？先看結構是桁架、閉合環，還是樹狀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5" name="Image 0" descr="diagram_imgs/d2 靜不定度三種判別式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▍桁架每個節點只提供 ΣFx、ΣFy 兩式（桿件是二力桿，節點不傳彎矩）→ 方程式數 = 2j。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▍剛架節點可傳彎矩，每根桿有 3 個內力、每個節點提供 3 式 → d = 3m + r − 3j − c。這條式子永遠正確，但數桿件與節點很花時間。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▍樹狀（無閉合環）結構直接用 d = r − 3 − c：整體只有 3 個平衡式，多出來的反力就是贅餘，每個內鉸再還你一個方程式。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▍d = 0 靜定、d &gt; 0 靜不定、d &lt; 0 表示你漏看了隱藏條件（下一頁）。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算出 d &lt; 0 的四個標準原因 —— 國考不會出機構題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5" name="Image 0" descr="diagram_imgs/d3 d小於零的四個隱藏條件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▍① 中央缺底弦的拱形 → 其實是三鉸拱：兩端都是鉸支承（r = 4），中央鉸再提供第 4 個方程式，d = 4 − 3 − 1 = 0。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▍② 圖上的虛線常常是拉力繫索（tie rod），它是一根真桿件，必須計入 m；漏算就會少 1。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▍③ 滾支承靠在垂直牆或斜面上時，反力垂直於接觸面（可能只有水平分量），方向錯了整題反力都錯，但 r 仍只算 1。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▍④ 彈簧支承只代表 1 個反力分量，不會讓結構變靜不定；彈簧常數 k 只用來算下陷量 Δ = R/k。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微型例題①　五種結構的靜不定度：把三條式子各用一次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 靜定判定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(a) 外伸簡支梁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3、c =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009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1531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(b) 三跨 Gerber 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1531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5、c =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77262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8702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(c) Pratt 桁架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68702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13、j = 8、r = 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14433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5873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(d) 三鉸剛架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05873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4、c = 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5160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3044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(e) 一端彈簧支承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43044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3、c = 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(a)(b) 樹狀梁 → 用 d = r − 3 − c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(a) 鉸(2) + 滾(1) = 3，無內鉸 → d = 3 − 3 − 0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(b) 鉸(2) + 滾(1)×3 = 5，兩個內鉸 c = 2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　d = 5 − 3 − 2 = 0（Gerber 梁一定是靜定）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內鉸「釋放」了一個彎矩，等於多送你一個方程式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(c) 桁架 → 用 d = m + r − 2j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桿件：下弦 4 + 上弦 2 + 豎桿 3 + 斜桿 4 = 13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8 個 → 方程式 2 × 8 = 16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= 13 + 3 − 16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豎桿、斜桿都要數；虛線的繫索也算一根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(d) 三鉸剛架 → 小心兩端都是鉸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兩端鉸支承各給 2 個反力 → r = 2 + 2 = 4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頂部內鉸 → c = 1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= 4 − 3 − 1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若誤把一端當滾支承 → r = 3 → 算出 d = −1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(e) 彈簧支承的陷阱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彈簧只提供 1 個反力分量，與滾支承同級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2 + 1 = 3 → d = 3 − 3 − 0 = 0（仍是靜定）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不進入靜不定度，只用來算該點下陷 Δ = R / k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 k 就以為變靜不定，是本單元最常見的誤判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五題的 d 全部為 0 —— 國考的靜定題就是要你在 30 秒內確認這件事，然後才動手算內力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F2 平衡與內力圖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平衡三式 ＋ 內鉸條件 ＋ 兩條微分關係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整體平衡（三式）</a:t>
            </a:r>
            <a:endParaRPr lang="en-US" sz="1300" dirty="0"/>
          </a:p>
        </p:txBody>
      </p:sp>
      <p:pic>
        <p:nvPicPr>
          <p:cNvPr id="7" name="Image 0" descr="formula_imgs/f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058" y="1417320"/>
            <a:ext cx="5232179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內鉸：多一個方程式</a:t>
            </a:r>
            <a:endParaRPr lang="en-US" sz="1300" dirty="0"/>
          </a:p>
        </p:txBody>
      </p:sp>
      <p:pic>
        <p:nvPicPr>
          <p:cNvPr id="11" name="Image 1" descr="formula_imgs/f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477830"/>
            <a:ext cx="8122615" cy="6221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剪力與載重</a:t>
            </a:r>
            <a:endParaRPr lang="en-US" sz="1300" dirty="0"/>
          </a:p>
        </p:txBody>
      </p:sp>
      <p:pic>
        <p:nvPicPr>
          <p:cNvPr id="15" name="Image 2" descr="formula_imgs/f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353" y="3502152"/>
            <a:ext cx="3191589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彎矩與剪力</a:t>
            </a:r>
            <a:endParaRPr lang="en-US" sz="1300" dirty="0"/>
          </a:p>
        </p:txBody>
      </p:sp>
      <p:pic>
        <p:nvPicPr>
          <p:cNvPr id="19" name="Image 3" descr="formula_imgs/f2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494" y="4544568"/>
            <a:ext cx="2901308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兩條微分關係換成「面積法」更好用：ΔV 等於 w 圖面積取負號，ΔM 等於 V 圖面積。V = 0 的位置就是 M 的極值點；V 不變號時，最大 M 一定落在端點。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內鉸是一把刀 —— 切開後先解「站不住」的那一半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5" name="Image 0" descr="diagram_imgs/d4 內鉸切割與主附屬結構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▍判斷法只有一句話：拿掉哪一半，另一半還站得住？站得住的是主結構，站不住的是附屬結構。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▍本例拿掉 CD 後 AC 仍是懸臂 → AC 是主結構；拿掉 AC 後 CD 只剩一個滾支承會倒 → CD 是附屬結構。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▍一定要「先附屬、後主」：附屬結構未知數少可以獨立解出，再把內鉸傳遞力 V_C = 10 kN 反向施加回主結構。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▍內鉸只傳遞剪力與軸力，彎矩恆為零 —— 這就是 d = r − 3 − c 裡那個 c 的物理意義。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微型例題②　帶內鉸梁：反力、SFD、BMD 一次到底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 內力（梁）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固定端 — C 內鉸 — D 滾支承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009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1531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1531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 = 8 m、CD = 4 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77262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8702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 段均布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68702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10 kN/m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14433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5873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 段集中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05873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= 20 kN（距 C 2 m）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5160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3044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43044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= 4 − 3 − 1 = 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先解附屬結構 CD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ΣM_C = 0：R_D × 4 = 20 × 2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R_D = 10 kN（↑）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ΣF_y = 0：內鉸傳遞剪力 V_C = 20 − 10 = 10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V_C 由 CD 傳給 AC，方向向下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V_C 反向施加，解主結構 AC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ΣF_y = 0：R_A = w·L + V_C = 80 + 10 = 90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ΣM_A = 0：M_A = 80×4 + 10×8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 = 400 kN·m（上側受拉）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檢查整體：90 + 10 = 100 ✔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畫 SFD：用 dV/dx = −w 推形狀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端起跳 V = +90，AC 段斜率 −w = −10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8⁻：V = 90 − 80 = +10（不歸零！）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 段 V = +10，在 P 處跳到 -10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 全段不變號 → AC 段彎矩單調，極值在端點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畫 BMD：畫在受拉側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M(x) = −400 + 90x − 5x² = −5(x−8)(x−10)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8 代入得 M = 0 ✔（內鉸必為零）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 段全為負（上側受拉），最大 400 kN·m 在 A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CD 段正彎矩 +20 kN·m 於 P 作用點（下側受拉）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R_A = 90 kN、M_A = 400 kN·m、R_D = 10 kN；反曲點恰好落在內鉸 x = 8 m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SFD 與 BMD 不必逐點代值 —— 從左往右推形狀就好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5" name="Image 0" descr="diagram_imgs/d5 SFD與BMD的微分關係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▍無載重段 V 是常數、M 是直線；均布段 V 是斜直線、M 是二次曲線；集中力處 V 跳躍、M 出現折點；集中彎矩處 V 不變、M 跳躍。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▍面積法：ΔV = −（w 圖面積），ΔM = ＋（V 圖面積）。只要算關鍵點的數值，中間形狀由規則決定。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▍本例 V 從 +90 降到 +10 都沒有變號，所以 AC 段沒有極值點，最大彎矩必定在固定端 A。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▍BMD 畫在受拉側後，圖形穿越零線的位置就是反曲點；本例反曲點正好與內鉸重合。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剛架：彎矩畫在受拉側，並在節點檢查彎矩平衡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5" name="Image 0" descr="diagram_imgs/d6 剛架BMD與節點彎矩平衡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▍三鉸剛架多了頂部內鉸這一式，才解得出水平反力：H_A = 14 kN、H_E = 34 kN。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▍柱腳被水平反力往內推 → 柱的外側受拉，BMD 畫在柱的外側；梁大部分區段上側受拉，畫在梁的上方。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▍節點彎矩必須平衡：B 點梁端 84 = 柱端 84，D 點 204 = 204。畫完 BMD 一定要做這個檢查。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▍拱效應把彎矩換成了軸壓力：梁的最大正彎矩只有 6.25 kN·m，反曲點在 x = 3.5 m 與內鉸 6.0 m。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微型例題③　三鉸剛架：反力、柱頂彎矩、反曲點位置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 內力（剛架）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跨度 × 柱高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 m × 6 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009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1531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1531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A、E 皆為鉸支承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77262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8702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梁滿佈均布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68702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8 kN/m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14433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5873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點水平載重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05873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= 20 kN（→）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5160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3044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43044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= 4 − 3 − 1 = 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整體平衡先解豎向反力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ΣM_A = 0：V_E × 12 = (8×12)×6 + 20×6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V_E = (576 + 120)/12 = 58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ΣF_y = 0：V_A = 96 − 58 = 38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水平載重也對 A 產生力矩（力臂 = 柱高），別漏掉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用內鉸的 M = 0 解水平反力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取左半部（A–B–C）對內鉸 C 取矩：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V_A×6 − H_A×6 − (8×6)×3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H_A = (38×6 − 144)/6 = 14 kN（→）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ΣF_x = 0：H_E = 34 kN（←）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柱頂彎矩 = 水平反力 × 柱高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 = H_A × h = 14 × 6 = 84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M_D = H_E × h = 34 × 6 = 204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兩柱皆為外側受拉（柱腳被往內推）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檢查：14 − 34 + 20 = 0 ✔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梁彎矩方程式與反曲點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M(x) = −4x² + 38x − 84 = −2(2x−7)(x−6)（x 由 B 起算）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= 0 → x = 3.5 m 與 x = 6 m（內鉸）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dM/dx = 0 → x = 4.75 m，M_max⁺ = 6.25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正彎矩只有 6.25，遠小於柱頂的 204 —— 這就是拱效應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V_A = 38、V_E = 58、H_A = 14、H_E = 34 kN；M_B = 84、M_D = 204 kN·m（皆外側／上側受拉）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F3 桁架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桁架：節點法、截面法，與零力桿的判定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節點法（未知數 ≤ 2）</a:t>
            </a:r>
            <a:endParaRPr lang="en-US" sz="1300" dirty="0"/>
          </a:p>
        </p:txBody>
      </p:sp>
      <p:pic>
        <p:nvPicPr>
          <p:cNvPr id="7" name="Image 0" descr="formula_imgs/f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235" y="1417320"/>
            <a:ext cx="7339825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截面法：矩心的選法</a:t>
            </a:r>
            <a:endParaRPr lang="en-US" sz="1300" dirty="0"/>
          </a:p>
        </p:txBody>
      </p:sp>
      <p:pic>
        <p:nvPicPr>
          <p:cNvPr id="11" name="Image 1" descr="formula_imgs/f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594" y="2459736"/>
            <a:ext cx="8085107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斜桿分量比</a:t>
            </a:r>
            <a:endParaRPr lang="en-US" sz="1300" dirty="0"/>
          </a:p>
        </p:txBody>
      </p:sp>
      <p:pic>
        <p:nvPicPr>
          <p:cNvPr id="15" name="Image 2" descr="formula_imgs/f3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301" y="3502152"/>
            <a:ext cx="4131694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零力桿兩大規則</a:t>
            </a:r>
            <a:endParaRPr lang="en-US" sz="1300" dirty="0"/>
          </a:p>
        </p:txBody>
      </p:sp>
      <p:pic>
        <p:nvPicPr>
          <p:cNvPr id="19" name="Image 3" descr="formula_imgs/f3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4638088"/>
            <a:ext cx="8122615" cy="47132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求解順序固定：先算整體反力 → 掃蕩零力桿 → 用截面法切出要求的桿 → 剩下的才逐節點推。分量比 N_x : N_y : N = a : b : L 可以省掉所有三角函數。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零力桿：兩條規則掃掉一半桿件，但要記得規則何時失效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5" name="Image 0" descr="diagram_imgs/d7 零力桿兩大規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▍規則一：二桿節點，無外力、無支承、兩桿不共線 → 兩桿皆為零力桿。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▍規則二：三桿節點，其中兩桿共線、無外力、無支承 → 不共線的第三桿為零力桿（共線的兩桿力相等）。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▍規則失效的兩種情形：節點上有外力，或節點本身是支承 —— 兩者都在節點方程式裡多加了一個力。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▍本例 L1、L3 是無載重的三桿節點且下弦共線 → 兩根豎桿為零力桿；但 U2 有 40 kN 外力，所以 L2U2 反而是 40 kN 壓力桿。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截面法的唯一訣竅：矩心選在「其餘兩根未知桿的交點」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5" name="Image 0" descr="diagram_imgs/d8 節點法與截面法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▍一刀切過三根桿，左（或右）半部就成為一個自由體，只有 3 個未知數，恰好對應 3 個平衡式。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▍求下弦 → 矩心取上弦節點 U1（另外兩桿都通過它）；求上弦 → 矩心取下弦節點 L2；求斜桿 → 上下弦皆水平，直接用 ΣF_y。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▍一式解一桿，不必從支承逐節點推過來 —— K 型桁架、只問一兩根桿的題目一定用截面法。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▍節點未知數 ≤ 2 時才用節點法；超過 2 個就先用截面法把數量壓下來。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微型例題④　Pratt 桁架：掃零力桿 ＋ 一刀解三根桿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 內力（桁架）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格間 × 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格 @ 4 m，高 4 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L0 鉸、L4 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上弦 U1、U2、U3 各 40 kN（↓）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= 13 + 3 − 2(8) = 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整體反力 ＋ 掃零力桿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 → R_L0 = R_L4 = 60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L1：三桿節點、無載重、下弦兩桿共線 → L1U1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L3：同理 → L3U3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 根桿先掉 2 根，下弦力可以直接由左往右傳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切截面 a–a，矩心取 U1 → 下弦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切過 U1U2、U1L2、L1L2，取左半部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U1U2 與 U1L2 都通過 U1 → ΣM_U1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60 × 4 = N × 4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N(L1L2) = +60 kN（拉）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矩心改取 L2 → 上弦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L1L2 與 U1L2 都通過 L2 → ΣM_L2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60×8 − 40×4 = −N × 4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N(U1U2) = −80 kN → 80 kN（壓）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簡支桁架：下弦受拉、上弦受壓，符號先用常識檢查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斜桿用 ΣF_y，並用節點法驗算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上下弦皆水平 → ΣF_y：60 − 40 = N × (4/√32)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N(U1L2) = 20√2 = 28.28 kN（拉）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驗算：節點 L0 的 ΣF_y 得 L0U1 = 84.85 kN（壓）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再由 ΣF_x 得 L0L1 = 60 kN，與截面法一致 ✔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L1L2 = +60 kN（拉）、U1U2 = 80 kN（壓）、U1L2 = 28.28 kN（拉）、L1U1 = L3U3 = 0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F4 共軛梁法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共軛梁法：把 M/EI 當載重，再算一次剪力與彎矩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撓曲微分方程</a:t>
            </a:r>
            <a:endParaRPr lang="en-US" sz="1300" dirty="0"/>
          </a:p>
        </p:txBody>
      </p:sp>
      <p:pic>
        <p:nvPicPr>
          <p:cNvPr id="7" name="Image 0" descr="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285" y="1417320"/>
            <a:ext cx="2005726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彈性載重</a:t>
            </a:r>
            <a:endParaRPr lang="en-US" sz="1300" dirty="0"/>
          </a:p>
        </p:txBody>
      </p:sp>
      <p:pic>
        <p:nvPicPr>
          <p:cNvPr id="11" name="Image 1" descr="formula_imgs/f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9932" y="2459736"/>
            <a:ext cx="4226432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轉角 = 共軛梁剪力</a:t>
            </a:r>
            <a:endParaRPr lang="en-US" sz="1300" dirty="0"/>
          </a:p>
        </p:txBody>
      </p:sp>
      <p:pic>
        <p:nvPicPr>
          <p:cNvPr id="15" name="Image 2" descr="formula_imgs/f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545" y="3502152"/>
            <a:ext cx="3247205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 = 共軛梁彎矩</a:t>
            </a:r>
            <a:endParaRPr lang="en-US" sz="1300" dirty="0"/>
          </a:p>
        </p:txBody>
      </p:sp>
      <p:pic>
        <p:nvPicPr>
          <p:cNvPr id="19" name="Image 3" descr="formula_imgs/f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226" y="4544568"/>
            <a:ext cx="6647843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支承要換：簡支↔簡支、固定端↔自由端、自由端↔固定端、中間支承↔內鉸、內鉸↔中間支承。換的依據是邊界條件的對偶（固定端 θ = y = 0，對應共軛梁的 V* = M* = 0）。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共軛梁法的兩個好處：不必積分，而且一眼看出最大位移在哪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5" name="Image 0" descr="diagram_imgs/d9 共軛梁法對應關係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▍把真實梁的 M/EI 圖當作分布載重放到共軛梁上，剪力就是轉角、彎矩就是位移 —— 全部化成大家最熟的靜力計算。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▍最大位移發生在 V* = 0 的位置，也就是「彈性載重面積左右相等」的那一點；這比逐點微分快得多。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▍本例 θ_A = 300/EI = 7.50 mrad、θ_B = 240/EI = 6.00 mrad。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▍δ_max = 19.60 mm 發生在 x = 4.101 m，不在跨中 —— 但跨中值 19.41 mm 只差 0.97%，考場可當快速估算。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微型例題⑤　共軛梁法：端點轉角與最大位移的位置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 位移（只有外力）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簡支梁跨度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= 9 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集中載重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= 60 kN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作用位置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距 A 3 m（距 B 6 m）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斷面剛度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 = 40,000 kN·m²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先畫真實梁的 M 圖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R_A = P·b/L = 40 kN、R_B = 20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圖為三角形，尖峰在載重點：M = 40×3 = 120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左三角面積 A₁ = 180/EI（形心距 A 2.00 m）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右三角面積 A₂ = 360/EI（形心距 A 5 m）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共軛梁的支承與反力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兩端簡支 → 共軛梁仍是兩端簡支（支承不必換）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ΣM_B = 0：V*_A × 9 = 180×7 + 360×4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V*_A = 300/EI　V*_B = 240/EI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θ_A = 7.50 mrad、θ_B = 6.00 mrad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 V* = 0 的位置 → 最大位移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A 往右累積彈性載重，直到等於 V*_A = 300/EI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解得 x² − 18x + 57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9 − √24 = 4.1010 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閉合解檢核：距 B 為 √((L²−a²)/3) = 4.8990 m ✔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取該點的 M* 得最大位移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y_max = M*(x) = 783.8/EI（向下）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δ_max = 19.596 mm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閉合解 δ = Pa(L²−a²)^1.5 / (9√3·L·EI) 完全吻合 ✔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跨中位移 19.406 mm，僅差 0.97%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θ_A = 7.50 mrad、θ_B = 6.00 mrad；δ_max = 19.60 mm 發生在距 A 4.101 m（非跨中）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F5 單位力法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廣義虛功方程式 —— 沉陷、溫差、製造誤差一併處理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廣義虛功式（桁架）</a:t>
            </a:r>
            <a:endParaRPr lang="en-US" sz="1300" dirty="0"/>
          </a:p>
        </p:txBody>
      </p:sp>
      <p:pic>
        <p:nvPicPr>
          <p:cNvPr id="7" name="Image 0" descr="formula_imgs/f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3328" y="1417320"/>
            <a:ext cx="4219639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桿件真實總伸長</a:t>
            </a:r>
            <a:endParaRPr lang="en-US" sz="1300" dirty="0"/>
          </a:p>
        </p:txBody>
      </p:sp>
      <p:pic>
        <p:nvPicPr>
          <p:cNvPr id="11" name="Image 1" descr="formula_imgs/f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095" y="2459736"/>
            <a:ext cx="3470106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梁與剛架</a:t>
            </a:r>
            <a:endParaRPr lang="en-US" sz="1300" dirty="0"/>
          </a:p>
        </p:txBody>
      </p:sp>
      <p:pic>
        <p:nvPicPr>
          <p:cNvPr id="15" name="Image 2" descr="formula_imgs/f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754" y="3502152"/>
            <a:ext cx="2036787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反解「使位移為零的 P」</a:t>
            </a:r>
            <a:endParaRPr lang="en-US" sz="1300" dirty="0"/>
          </a:p>
        </p:txBody>
      </p:sp>
      <p:pic>
        <p:nvPicPr>
          <p:cNvPr id="19" name="Image 3" descr="formula_imgs/f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384" y="4544568"/>
            <a:ext cx="4187527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左邊是虛擬力系做的外功（含虛擬反力乘上真實支承移動），右邊是虛擬內力乘上真實變形。支承沉陷走左邊、桿件三成因走右邊，兩者不要混在一起。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四個成因獨立計算再疊加 —— 支承沉陷走左邊那一項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5" name="Image 0" descr="diagram_imgs/d10 廣義虛功式四個來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▍桿件的真實總伸長有三個來源：外力 NL/EA、溫差 α·ΔT·L、製造誤差 δ。三者相加才是「真實」的 e，全部乘上虛擬桿力 n̄ 後加總。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▍支承沉陷不進 e，它是虛擬反力 R̄ 乘上真實支承移動，放在等號左邊 —— 混進右邊是最常見的錯誤。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▍本例四個成因的貢獻：外力 2.480、溫差 0.810、誤差 1.250、沉陷 2.500 mm，合計 7.040 mm 向下。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▍驗算符號的方法：先獨立畫一次純沉陷的剛體位移直線（A 沉 5 mm、B 不動 → C 在中點 → 沉 2.5 mm），與式子算出來的數字比對。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微型例題⑥　三成因疊加，再反解「使位移為零的載重」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 位移（含非外力成因）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A(0,0) 鉸、B(6,0) 滾、C(3,4)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009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1531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1531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點 P = 100 kN（↓）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77262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8702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溫差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68702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 桿溫升 30°C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14433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5873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製造誤差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05873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BC 桿短少 2 mm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5160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3044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支承沉陷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43044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下沉 5 mm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真實桿力 N 與虛擬桿力 n̄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C 的 ΣF_y：N_AC = N_BC = -62.5 kN（壓）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A 的 ΣF_x：N_AB = +37.5 kN（拉）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虛擬系統 = C 點放 1 kN 向下 → n̄ = N / 100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n̄_AC = n̄_BC = -0.625、n̄_AB = +0.375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外力項：Σ n̄ · NL/EA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e_AC = e_BC = -1.5625 mm（縮短）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e_AB = +1.4063 mm（伸長）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 n̄ e = 2(-0.625)(-1.5625) + (0.375)(1.4063)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+2.4805 mm（向下）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溫差、製造誤差、支承沉陷三項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溫差：e = αΔT·L = 2.160 mm → n̄_AB × e = +0.810 mm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誤差：BC 短 2 mm → (-0.625)(−2) = +1.250 mm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沉陷：−Σ R̄Δ = 0.5 × 5 = +2.500 mm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沉陷項等於純剛體位移，可用幾何直接驗算 ✔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疊加，並反解使 Δ_C = 0 的載重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Δ_C = 2.480 + 0.810 + 1.250 + 2.500 = 7.040 mm 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非外力成因合計 4.560 mm，與 P 無關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令 (2.4805)×(−Q/100) + 4.560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 = 183.8 kN（向上）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Δ_C = 7.04 mm ↓；若要 Δ_C = 0，C 點載重須改為向上 183.8 kN —— 沉陷造成的剛體位移，要用很大的力才抵得掉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DECISION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考場三步驟：拿到題目先問自己這三個問題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16736"/>
            <a:ext cx="3545738" cy="4224528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16736"/>
            <a:ext cx="3545738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371600"/>
            <a:ext cx="31068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2376" y="1591056"/>
            <a:ext cx="31068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靜定嗎？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157984"/>
            <a:ext cx="3179978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57984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=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2578608"/>
            <a:ext cx="30336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靜定，往下走。桁架用 m+r−2j；有閉合環用 3m+r−3j−c；樹狀用 r−3−c。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694176"/>
            <a:ext cx="3179978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94176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&lt; 0 → 回頭找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4114800"/>
            <a:ext cx="3033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三鉸拱（兩端皆鉸）／拉力繫索（虛線也是桿）／斜面或垂直牆上的滾支承／彈簧支承（r+1，Δ=R/k）。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rot="18900000">
            <a:off x="4103522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322978" y="1316736"/>
            <a:ext cx="3545738" cy="4224528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22978" y="1316736"/>
            <a:ext cx="3545738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7" name="Text 15"/>
          <p:cNvSpPr/>
          <p:nvPr/>
        </p:nvSpPr>
        <p:spPr>
          <a:xfrm>
            <a:off x="4542434" y="1371600"/>
            <a:ext cx="31068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42434" y="1591056"/>
            <a:ext cx="31068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要內力還是位移？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05858" y="2157984"/>
            <a:ext cx="3179978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05858" y="2157984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9010" y="2578608"/>
            <a:ext cx="303367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桁架：反力 → 掃零力桿 → 截面法 → 節點法。梁與剛架：切內鉸 → 先附屬後主結構 → 用微分關係推 SFD／BMD，畫在受拉側。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05858" y="4206240"/>
            <a:ext cx="3179978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23" name="Text 21"/>
          <p:cNvSpPr/>
          <p:nvPr/>
        </p:nvSpPr>
        <p:spPr>
          <a:xfrm>
            <a:off x="4505858" y="4206240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 → 進入 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9010" y="4626864"/>
            <a:ext cx="303367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位移一定要先有內力才算得動；先把 N、M 解完再說。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rot="18900000">
            <a:off x="7923581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26" name="Shape 24"/>
          <p:cNvSpPr/>
          <p:nvPr/>
        </p:nvSpPr>
        <p:spPr>
          <a:xfrm>
            <a:off x="8143037" y="1316736"/>
            <a:ext cx="3545738" cy="4224528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43037" y="1316736"/>
            <a:ext cx="3545738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8" name="Text 26"/>
          <p:cNvSpPr/>
          <p:nvPr/>
        </p:nvSpPr>
        <p:spPr>
          <a:xfrm>
            <a:off x="8362493" y="1371600"/>
            <a:ext cx="310682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362493" y="1591056"/>
            <a:ext cx="31068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變形成因是什麼？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325917" y="2157984"/>
            <a:ext cx="3179978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31" name="Text 29"/>
          <p:cNvSpPr/>
          <p:nvPr/>
        </p:nvSpPr>
        <p:spPr>
          <a:xfrm>
            <a:off x="8325917" y="2157984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只有外力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99069" y="2578608"/>
            <a:ext cx="303367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單一直梁且要找最大位移位置 → 共軛梁法（θ=V*、y=M*）。桁架、剛架 → 單位力法。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325917" y="3803904"/>
            <a:ext cx="3179978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34" name="Text 32"/>
          <p:cNvSpPr/>
          <p:nvPr/>
        </p:nvSpPr>
        <p:spPr>
          <a:xfrm>
            <a:off x="8325917" y="3803904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含沉陷／溫差／誤差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99069" y="4224528"/>
            <a:ext cx="3033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一律用廣義虛功式。桿件三成因走右邊的 Σn̄e，支承沉陷走左邊的 ΣR̄Δ；先用剛體位移直線獨立驗算符號。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5687568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1B2A41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68756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三個問題答完，解題路線就唯一了 —— 本單元不存在「想不出來從哪裡下手」的題目。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 d11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全景圖：三步驟決策流程與六題例題的定位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5" name="Image 0" descr="diagram_imgs/d11 全景決策流程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▍例題①落在 STEP 1：五種結構各用一次判別式，順便處理彈簧陷阱。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▍例題②③④落在 STEP 2：分別是帶內鉸梁（主／附屬 + SFD／BMD）、三鉸剛架（受拉側 + 節點平衡）、桁架（零力桿 + 截面法）。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▍例題⑤⑥落在 STEP 3：共軛梁法找最大位移位置；單位力法做三成因疊加並反解載重。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▍考前三分鐘只看這一張，就能把整個單元的判斷順序完整復習一次。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靜不定度 ‧ 平衡 ‧ 內力圖微分關係 ‧ 桁架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</a:t>
            </a:r>
            <a:endParaRPr lang="en-US" sz="1100" dirty="0"/>
          </a:p>
        </p:txBody>
      </p:sp>
      <p:pic>
        <p:nvPicPr>
          <p:cNvPr id="7" name="Image 0" descr="formula_imgs/s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33988"/>
            <a:ext cx="2352980" cy="49137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49676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9676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3477692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剛架完整式</a:t>
            </a:r>
            <a:endParaRPr lang="en-US" sz="1100" dirty="0"/>
          </a:p>
        </p:txBody>
      </p:sp>
      <p:pic>
        <p:nvPicPr>
          <p:cNvPr id="11" name="Image 1" descr="formula_imgs/s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980" y="1793309"/>
            <a:ext cx="2352980" cy="37273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6432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96432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6324448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樹狀簡化式</a:t>
            </a:r>
            <a:endParaRPr lang="en-US" sz="1100" dirty="0"/>
          </a:p>
        </p:txBody>
      </p:sp>
      <p:pic>
        <p:nvPicPr>
          <p:cNvPr id="15" name="Image 2" descr="formula_imgs/s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736" y="1697368"/>
            <a:ext cx="2352980" cy="56461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43187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043187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9171203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</a:t>
            </a:r>
            <a:endParaRPr lang="en-US" sz="1100" dirty="0"/>
          </a:p>
        </p:txBody>
      </p:sp>
      <p:pic>
        <p:nvPicPr>
          <p:cNvPr id="19" name="Image 3" descr="formula_imgs/s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491" y="1803280"/>
            <a:ext cx="2352980" cy="3527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2920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水平平衡</a:t>
            </a:r>
            <a:endParaRPr lang="en-US" sz="1100" dirty="0"/>
          </a:p>
        </p:txBody>
      </p:sp>
      <p:pic>
        <p:nvPicPr>
          <p:cNvPr id="23" name="Image 4" descr="formula_imgs/s2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216" y="2971800"/>
            <a:ext cx="1480996" cy="5943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49676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49676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6" name="Text 19"/>
          <p:cNvSpPr/>
          <p:nvPr/>
        </p:nvSpPr>
        <p:spPr>
          <a:xfrm>
            <a:off x="3477692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豎向平衡</a:t>
            </a:r>
            <a:endParaRPr lang="en-US" sz="1100" dirty="0"/>
          </a:p>
        </p:txBody>
      </p:sp>
      <p:pic>
        <p:nvPicPr>
          <p:cNvPr id="27" name="Image 5" descr="formula_imgs/s2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0799" y="2971800"/>
            <a:ext cx="1463342" cy="59436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96432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196432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0" name="Text 22"/>
          <p:cNvSpPr/>
          <p:nvPr/>
        </p:nvSpPr>
        <p:spPr>
          <a:xfrm>
            <a:off x="6324448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力矩平衡</a:t>
            </a:r>
            <a:endParaRPr lang="en-US" sz="1100" dirty="0"/>
          </a:p>
        </p:txBody>
      </p:sp>
      <p:pic>
        <p:nvPicPr>
          <p:cNvPr id="31" name="Image 6" descr="formula_imgs/s2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1286" y="2971800"/>
            <a:ext cx="1435880" cy="5943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43187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043187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4" name="Text 25"/>
          <p:cNvSpPr/>
          <p:nvPr/>
        </p:nvSpPr>
        <p:spPr>
          <a:xfrm>
            <a:off x="9171203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內鉸條件</a:t>
            </a:r>
            <a:endParaRPr lang="en-US" sz="1100" dirty="0"/>
          </a:p>
        </p:txBody>
      </p:sp>
      <p:pic>
        <p:nvPicPr>
          <p:cNvPr id="35" name="Image 7" descr="formula_imgs/s2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8375" y="2971800"/>
            <a:ext cx="2015212" cy="59436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2920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02920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8" name="Text 28"/>
          <p:cNvSpPr/>
          <p:nvPr/>
        </p:nvSpPr>
        <p:spPr>
          <a:xfrm>
            <a:off x="630936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剪力與載重</a:t>
            </a:r>
            <a:endParaRPr lang="en-US" sz="1100" dirty="0"/>
          </a:p>
        </p:txBody>
      </p:sp>
      <p:pic>
        <p:nvPicPr>
          <p:cNvPr id="39" name="Image 8" descr="formula_imgs/s3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4265093"/>
            <a:ext cx="2352980" cy="586381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49676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349676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2" name="Text 31"/>
          <p:cNvSpPr/>
          <p:nvPr/>
        </p:nvSpPr>
        <p:spPr>
          <a:xfrm>
            <a:off x="3477692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彎矩與剪力</a:t>
            </a:r>
            <a:endParaRPr lang="en-US" sz="1100" dirty="0"/>
          </a:p>
        </p:txBody>
      </p:sp>
      <p:pic>
        <p:nvPicPr>
          <p:cNvPr id="43" name="Image 9" descr="formula_imgs/s3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5452" y="4261104"/>
            <a:ext cx="2254035" cy="59436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96432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196432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6" name="Text 34"/>
          <p:cNvSpPr/>
          <p:nvPr/>
        </p:nvSpPr>
        <p:spPr>
          <a:xfrm>
            <a:off x="6324448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剪力面積法</a:t>
            </a:r>
            <a:endParaRPr lang="en-US" sz="1100" dirty="0"/>
          </a:p>
        </p:txBody>
      </p:sp>
      <p:pic>
        <p:nvPicPr>
          <p:cNvPr id="47" name="Image 10" descr="formula_imgs/s3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4230" y="4261104"/>
            <a:ext cx="1389992" cy="59436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43187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9043187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0" name="Text 37"/>
          <p:cNvSpPr/>
          <p:nvPr/>
        </p:nvSpPr>
        <p:spPr>
          <a:xfrm>
            <a:off x="9171203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彎矩面積法</a:t>
            </a:r>
            <a:endParaRPr lang="en-US" sz="1100" dirty="0"/>
          </a:p>
        </p:txBody>
      </p:sp>
      <p:pic>
        <p:nvPicPr>
          <p:cNvPr id="51" name="Image 11" descr="formula_imgs/s3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29746" y="4261104"/>
            <a:ext cx="1272471" cy="59436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02920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02920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4" name="Text 40"/>
          <p:cNvSpPr/>
          <p:nvPr/>
        </p:nvSpPr>
        <p:spPr>
          <a:xfrm>
            <a:off x="630936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節點法</a:t>
            </a:r>
            <a:endParaRPr lang="en-US" sz="1100" dirty="0"/>
          </a:p>
        </p:txBody>
      </p:sp>
      <p:pic>
        <p:nvPicPr>
          <p:cNvPr id="55" name="Image 12" descr="formula_imgs/s4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" y="5585280"/>
            <a:ext cx="2352980" cy="524616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49676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3349676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8" name="Text 43"/>
          <p:cNvSpPr/>
          <p:nvPr/>
        </p:nvSpPr>
        <p:spPr>
          <a:xfrm>
            <a:off x="3477692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截面法取矩</a:t>
            </a:r>
            <a:endParaRPr lang="en-US" sz="1100" dirty="0"/>
          </a:p>
        </p:txBody>
      </p:sp>
      <p:pic>
        <p:nvPicPr>
          <p:cNvPr id="59" name="Image 13" descr="formula_imgs/s4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56451" y="5550408"/>
            <a:ext cx="1632038" cy="59436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96432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1" name="Shape 45"/>
          <p:cNvSpPr/>
          <p:nvPr/>
        </p:nvSpPr>
        <p:spPr>
          <a:xfrm>
            <a:off x="6196432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2" name="Text 46"/>
          <p:cNvSpPr/>
          <p:nvPr/>
        </p:nvSpPr>
        <p:spPr>
          <a:xfrm>
            <a:off x="6324448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斜桿分量比</a:t>
            </a:r>
            <a:endParaRPr lang="en-US" sz="1100" dirty="0"/>
          </a:p>
        </p:txBody>
      </p:sp>
      <p:pic>
        <p:nvPicPr>
          <p:cNvPr id="63" name="Image 14" descr="formula_imgs/s4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2736" y="5656066"/>
            <a:ext cx="2352980" cy="383043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43187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9043187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6" name="Text 49"/>
          <p:cNvSpPr/>
          <p:nvPr/>
        </p:nvSpPr>
        <p:spPr>
          <a:xfrm>
            <a:off x="9171203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零力桿</a:t>
            </a:r>
            <a:endParaRPr lang="en-US" sz="1100" dirty="0"/>
          </a:p>
        </p:txBody>
      </p:sp>
      <p:pic>
        <p:nvPicPr>
          <p:cNvPr id="67" name="Image 15" descr="formula_imgs/s4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9491" y="5638040"/>
            <a:ext cx="2352980" cy="419097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共軛梁法 ‧ 常用位移公式 ‧ 單位力法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彈性載重</a:t>
            </a:r>
            <a:endParaRPr lang="en-US" sz="1100" dirty="0"/>
          </a:p>
        </p:txBody>
      </p:sp>
      <p:pic>
        <p:nvPicPr>
          <p:cNvPr id="7" name="Image 0" descr="formula_imgs/s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623" y="1682496"/>
            <a:ext cx="2274183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49676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9676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3477692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轉角</a:t>
            </a:r>
            <a:endParaRPr lang="en-US" sz="1100" dirty="0"/>
          </a:p>
        </p:txBody>
      </p:sp>
      <p:pic>
        <p:nvPicPr>
          <p:cNvPr id="11" name="Image 1" descr="formula_imgs/s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197" y="1682496"/>
            <a:ext cx="1306545" cy="5943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6432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96432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6324448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</a:t>
            </a:r>
            <a:endParaRPr lang="en-US" sz="1100" dirty="0"/>
          </a:p>
        </p:txBody>
      </p:sp>
      <p:pic>
        <p:nvPicPr>
          <p:cNvPr id="15" name="Image 2" descr="formula_imgs/s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930" y="1682496"/>
            <a:ext cx="1484591" cy="594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43187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043187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9171203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最大位移位置</a:t>
            </a:r>
            <a:endParaRPr lang="en-US" sz="1100" dirty="0"/>
          </a:p>
        </p:txBody>
      </p:sp>
      <p:pic>
        <p:nvPicPr>
          <p:cNvPr id="19" name="Image 3" descr="formula_imgs/s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491" y="1726295"/>
            <a:ext cx="2352980" cy="50676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2920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懸臂端點集中</a:t>
            </a:r>
            <a:endParaRPr lang="en-US" sz="1100" dirty="0"/>
          </a:p>
        </p:txBody>
      </p:sp>
      <p:pic>
        <p:nvPicPr>
          <p:cNvPr id="23" name="Image 4" descr="formula_imgs/s6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144" y="2971800"/>
            <a:ext cx="1065140" cy="5943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49676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49676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6" name="Text 19"/>
          <p:cNvSpPr/>
          <p:nvPr/>
        </p:nvSpPr>
        <p:spPr>
          <a:xfrm>
            <a:off x="3477692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簡支跨中集中</a:t>
            </a:r>
            <a:endParaRPr lang="en-US" sz="1100" dirty="0"/>
          </a:p>
        </p:txBody>
      </p:sp>
      <p:pic>
        <p:nvPicPr>
          <p:cNvPr id="27" name="Image 5" descr="formula_imgs/s6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4783" y="2971800"/>
            <a:ext cx="1155373" cy="59436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96432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196432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0" name="Text 22"/>
          <p:cNvSpPr/>
          <p:nvPr/>
        </p:nvSpPr>
        <p:spPr>
          <a:xfrm>
            <a:off x="6324448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簡支均布</a:t>
            </a:r>
            <a:endParaRPr lang="en-US" sz="1100" dirty="0"/>
          </a:p>
        </p:txBody>
      </p:sp>
      <p:pic>
        <p:nvPicPr>
          <p:cNvPr id="31" name="Image 6" descr="formula_imgs/s6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8814" y="2971800"/>
            <a:ext cx="1260823" cy="5943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43187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043187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4" name="Text 25"/>
          <p:cNvSpPr/>
          <p:nvPr/>
        </p:nvSpPr>
        <p:spPr>
          <a:xfrm>
            <a:off x="9171203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懸臂均布</a:t>
            </a:r>
            <a:endParaRPr lang="en-US" sz="1100" dirty="0"/>
          </a:p>
        </p:txBody>
      </p:sp>
      <p:pic>
        <p:nvPicPr>
          <p:cNvPr id="35" name="Image 7" descr="formula_imgs/s6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6365" y="2971800"/>
            <a:ext cx="1079233" cy="59436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2920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02920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8" name="Text 28"/>
          <p:cNvSpPr/>
          <p:nvPr/>
        </p:nvSpPr>
        <p:spPr>
          <a:xfrm>
            <a:off x="630936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桁架虛功</a:t>
            </a:r>
            <a:endParaRPr lang="en-US" sz="1100" dirty="0"/>
          </a:p>
        </p:txBody>
      </p:sp>
      <p:pic>
        <p:nvPicPr>
          <p:cNvPr id="39" name="Image 8" descr="formula_imgs/s7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248" y="4261104"/>
            <a:ext cx="1994931" cy="59436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49676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349676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2" name="Text 31"/>
          <p:cNvSpPr/>
          <p:nvPr/>
        </p:nvSpPr>
        <p:spPr>
          <a:xfrm>
            <a:off x="3477692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外力伸長</a:t>
            </a:r>
            <a:endParaRPr lang="en-US" sz="1100" dirty="0"/>
          </a:p>
        </p:txBody>
      </p:sp>
      <p:pic>
        <p:nvPicPr>
          <p:cNvPr id="43" name="Image 9" descr="formula_imgs/s7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2860" y="4261104"/>
            <a:ext cx="2279219" cy="59436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96432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196432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6" name="Text 34"/>
          <p:cNvSpPr/>
          <p:nvPr/>
        </p:nvSpPr>
        <p:spPr>
          <a:xfrm>
            <a:off x="6324448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溫差伸長</a:t>
            </a:r>
            <a:endParaRPr lang="en-US" sz="1100" dirty="0"/>
          </a:p>
        </p:txBody>
      </p:sp>
      <p:pic>
        <p:nvPicPr>
          <p:cNvPr id="47" name="Image 10" descr="formula_imgs/s7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2620" y="4261104"/>
            <a:ext cx="2173211" cy="59436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43187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9043187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0" name="Text 37"/>
          <p:cNvSpPr/>
          <p:nvPr/>
        </p:nvSpPr>
        <p:spPr>
          <a:xfrm>
            <a:off x="9171203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含支承移動</a:t>
            </a:r>
            <a:endParaRPr lang="en-US" sz="1100" dirty="0"/>
          </a:p>
        </p:txBody>
      </p:sp>
      <p:pic>
        <p:nvPicPr>
          <p:cNvPr id="51" name="Image 11" descr="formula_imgs/s7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491" y="4354932"/>
            <a:ext cx="2352980" cy="406704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02920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02920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4" name="Text 40"/>
          <p:cNvSpPr/>
          <p:nvPr/>
        </p:nvSpPr>
        <p:spPr>
          <a:xfrm>
            <a:off x="630936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梁剛架位移</a:t>
            </a:r>
            <a:endParaRPr lang="en-US" sz="1100" dirty="0"/>
          </a:p>
        </p:txBody>
      </p:sp>
      <p:pic>
        <p:nvPicPr>
          <p:cNvPr id="55" name="Image 12" descr="formula_imgs/s8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6816" y="5550408"/>
            <a:ext cx="1477795" cy="59436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49676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3349676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8" name="Text 43"/>
          <p:cNvSpPr/>
          <p:nvPr/>
        </p:nvSpPr>
        <p:spPr>
          <a:xfrm>
            <a:off x="3477692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梁剛架轉角</a:t>
            </a:r>
            <a:endParaRPr lang="en-US" sz="1100" dirty="0"/>
          </a:p>
        </p:txBody>
      </p:sp>
      <p:pic>
        <p:nvPicPr>
          <p:cNvPr id="59" name="Image 13" descr="formula_imgs/s8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9651" y="5550408"/>
            <a:ext cx="1465638" cy="59436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96432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1" name="Shape 45"/>
          <p:cNvSpPr/>
          <p:nvPr/>
        </p:nvSpPr>
        <p:spPr>
          <a:xfrm>
            <a:off x="6196432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2" name="Text 46"/>
          <p:cNvSpPr/>
          <p:nvPr/>
        </p:nvSpPr>
        <p:spPr>
          <a:xfrm>
            <a:off x="6324448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彈簧下陷</a:t>
            </a:r>
            <a:endParaRPr lang="en-US" sz="1100" dirty="0"/>
          </a:p>
        </p:txBody>
      </p:sp>
      <p:pic>
        <p:nvPicPr>
          <p:cNvPr id="63" name="Image 14" descr="formula_imgs/s8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2736" y="5569364"/>
            <a:ext cx="2352980" cy="556448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43187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9043187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6" name="Text 49"/>
          <p:cNvSpPr/>
          <p:nvPr/>
        </p:nvSpPr>
        <p:spPr>
          <a:xfrm>
            <a:off x="9171203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反解載重</a:t>
            </a:r>
            <a:endParaRPr lang="en-US" sz="1100" dirty="0"/>
          </a:p>
        </p:txBody>
      </p:sp>
      <p:pic>
        <p:nvPicPr>
          <p:cNvPr id="67" name="Image 15" descr="formula_imgs/s8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9491" y="5621071"/>
            <a:ext cx="2352980" cy="453033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高頻陷阱六則 —— 每一則都直接扣掉整題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464912" cy="1536192"/>
          </a:xfrm>
          <a:prstGeom prst="roundRect">
            <a:avLst>
              <a:gd name="adj" fmla="val 3571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15361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算出 d &lt; 0 就當成機構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1737360"/>
            <a:ext cx="498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國考不出機構題。d 為負一定是漏看了隱藏條件：三鉸拱（兩端皆鉸 r = 4）、虛線其實是拉力繫索（要計入 m）、滾支承靠在垂直牆或斜面上、彈簧支承。回頭找，d 幾乎都會回到 0。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23864" y="1298448"/>
            <a:ext cx="5464912" cy="1536192"/>
          </a:xfrm>
          <a:prstGeom prst="roundRect">
            <a:avLst>
              <a:gd name="adj" fmla="val 3571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23864" y="1298448"/>
            <a:ext cx="50292" cy="15361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388456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9352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看到彈簧就以為變靜不定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1608" y="1737360"/>
            <a:ext cx="498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彈簧只提供 1 個反力分量，與滾支承同級：r = 2 + 1 = 3 → d = 0，仍是靜定。彈簧常數 k 只用來算該點下陷 Δ = R/k，不進入靜不定度的計算。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5464912" cy="1536192"/>
          </a:xfrm>
          <a:prstGeom prst="roundRect">
            <a:avLst>
              <a:gd name="adj" fmla="val 3571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017520"/>
            <a:ext cx="50292" cy="15361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108960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先解主結構、後解附屬結構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" y="3456432"/>
            <a:ext cx="498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順序反了就解不動。附屬結構未知數少，可以獨立解出；主結構要等附屬結構把內鉸傳遞力交出來。本例先得 R_D = 10 kN、V_C = 10 kN，才算得出 R_A = 90、M_A = 400 kN·m。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3864" y="3017520"/>
            <a:ext cx="5464912" cy="1536192"/>
          </a:xfrm>
          <a:prstGeom prst="roundRect">
            <a:avLst>
              <a:gd name="adj" fmla="val 3571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3864" y="3017520"/>
            <a:ext cx="50292" cy="15361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88456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9352" y="3108960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把「靜定結構 + 沉陷」當成會生內力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1608" y="3456432"/>
            <a:ext cx="498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靜定結構對非外力成因免疫：支承沉陷、溫差、製造誤差都不產生一絲內力，只造成剛體位移。題目給了 E、A 卻只問內力，那些數字是誘餌，答案是 0。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736592"/>
            <a:ext cx="5464912" cy="1536192"/>
          </a:xfrm>
          <a:prstGeom prst="roundRect">
            <a:avLst>
              <a:gd name="adj" fmla="val 3571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736592"/>
            <a:ext cx="50292" cy="15361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8408" y="4828032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截面法的矩心隨便選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" y="5175504"/>
            <a:ext cx="498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矩心必須選在其餘兩根未知桿的交點，才能一式解一桿。本例求下弦取 U1、求上弦取 L2；選錯就會留下兩個未知數，整條式子作廢。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23864" y="4736592"/>
            <a:ext cx="5464912" cy="1536192"/>
          </a:xfrm>
          <a:prstGeom prst="roundRect">
            <a:avLst>
              <a:gd name="adj" fmla="val 3571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23864" y="4736592"/>
            <a:ext cx="50292" cy="15361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388456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99352" y="4828032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把支承沉陷寫進 Σ n̄ e 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61608" y="5175504"/>
            <a:ext cx="49894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廣義虛功式左右兩邊分工明確：桿件的三成因（外力、溫差、誤差）在右邊，支承沉陷是虛擬反力做的功，在左邊的 Σ R̄ Δ。本例沉陷貢獻 2.50 mm，佔總位移 7.04 mm 的三分之一以上。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WRAP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SA-U1-2 靜定結構之分析｜重點回顧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715414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71541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536192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靜定結構的內力由「幾何 + 平衡」唯一決定，與 E、I、A 完全無關；剛度只在要算位移時才登場 —— 這一句話串起整個單元。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1565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2695651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269565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16429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先判 d：桁架 m + r − 2j、閉合環剛架 3m + r − 3j − c、樹狀梁與剛架 r − 3 − c。算出 d &lt; 0 就回頭找三鉸拱、繫索、斜面滾支承、彈簧這四個隱藏條件。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41802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367588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496666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梁與剛架：內鉸是刀，切開後先解附屬結構再回頭解主結構；內力圖用 dV/dx = −w、dM/dx = V 推形狀，BMD 畫在受拉側，節點彎矩要平衡。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422038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4656125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465612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476902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桁架：整體反力 → 掃零力桿 → 截面法（矩心取其餘兩未知桿交點）→ 節點法。零力桿規則遇到節點有外力或支承就失效。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5402275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5636362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56363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457139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位移：單一直梁用共軛梁法（θ = V*、y = M*，V* = 0 處位移最大）；含沉陷、溫差、製造誤差一律用廣義虛功式，四個成因獨立算完再疊加。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SA-U1-2 靜定結構之分析｜觀念講義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GIBSIN｜YJC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GIBSIN｜YJC</dc:creator>
  <cp:lastModifiedBy>GIBSIN｜YJC</cp:lastModifiedBy>
  <cp:revision>1</cp:revision>
  <dcterms:created xsi:type="dcterms:W3CDTF">2026-09-17T02:34:33Z</dcterms:created>
  <dcterms:modified xsi:type="dcterms:W3CDTF">2026-09-17T02:34:33Z</dcterms:modified>
</cp:coreProperties>
</file>